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6256000" cy="9144000"/>
  <p:notesSz cx="9144000" cy="16256000"/>
  <p:embeddedFontLst>
    <p:embeddedFont>
      <p:font typeface="MiSans" panose="02010600030101010101" charset="-122"/>
      <p:regular r:id="rId27"/>
    </p:embeddedFont>
    <p:embeddedFont>
      <p:font typeface="得意黑" panose="02010600030101010101" charset="-122"/>
      <p:regular r:id="rId28"/>
    </p:embeddedFont>
    <p:embeddedFont>
      <p:font typeface="微软雅黑" panose="020B0503020204020204" pitchFamily="34" charset="-122"/>
      <p:regular r:id="rId29"/>
      <p:bold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64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2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决策关键因素</a:t>
            </a:r>
          </a:p>
        </c:rich>
      </c:tx>
      <c:layout>
        <c:manualLayout>
          <c:xMode val="edge"/>
          <c:yMode val="edge"/>
          <c:x val="0.34151557398854498"/>
          <c:y val="2.98828120404341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3.4843904861094517E-2"/>
          <c:y val="0.16109479329024987"/>
          <c:w val="0.87726546743557665"/>
          <c:h val="0.73911308533598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赛事吸引力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5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5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5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高度重视</c:v>
                </c:pt>
                <c:pt idx="1">
                  <c:v>比较重视</c:v>
                </c:pt>
                <c:pt idx="2">
                  <c:v>一般重视</c:v>
                </c:pt>
                <c:pt idx="3">
                  <c:v>非常不重视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81-43AB-B0D9-BB4036206C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目的地其他旅游资源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7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高度重视</c:v>
                </c:pt>
                <c:pt idx="1">
                  <c:v>比较重视</c:v>
                </c:pt>
                <c:pt idx="2">
                  <c:v>一般重视</c:v>
                </c:pt>
                <c:pt idx="3">
                  <c:v>非常不重视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81-43AB-B0D9-BB4036206C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足球文化氛围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9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9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高度重视</c:v>
                </c:pt>
                <c:pt idx="1">
                  <c:v>比较重视</c:v>
                </c:pt>
                <c:pt idx="2">
                  <c:v>一般重视</c:v>
                </c:pt>
                <c:pt idx="3">
                  <c:v>非常不重视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81-43AB-B0D9-BB4036206CF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出行便利性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9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9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9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高度重视</c:v>
                </c:pt>
                <c:pt idx="1">
                  <c:v>比较重视</c:v>
                </c:pt>
                <c:pt idx="2">
                  <c:v>一般重视</c:v>
                </c:pt>
                <c:pt idx="3">
                  <c:v>非常不重视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A81-43AB-B0D9-BB4036206CF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同行伙伴意愿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7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7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7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高度重视</c:v>
                </c:pt>
                <c:pt idx="1">
                  <c:v>比较重视</c:v>
                </c:pt>
                <c:pt idx="2">
                  <c:v>一般重视</c:v>
                </c:pt>
                <c:pt idx="3">
                  <c:v>非常不重视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81-43AB-B0D9-BB4036206CF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旅游成本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5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5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高度重视</c:v>
                </c:pt>
                <c:pt idx="1">
                  <c:v>比较重视</c:v>
                </c:pt>
                <c:pt idx="2">
                  <c:v>一般重视</c:v>
                </c:pt>
                <c:pt idx="3">
                  <c:v>非常不重视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A81-43AB-B0D9-BB4036206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92800655"/>
        <c:axId val="1292801135"/>
      </c:barChart>
      <c:catAx>
        <c:axId val="1292800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2801135"/>
        <c:crosses val="autoZero"/>
        <c:auto val="1"/>
        <c:lblAlgn val="ctr"/>
        <c:lblOffset val="100"/>
        <c:noMultiLvlLbl val="0"/>
      </c:catAx>
      <c:valAx>
        <c:axId val="1292801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2800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032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2.znzmo.com/54bc976f903427cd5cfcec33486dd388e6235e58.jpeg"/>
          <p:cNvPicPr>
            <a:picLocks noChangeAspect="1"/>
          </p:cNvPicPr>
          <p:nvPr/>
        </p:nvPicPr>
        <p:blipFill>
          <a:blip r:embed="rId3"/>
          <a:srcRect t="12656" b="1265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7393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5000"/>
                </a:srgbClr>
              </a:gs>
              <a:gs pos="100000">
                <a:srgbClr val="3A4F41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Shape 1"/>
          <p:cNvSpPr/>
          <p:nvPr/>
        </p:nvSpPr>
        <p:spPr>
          <a:xfrm>
            <a:off x="508000" y="1536700"/>
            <a:ext cx="4292600" cy="558800"/>
          </a:xfrm>
          <a:custGeom>
            <a:avLst/>
            <a:gdLst/>
            <a:ahLst/>
            <a:cxnLst/>
            <a:rect l="l" t="t" r="r" b="b"/>
            <a:pathLst>
              <a:path w="4292600" h="558800">
                <a:moveTo>
                  <a:pt x="0" y="0"/>
                </a:moveTo>
                <a:lnTo>
                  <a:pt x="4292600" y="0"/>
                </a:lnTo>
                <a:lnTo>
                  <a:pt x="42926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1536700"/>
            <a:ext cx="4406900" cy="55880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FOOTBALL TOURISM RESEARCH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00300"/>
            <a:ext cx="11836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已工作女性球迷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足球主题旅游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消费行为调研汇报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0833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6438900"/>
            <a:ext cx="1153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基于问卷调查的数据分析与优化建议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7302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0" name="Text 7"/>
          <p:cNvSpPr/>
          <p:nvPr/>
        </p:nvSpPr>
        <p:spPr>
          <a:xfrm>
            <a:off x="961496" y="7277100"/>
            <a:ext cx="13266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2025年12月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15167" y="7302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2" name="Text 9"/>
          <p:cNvSpPr/>
          <p:nvPr/>
        </p:nvSpPr>
        <p:spPr>
          <a:xfrm>
            <a:off x="3236913" y="7277100"/>
            <a:ext cx="221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样本量:12份有效问卷</a:t>
            </a:r>
            <a:endParaRPr 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4B3E4D-CAC1-AB58-A625-43D18534C095}"/>
              </a:ext>
            </a:extLst>
          </p:cNvPr>
          <p:cNvSpPr txBox="1"/>
          <p:nvPr/>
        </p:nvSpPr>
        <p:spPr>
          <a:xfrm>
            <a:off x="654050" y="7968343"/>
            <a:ext cx="1259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七组：王雅玉 张盛楠 杜柯欣 刘蕴芝 李佳琳 张金儒</a:t>
            </a:r>
          </a:p>
        </p:txBody>
      </p:sp>
      <p:pic>
        <p:nvPicPr>
          <p:cNvPr id="15" name="图形 14" descr="足球">
            <a:extLst>
              <a:ext uri="{FF2B5EF4-FFF2-40B4-BE49-F238E27FC236}">
                <a16:creationId xmlns:a16="http://schemas.microsoft.com/office/drawing/2014/main" id="{AE7CD82B-DBB9-FBB4-536F-F4818F9702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1964" y="7302500"/>
            <a:ext cx="304799" cy="30479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6F48366-5119-8FFF-487C-3538E18D12B3}"/>
              </a:ext>
            </a:extLst>
          </p:cNvPr>
          <p:cNvSpPr txBox="1"/>
          <p:nvPr/>
        </p:nvSpPr>
        <p:spPr>
          <a:xfrm>
            <a:off x="6155002" y="7253526"/>
            <a:ext cx="434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数据来源：</a:t>
            </a:r>
            <a:r>
              <a:rPr lang="en-US" altLang="zh-CN" dirty="0">
                <a:solidFill>
                  <a:schemeClr val="bg1"/>
                </a:solidFill>
              </a:rPr>
              <a:t>12</a:t>
            </a:r>
            <a:r>
              <a:rPr lang="zh-CN" altLang="en-US" dirty="0">
                <a:solidFill>
                  <a:schemeClr val="bg1"/>
                </a:solidFill>
              </a:rPr>
              <a:t>名山东泰山俱乐部女性球迷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676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2133600"/>
            <a:ext cx="7391400" cy="1447800"/>
          </a:xfrm>
          <a:custGeom>
            <a:avLst/>
            <a:gdLst/>
            <a:ahLst/>
            <a:cxnLst/>
            <a:rect l="l" t="t" r="r" b="b"/>
            <a:pathLst>
              <a:path w="7391400" h="1447800">
                <a:moveTo>
                  <a:pt x="50800" y="0"/>
                </a:moveTo>
                <a:lnTo>
                  <a:pt x="7239005" y="0"/>
                </a:lnTo>
                <a:cubicBezTo>
                  <a:pt x="7323114" y="0"/>
                  <a:pt x="7391400" y="68286"/>
                  <a:pt x="7391400" y="152395"/>
                </a:cubicBezTo>
                <a:lnTo>
                  <a:pt x="7391400" y="1295405"/>
                </a:lnTo>
                <a:cubicBezTo>
                  <a:pt x="7391400" y="1379514"/>
                  <a:pt x="7323114" y="1447800"/>
                  <a:pt x="7239005" y="1447800"/>
                </a:cubicBezTo>
                <a:lnTo>
                  <a:pt x="50800" y="1447800"/>
                </a:lnTo>
                <a:cubicBezTo>
                  <a:pt x="22744" y="1447800"/>
                  <a:pt x="0" y="1425056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21336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5080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50800" y="1447800"/>
                </a:lnTo>
                <a:cubicBezTo>
                  <a:pt x="22763" y="1447800"/>
                  <a:pt x="0" y="1425037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Shape 5"/>
          <p:cNvSpPr/>
          <p:nvPr/>
        </p:nvSpPr>
        <p:spPr>
          <a:xfrm>
            <a:off x="863600" y="2451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4511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9600" y="24384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问卷设计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9600" y="29464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六大核心维度,15道题目精准覆盖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56600" y="2133600"/>
            <a:ext cx="7391400" cy="1447800"/>
          </a:xfrm>
          <a:custGeom>
            <a:avLst/>
            <a:gdLst/>
            <a:ahLst/>
            <a:cxnLst/>
            <a:rect l="l" t="t" r="r" b="b"/>
            <a:pathLst>
              <a:path w="7391400" h="1447800">
                <a:moveTo>
                  <a:pt x="50800" y="0"/>
                </a:moveTo>
                <a:lnTo>
                  <a:pt x="7239005" y="0"/>
                </a:lnTo>
                <a:cubicBezTo>
                  <a:pt x="7323114" y="0"/>
                  <a:pt x="7391400" y="68286"/>
                  <a:pt x="7391400" y="152395"/>
                </a:cubicBezTo>
                <a:lnTo>
                  <a:pt x="7391400" y="1295405"/>
                </a:lnTo>
                <a:cubicBezTo>
                  <a:pt x="7391400" y="1379514"/>
                  <a:pt x="7323114" y="1447800"/>
                  <a:pt x="7239005" y="1447800"/>
                </a:cubicBezTo>
                <a:lnTo>
                  <a:pt x="50800" y="1447800"/>
                </a:lnTo>
                <a:cubicBezTo>
                  <a:pt x="22744" y="1447800"/>
                  <a:pt x="0" y="1425056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56600" y="21336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5080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50800" y="1447800"/>
                </a:lnTo>
                <a:cubicBezTo>
                  <a:pt x="22763" y="1447800"/>
                  <a:pt x="0" y="1425037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2451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4" name="Text 12"/>
          <p:cNvSpPr/>
          <p:nvPr/>
        </p:nvSpPr>
        <p:spPr>
          <a:xfrm>
            <a:off x="8610600" y="24511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02800" y="24384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调研过程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02800" y="29464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样本情况与数据处理方法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3835400"/>
            <a:ext cx="7391400" cy="1447800"/>
          </a:xfrm>
          <a:custGeom>
            <a:avLst/>
            <a:gdLst/>
            <a:ahLst/>
            <a:cxnLst/>
            <a:rect l="l" t="t" r="r" b="b"/>
            <a:pathLst>
              <a:path w="7391400" h="1447800">
                <a:moveTo>
                  <a:pt x="50800" y="0"/>
                </a:moveTo>
                <a:lnTo>
                  <a:pt x="7239005" y="0"/>
                </a:lnTo>
                <a:cubicBezTo>
                  <a:pt x="7323114" y="0"/>
                  <a:pt x="7391400" y="68286"/>
                  <a:pt x="7391400" y="152395"/>
                </a:cubicBezTo>
                <a:lnTo>
                  <a:pt x="7391400" y="1295405"/>
                </a:lnTo>
                <a:cubicBezTo>
                  <a:pt x="7391400" y="1379514"/>
                  <a:pt x="7323114" y="1447800"/>
                  <a:pt x="7239005" y="1447800"/>
                </a:cubicBezTo>
                <a:lnTo>
                  <a:pt x="50800" y="1447800"/>
                </a:lnTo>
                <a:cubicBezTo>
                  <a:pt x="22744" y="1447800"/>
                  <a:pt x="0" y="1425056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400" y="38354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5080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50800" y="1447800"/>
                </a:lnTo>
                <a:cubicBezTo>
                  <a:pt x="22763" y="1447800"/>
                  <a:pt x="0" y="1425037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600" y="41529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0" name="Text 18"/>
          <p:cNvSpPr/>
          <p:nvPr/>
        </p:nvSpPr>
        <p:spPr>
          <a:xfrm>
            <a:off x="787400" y="41529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9600" y="41402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调研对象特征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79600" y="46482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年龄段、地域、球队支持偏好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56600" y="3835400"/>
            <a:ext cx="7391400" cy="1447800"/>
          </a:xfrm>
          <a:custGeom>
            <a:avLst/>
            <a:gdLst/>
            <a:ahLst/>
            <a:cxnLst/>
            <a:rect l="l" t="t" r="r" b="b"/>
            <a:pathLst>
              <a:path w="7391400" h="1447800">
                <a:moveTo>
                  <a:pt x="50800" y="0"/>
                </a:moveTo>
                <a:lnTo>
                  <a:pt x="7239005" y="0"/>
                </a:lnTo>
                <a:cubicBezTo>
                  <a:pt x="7323114" y="0"/>
                  <a:pt x="7391400" y="68286"/>
                  <a:pt x="7391400" y="152395"/>
                </a:cubicBezTo>
                <a:lnTo>
                  <a:pt x="7391400" y="1295405"/>
                </a:lnTo>
                <a:cubicBezTo>
                  <a:pt x="7391400" y="1379514"/>
                  <a:pt x="7323114" y="1447800"/>
                  <a:pt x="7239005" y="1447800"/>
                </a:cubicBezTo>
                <a:lnTo>
                  <a:pt x="50800" y="1447800"/>
                </a:lnTo>
                <a:cubicBezTo>
                  <a:pt x="22744" y="1447800"/>
                  <a:pt x="0" y="1425056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56600" y="38354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5080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50800" y="1447800"/>
                </a:lnTo>
                <a:cubicBezTo>
                  <a:pt x="22763" y="1447800"/>
                  <a:pt x="0" y="1425037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0" y="41529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6" name="Text 24"/>
          <p:cNvSpPr/>
          <p:nvPr/>
        </p:nvSpPr>
        <p:spPr>
          <a:xfrm>
            <a:off x="8610600" y="41529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02800" y="41402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消费行为特征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02800" y="46482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目的地偏好、消费结构、决策因素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5537200"/>
            <a:ext cx="7391400" cy="1447800"/>
          </a:xfrm>
          <a:custGeom>
            <a:avLst/>
            <a:gdLst/>
            <a:ahLst/>
            <a:cxnLst/>
            <a:rect l="l" t="t" r="r" b="b"/>
            <a:pathLst>
              <a:path w="7391400" h="1447800">
                <a:moveTo>
                  <a:pt x="50800" y="0"/>
                </a:moveTo>
                <a:lnTo>
                  <a:pt x="7239005" y="0"/>
                </a:lnTo>
                <a:cubicBezTo>
                  <a:pt x="7323114" y="0"/>
                  <a:pt x="7391400" y="68286"/>
                  <a:pt x="7391400" y="152395"/>
                </a:cubicBezTo>
                <a:lnTo>
                  <a:pt x="7391400" y="1295405"/>
                </a:lnTo>
                <a:cubicBezTo>
                  <a:pt x="7391400" y="1379514"/>
                  <a:pt x="7323114" y="1447800"/>
                  <a:pt x="7239005" y="1447800"/>
                </a:cubicBezTo>
                <a:lnTo>
                  <a:pt x="50800" y="1447800"/>
                </a:lnTo>
                <a:cubicBezTo>
                  <a:pt x="22744" y="1447800"/>
                  <a:pt x="0" y="1425056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3400" y="55372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5080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50800" y="1447800"/>
                </a:lnTo>
                <a:cubicBezTo>
                  <a:pt x="22763" y="1447800"/>
                  <a:pt x="0" y="1425037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1" name="Shape 29"/>
          <p:cNvSpPr/>
          <p:nvPr/>
        </p:nvSpPr>
        <p:spPr>
          <a:xfrm>
            <a:off x="863600" y="58547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2" name="Text 30"/>
          <p:cNvSpPr/>
          <p:nvPr/>
        </p:nvSpPr>
        <p:spPr>
          <a:xfrm>
            <a:off x="787400" y="58547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879600" y="58420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现存问题分析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879600" y="63500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产品、服务、人群适配三大层面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56600" y="5537200"/>
            <a:ext cx="7391400" cy="1447800"/>
          </a:xfrm>
          <a:custGeom>
            <a:avLst/>
            <a:gdLst/>
            <a:ahLst/>
            <a:cxnLst/>
            <a:rect l="l" t="t" r="r" b="b"/>
            <a:pathLst>
              <a:path w="7391400" h="1447800">
                <a:moveTo>
                  <a:pt x="50800" y="0"/>
                </a:moveTo>
                <a:lnTo>
                  <a:pt x="7239005" y="0"/>
                </a:lnTo>
                <a:cubicBezTo>
                  <a:pt x="7323114" y="0"/>
                  <a:pt x="7391400" y="68286"/>
                  <a:pt x="7391400" y="152395"/>
                </a:cubicBezTo>
                <a:lnTo>
                  <a:pt x="7391400" y="1295405"/>
                </a:lnTo>
                <a:cubicBezTo>
                  <a:pt x="7391400" y="1379514"/>
                  <a:pt x="7323114" y="1447800"/>
                  <a:pt x="7239005" y="1447800"/>
                </a:cubicBezTo>
                <a:lnTo>
                  <a:pt x="50800" y="1447800"/>
                </a:lnTo>
                <a:cubicBezTo>
                  <a:pt x="22744" y="1447800"/>
                  <a:pt x="0" y="1425056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56600" y="55372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5080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50800" y="1447800"/>
                </a:lnTo>
                <a:cubicBezTo>
                  <a:pt x="22763" y="1447800"/>
                  <a:pt x="0" y="1425037"/>
                  <a:pt x="0" y="1397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37" name="Shape 35"/>
          <p:cNvSpPr/>
          <p:nvPr/>
        </p:nvSpPr>
        <p:spPr>
          <a:xfrm>
            <a:off x="8686800" y="58547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38" name="Text 36"/>
          <p:cNvSpPr/>
          <p:nvPr/>
        </p:nvSpPr>
        <p:spPr>
          <a:xfrm>
            <a:off x="8610600" y="58547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702800" y="58420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改进措施建议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702800" y="63500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产品优化、服务提升、精准运营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8000" y="7289800"/>
            <a:ext cx="15240000" cy="1447800"/>
          </a:xfrm>
          <a:custGeom>
            <a:avLst/>
            <a:gdLst/>
            <a:ahLst/>
            <a:cxnLst/>
            <a:rect l="l" t="t" r="r" b="b"/>
            <a:pathLst>
              <a:path w="15240000" h="1447800">
                <a:moveTo>
                  <a:pt x="152395" y="0"/>
                </a:moveTo>
                <a:lnTo>
                  <a:pt x="15087605" y="0"/>
                </a:lnTo>
                <a:cubicBezTo>
                  <a:pt x="15171714" y="0"/>
                  <a:pt x="15240000" y="68286"/>
                  <a:pt x="15240000" y="152395"/>
                </a:cubicBezTo>
                <a:lnTo>
                  <a:pt x="15240000" y="1295405"/>
                </a:lnTo>
                <a:cubicBezTo>
                  <a:pt x="15240000" y="1379514"/>
                  <a:pt x="15171714" y="1447800"/>
                  <a:pt x="150876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A4F41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2800" y="7607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3" name="Text 41"/>
          <p:cNvSpPr/>
          <p:nvPr/>
        </p:nvSpPr>
        <p:spPr>
          <a:xfrm>
            <a:off x="736600" y="76073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828800" y="7594600"/>
            <a:ext cx="1376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828800" y="8102600"/>
            <a:ext cx="1371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核心结论与未来发展方向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2.znzmo.com/696fc0197d8c31fcf2700dc2b95c55fd0d16360a.jpeg"/>
          <p:cNvPicPr>
            <a:picLocks noChangeAspect="1"/>
          </p:cNvPicPr>
          <p:nvPr/>
        </p:nvPicPr>
        <p:blipFill>
          <a:blip r:embed="rId3"/>
          <a:srcRect t="12500" b="125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252095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1358900" h="508000">
                <a:moveTo>
                  <a:pt x="0" y="0"/>
                </a:moveTo>
                <a:lnTo>
                  <a:pt x="1358900" y="0"/>
                </a:lnTo>
                <a:lnTo>
                  <a:pt x="13589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2520950"/>
            <a:ext cx="1460500" cy="50800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333750"/>
            <a:ext cx="899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问卷设计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815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137150"/>
            <a:ext cx="8686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精准挖掘已工作女性球迷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足球主题旅游的消费习惯、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需求偏好及现存痛点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822" y="478822"/>
            <a:ext cx="15394121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kern="0" spc="75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QUESTIONNAIRE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8822" y="861879"/>
            <a:ext cx="15513826" cy="47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93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问卷设计:六大核心维度,15道题目精准覆盖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8822" y="1484348"/>
            <a:ext cx="957644" cy="47882"/>
          </a:xfrm>
          <a:custGeom>
            <a:avLst/>
            <a:gdLst/>
            <a:ahLst/>
            <a:cxnLst/>
            <a:rect l="l" t="t" r="r" b="b"/>
            <a:pathLst>
              <a:path w="957644" h="47882">
                <a:moveTo>
                  <a:pt x="0" y="0"/>
                </a:moveTo>
                <a:lnTo>
                  <a:pt x="957644" y="0"/>
                </a:lnTo>
                <a:lnTo>
                  <a:pt x="957644" y="47882"/>
                </a:lnTo>
                <a:lnTo>
                  <a:pt x="0" y="47882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478822" y="1819523"/>
            <a:ext cx="5350834" cy="1771641"/>
          </a:xfrm>
          <a:custGeom>
            <a:avLst/>
            <a:gdLst/>
            <a:ahLst/>
            <a:cxnLst/>
            <a:rect l="l" t="t" r="r" b="b"/>
            <a:pathLst>
              <a:path w="5350834" h="1771641">
                <a:moveTo>
                  <a:pt x="143645" y="0"/>
                </a:moveTo>
                <a:lnTo>
                  <a:pt x="5207189" y="0"/>
                </a:lnTo>
                <a:cubicBezTo>
                  <a:pt x="5286522" y="0"/>
                  <a:pt x="5350834" y="64312"/>
                  <a:pt x="5350834" y="143645"/>
                </a:cubicBezTo>
                <a:lnTo>
                  <a:pt x="5350834" y="1627996"/>
                </a:lnTo>
                <a:cubicBezTo>
                  <a:pt x="5350834" y="1707329"/>
                  <a:pt x="5286522" y="1771641"/>
                  <a:pt x="5207189" y="1771641"/>
                </a:cubicBezTo>
                <a:lnTo>
                  <a:pt x="143645" y="1771641"/>
                </a:lnTo>
                <a:cubicBezTo>
                  <a:pt x="64312" y="1771641"/>
                  <a:pt x="0" y="1707329"/>
                  <a:pt x="0" y="1627996"/>
                </a:cubicBezTo>
                <a:lnTo>
                  <a:pt x="0" y="143645"/>
                </a:lnTo>
                <a:cubicBezTo>
                  <a:pt x="0" y="64312"/>
                  <a:pt x="64312" y="0"/>
                  <a:pt x="143645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" name="Shape 4"/>
          <p:cNvSpPr/>
          <p:nvPr/>
        </p:nvSpPr>
        <p:spPr>
          <a:xfrm>
            <a:off x="813997" y="2118786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314227" y="179558"/>
                </a:moveTo>
                <a:cubicBezTo>
                  <a:pt x="314227" y="105233"/>
                  <a:pt x="253884" y="44890"/>
                  <a:pt x="179558" y="44890"/>
                </a:cubicBezTo>
                <a:cubicBezTo>
                  <a:pt x="105233" y="44890"/>
                  <a:pt x="44890" y="105233"/>
                  <a:pt x="44890" y="179558"/>
                </a:cubicBezTo>
                <a:cubicBezTo>
                  <a:pt x="44890" y="253884"/>
                  <a:pt x="105233" y="314227"/>
                  <a:pt x="179558" y="314227"/>
                </a:cubicBezTo>
                <a:cubicBezTo>
                  <a:pt x="253884" y="314227"/>
                  <a:pt x="314227" y="253884"/>
                  <a:pt x="314227" y="179558"/>
                </a:cubicBezTo>
                <a:close/>
                <a:moveTo>
                  <a:pt x="0" y="179558"/>
                </a:moveTo>
                <a:cubicBezTo>
                  <a:pt x="0" y="80457"/>
                  <a:pt x="80457" y="0"/>
                  <a:pt x="179558" y="0"/>
                </a:cubicBezTo>
                <a:cubicBezTo>
                  <a:pt x="278659" y="0"/>
                  <a:pt x="359116" y="80457"/>
                  <a:pt x="359116" y="179558"/>
                </a:cubicBezTo>
                <a:cubicBezTo>
                  <a:pt x="359116" y="278659"/>
                  <a:pt x="278659" y="359116"/>
                  <a:pt x="179558" y="359116"/>
                </a:cubicBezTo>
                <a:cubicBezTo>
                  <a:pt x="80457" y="359116"/>
                  <a:pt x="0" y="278659"/>
                  <a:pt x="0" y="179558"/>
                </a:cubicBezTo>
                <a:close/>
                <a:moveTo>
                  <a:pt x="179558" y="235670"/>
                </a:moveTo>
                <a:cubicBezTo>
                  <a:pt x="210527" y="235670"/>
                  <a:pt x="235670" y="210527"/>
                  <a:pt x="235670" y="179558"/>
                </a:cubicBezTo>
                <a:cubicBezTo>
                  <a:pt x="235670" y="148589"/>
                  <a:pt x="210527" y="123446"/>
                  <a:pt x="179558" y="123446"/>
                </a:cubicBezTo>
                <a:cubicBezTo>
                  <a:pt x="148589" y="123446"/>
                  <a:pt x="123446" y="148589"/>
                  <a:pt x="123446" y="179558"/>
                </a:cubicBezTo>
                <a:cubicBezTo>
                  <a:pt x="123446" y="210527"/>
                  <a:pt x="148589" y="235670"/>
                  <a:pt x="179558" y="235670"/>
                </a:cubicBezTo>
                <a:close/>
                <a:moveTo>
                  <a:pt x="179558" y="78557"/>
                </a:moveTo>
                <a:cubicBezTo>
                  <a:pt x="235302" y="78557"/>
                  <a:pt x="280560" y="123814"/>
                  <a:pt x="280560" y="179558"/>
                </a:cubicBezTo>
                <a:cubicBezTo>
                  <a:pt x="280560" y="235302"/>
                  <a:pt x="235302" y="280560"/>
                  <a:pt x="179558" y="280560"/>
                </a:cubicBezTo>
                <a:cubicBezTo>
                  <a:pt x="123814" y="280560"/>
                  <a:pt x="78557" y="235302"/>
                  <a:pt x="78557" y="179558"/>
                </a:cubicBezTo>
                <a:cubicBezTo>
                  <a:pt x="78557" y="123814"/>
                  <a:pt x="123814" y="78557"/>
                  <a:pt x="179558" y="78557"/>
                </a:cubicBezTo>
                <a:close/>
                <a:moveTo>
                  <a:pt x="157113" y="179558"/>
                </a:moveTo>
                <a:cubicBezTo>
                  <a:pt x="157113" y="167171"/>
                  <a:pt x="167171" y="157113"/>
                  <a:pt x="179558" y="157113"/>
                </a:cubicBezTo>
                <a:cubicBezTo>
                  <a:pt x="191946" y="157113"/>
                  <a:pt x="202003" y="167171"/>
                  <a:pt x="202003" y="179558"/>
                </a:cubicBezTo>
                <a:cubicBezTo>
                  <a:pt x="202003" y="191946"/>
                  <a:pt x="191946" y="202003"/>
                  <a:pt x="179558" y="202003"/>
                </a:cubicBezTo>
                <a:cubicBezTo>
                  <a:pt x="167171" y="202003"/>
                  <a:pt x="157113" y="191946"/>
                  <a:pt x="157113" y="179558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7" name="Text 5"/>
          <p:cNvSpPr/>
          <p:nvPr/>
        </p:nvSpPr>
        <p:spPr>
          <a:xfrm>
            <a:off x="1358657" y="2106816"/>
            <a:ext cx="1065378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设计目标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6115" y="2681402"/>
            <a:ext cx="487201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精准挖掘已工作女性球迷足球主题旅游的</a:t>
            </a:r>
            <a:r>
              <a:rPr lang="en-US" sz="1508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消费习惯、需求偏好及现存痛点</a:t>
            </a:r>
            <a:r>
              <a:rPr lang="en-US" sz="1508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,为相关产品优化提供数据支撑。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763" y="3782692"/>
            <a:ext cx="5326892" cy="5446598"/>
          </a:xfrm>
          <a:custGeom>
            <a:avLst/>
            <a:gdLst/>
            <a:ahLst/>
            <a:cxnLst/>
            <a:rect l="l" t="t" r="r" b="b"/>
            <a:pathLst>
              <a:path w="5326892" h="5446598">
                <a:moveTo>
                  <a:pt x="47882" y="0"/>
                </a:moveTo>
                <a:lnTo>
                  <a:pt x="5183226" y="0"/>
                </a:lnTo>
                <a:cubicBezTo>
                  <a:pt x="5262518" y="0"/>
                  <a:pt x="5326892" y="64375"/>
                  <a:pt x="5326892" y="143666"/>
                </a:cubicBezTo>
                <a:lnTo>
                  <a:pt x="5326892" y="5302932"/>
                </a:lnTo>
                <a:cubicBezTo>
                  <a:pt x="5326892" y="5382276"/>
                  <a:pt x="5262571" y="5446598"/>
                  <a:pt x="5183226" y="5446598"/>
                </a:cubicBezTo>
                <a:lnTo>
                  <a:pt x="47882" y="5446598"/>
                </a:lnTo>
                <a:cubicBezTo>
                  <a:pt x="21438" y="5446598"/>
                  <a:pt x="0" y="5425160"/>
                  <a:pt x="0" y="5398716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1823" dist="478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763" y="3782692"/>
            <a:ext cx="47882" cy="5446598"/>
          </a:xfrm>
          <a:custGeom>
            <a:avLst/>
            <a:gdLst/>
            <a:ahLst/>
            <a:cxnLst/>
            <a:rect l="l" t="t" r="r" b="b"/>
            <a:pathLst>
              <a:path w="47882" h="5446598">
                <a:moveTo>
                  <a:pt x="47882" y="0"/>
                </a:moveTo>
                <a:lnTo>
                  <a:pt x="47882" y="0"/>
                </a:lnTo>
                <a:lnTo>
                  <a:pt x="47882" y="5446598"/>
                </a:lnTo>
                <a:lnTo>
                  <a:pt x="47882" y="5446598"/>
                </a:lnTo>
                <a:cubicBezTo>
                  <a:pt x="21438" y="5446598"/>
                  <a:pt x="0" y="5425160"/>
                  <a:pt x="0" y="5398716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1" name="Shape 9"/>
          <p:cNvSpPr/>
          <p:nvPr/>
        </p:nvSpPr>
        <p:spPr>
          <a:xfrm>
            <a:off x="849909" y="4093926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264624" y="12176"/>
                </a:moveTo>
                <a:cubicBezTo>
                  <a:pt x="252335" y="-112"/>
                  <a:pt x="232472" y="-112"/>
                  <a:pt x="220183" y="12176"/>
                </a:cubicBezTo>
                <a:lnTo>
                  <a:pt x="206492" y="25868"/>
                </a:lnTo>
                <a:lnTo>
                  <a:pt x="261425" y="80801"/>
                </a:lnTo>
                <a:lnTo>
                  <a:pt x="275117" y="67110"/>
                </a:lnTo>
                <a:cubicBezTo>
                  <a:pt x="287405" y="54821"/>
                  <a:pt x="287405" y="34958"/>
                  <a:pt x="275117" y="22669"/>
                </a:cubicBezTo>
                <a:lnTo>
                  <a:pt x="264624" y="12176"/>
                </a:lnTo>
                <a:close/>
                <a:moveTo>
                  <a:pt x="96737" y="135623"/>
                </a:moveTo>
                <a:cubicBezTo>
                  <a:pt x="93314" y="139045"/>
                  <a:pt x="90677" y="143254"/>
                  <a:pt x="89162" y="147911"/>
                </a:cubicBezTo>
                <a:lnTo>
                  <a:pt x="72553" y="197738"/>
                </a:lnTo>
                <a:cubicBezTo>
                  <a:pt x="70925" y="202564"/>
                  <a:pt x="72216" y="207895"/>
                  <a:pt x="75807" y="211542"/>
                </a:cubicBezTo>
                <a:cubicBezTo>
                  <a:pt x="79398" y="215189"/>
                  <a:pt x="84729" y="216424"/>
                  <a:pt x="89611" y="214796"/>
                </a:cubicBezTo>
                <a:lnTo>
                  <a:pt x="139438" y="198187"/>
                </a:lnTo>
                <a:cubicBezTo>
                  <a:pt x="144039" y="196672"/>
                  <a:pt x="148248" y="194035"/>
                  <a:pt x="151727" y="190612"/>
                </a:cubicBezTo>
                <a:lnTo>
                  <a:pt x="242404" y="99823"/>
                </a:lnTo>
                <a:lnTo>
                  <a:pt x="187470" y="44890"/>
                </a:lnTo>
                <a:lnTo>
                  <a:pt x="96737" y="135623"/>
                </a:lnTo>
                <a:close/>
                <a:moveTo>
                  <a:pt x="53867" y="35912"/>
                </a:moveTo>
                <a:cubicBezTo>
                  <a:pt x="24128" y="35912"/>
                  <a:pt x="0" y="60040"/>
                  <a:pt x="0" y="89779"/>
                </a:cubicBezTo>
                <a:lnTo>
                  <a:pt x="0" y="233426"/>
                </a:lnTo>
                <a:cubicBezTo>
                  <a:pt x="0" y="263165"/>
                  <a:pt x="24128" y="287293"/>
                  <a:pt x="53867" y="287293"/>
                </a:cubicBezTo>
                <a:lnTo>
                  <a:pt x="197514" y="287293"/>
                </a:lnTo>
                <a:cubicBezTo>
                  <a:pt x="227253" y="287293"/>
                  <a:pt x="251381" y="263165"/>
                  <a:pt x="251381" y="233426"/>
                </a:cubicBezTo>
                <a:lnTo>
                  <a:pt x="251381" y="179558"/>
                </a:lnTo>
                <a:cubicBezTo>
                  <a:pt x="251381" y="169626"/>
                  <a:pt x="243357" y="161602"/>
                  <a:pt x="233426" y="161602"/>
                </a:cubicBezTo>
                <a:cubicBezTo>
                  <a:pt x="223494" y="161602"/>
                  <a:pt x="215470" y="169626"/>
                  <a:pt x="215470" y="179558"/>
                </a:cubicBezTo>
                <a:lnTo>
                  <a:pt x="215470" y="233426"/>
                </a:lnTo>
                <a:cubicBezTo>
                  <a:pt x="215470" y="243357"/>
                  <a:pt x="207446" y="251381"/>
                  <a:pt x="197514" y="251381"/>
                </a:cubicBezTo>
                <a:lnTo>
                  <a:pt x="53867" y="251381"/>
                </a:lnTo>
                <a:cubicBezTo>
                  <a:pt x="43936" y="251381"/>
                  <a:pt x="35912" y="243357"/>
                  <a:pt x="35912" y="233426"/>
                </a:cubicBezTo>
                <a:lnTo>
                  <a:pt x="35912" y="89779"/>
                </a:lnTo>
                <a:cubicBezTo>
                  <a:pt x="35912" y="79847"/>
                  <a:pt x="43936" y="71823"/>
                  <a:pt x="53867" y="71823"/>
                </a:cubicBezTo>
                <a:lnTo>
                  <a:pt x="107735" y="71823"/>
                </a:lnTo>
                <a:cubicBezTo>
                  <a:pt x="117667" y="71823"/>
                  <a:pt x="125691" y="63799"/>
                  <a:pt x="125691" y="53867"/>
                </a:cubicBezTo>
                <a:cubicBezTo>
                  <a:pt x="125691" y="43936"/>
                  <a:pt x="117667" y="35912"/>
                  <a:pt x="107735" y="35912"/>
                </a:cubicBezTo>
                <a:lnTo>
                  <a:pt x="53867" y="35912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2" name="Text 10"/>
          <p:cNvSpPr/>
          <p:nvPr/>
        </p:nvSpPr>
        <p:spPr>
          <a:xfrm>
            <a:off x="1316760" y="4069985"/>
            <a:ext cx="885820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题型设计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997" y="4548807"/>
            <a:ext cx="4824130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</a:t>
            </a:r>
            <a:r>
              <a:rPr lang="en-US" sz="1508" b="1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单选、多选</a:t>
            </a:r>
            <a:r>
              <a:rPr lang="en-US" sz="1508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为主,搭配</a:t>
            </a:r>
            <a:r>
              <a:rPr lang="en-US" sz="1508" b="1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开放题</a:t>
            </a:r>
            <a:r>
              <a:rPr lang="en-US" sz="1508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收集个性化反馈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997" y="5051570"/>
            <a:ext cx="1484348" cy="718233"/>
          </a:xfrm>
          <a:custGeom>
            <a:avLst/>
            <a:gdLst/>
            <a:ahLst/>
            <a:cxnLst/>
            <a:rect l="l" t="t" r="r" b="b"/>
            <a:pathLst>
              <a:path w="1484348" h="718233">
                <a:moveTo>
                  <a:pt x="95762" y="0"/>
                </a:moveTo>
                <a:lnTo>
                  <a:pt x="1388586" y="0"/>
                </a:lnTo>
                <a:cubicBezTo>
                  <a:pt x="1441473" y="0"/>
                  <a:pt x="1484348" y="42874"/>
                  <a:pt x="1484348" y="95762"/>
                </a:cubicBezTo>
                <a:lnTo>
                  <a:pt x="1484348" y="622471"/>
                </a:lnTo>
                <a:cubicBezTo>
                  <a:pt x="1484348" y="675359"/>
                  <a:pt x="1441473" y="718233"/>
                  <a:pt x="1388586" y="718233"/>
                </a:cubicBezTo>
                <a:lnTo>
                  <a:pt x="95762" y="718233"/>
                </a:lnTo>
                <a:cubicBezTo>
                  <a:pt x="42909" y="718233"/>
                  <a:pt x="0" y="675323"/>
                  <a:pt x="0" y="622471"/>
                </a:cubicBezTo>
                <a:lnTo>
                  <a:pt x="0" y="95762"/>
                </a:lnTo>
                <a:cubicBezTo>
                  <a:pt x="0" y="42874"/>
                  <a:pt x="42874" y="0"/>
                  <a:pt x="95762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67865" y="5195216"/>
            <a:ext cx="1376613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28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单选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39497" y="5051570"/>
            <a:ext cx="1484348" cy="718233"/>
          </a:xfrm>
          <a:custGeom>
            <a:avLst/>
            <a:gdLst/>
            <a:ahLst/>
            <a:cxnLst/>
            <a:rect l="l" t="t" r="r" b="b"/>
            <a:pathLst>
              <a:path w="1484348" h="718233">
                <a:moveTo>
                  <a:pt x="95762" y="0"/>
                </a:moveTo>
                <a:lnTo>
                  <a:pt x="1388586" y="0"/>
                </a:lnTo>
                <a:cubicBezTo>
                  <a:pt x="1441473" y="0"/>
                  <a:pt x="1484348" y="42874"/>
                  <a:pt x="1484348" y="95762"/>
                </a:cubicBezTo>
                <a:lnTo>
                  <a:pt x="1484348" y="622471"/>
                </a:lnTo>
                <a:cubicBezTo>
                  <a:pt x="1484348" y="675359"/>
                  <a:pt x="1441473" y="718233"/>
                  <a:pt x="1388586" y="718233"/>
                </a:cubicBezTo>
                <a:lnTo>
                  <a:pt x="95762" y="718233"/>
                </a:lnTo>
                <a:cubicBezTo>
                  <a:pt x="42909" y="718233"/>
                  <a:pt x="0" y="675323"/>
                  <a:pt x="0" y="622471"/>
                </a:cubicBezTo>
                <a:lnTo>
                  <a:pt x="0" y="95762"/>
                </a:lnTo>
                <a:cubicBezTo>
                  <a:pt x="0" y="42874"/>
                  <a:pt x="42874" y="0"/>
                  <a:pt x="95762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493365" y="5195216"/>
            <a:ext cx="1376613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28" b="1" dirty="0">
                <a:solidFill>
                  <a:srgbClr val="E56B4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多选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64998" y="5051570"/>
            <a:ext cx="1484348" cy="718233"/>
          </a:xfrm>
          <a:custGeom>
            <a:avLst/>
            <a:gdLst/>
            <a:ahLst/>
            <a:cxnLst/>
            <a:rect l="l" t="t" r="r" b="b"/>
            <a:pathLst>
              <a:path w="1484348" h="718233">
                <a:moveTo>
                  <a:pt x="95762" y="0"/>
                </a:moveTo>
                <a:lnTo>
                  <a:pt x="1388586" y="0"/>
                </a:lnTo>
                <a:cubicBezTo>
                  <a:pt x="1441473" y="0"/>
                  <a:pt x="1484348" y="42874"/>
                  <a:pt x="1484348" y="95762"/>
                </a:cubicBezTo>
                <a:lnTo>
                  <a:pt x="1484348" y="622471"/>
                </a:lnTo>
                <a:cubicBezTo>
                  <a:pt x="1484348" y="675359"/>
                  <a:pt x="1441473" y="718233"/>
                  <a:pt x="1388586" y="718233"/>
                </a:cubicBezTo>
                <a:lnTo>
                  <a:pt x="95762" y="718233"/>
                </a:lnTo>
                <a:cubicBezTo>
                  <a:pt x="42909" y="718233"/>
                  <a:pt x="0" y="675323"/>
                  <a:pt x="0" y="622471"/>
                </a:cubicBezTo>
                <a:lnTo>
                  <a:pt x="0" y="95762"/>
                </a:lnTo>
                <a:cubicBezTo>
                  <a:pt x="0" y="42874"/>
                  <a:pt x="42874" y="0"/>
                  <a:pt x="95762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8865" y="5195216"/>
            <a:ext cx="1376613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28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开放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45378" y="1819523"/>
            <a:ext cx="9636289" cy="1125231"/>
          </a:xfrm>
          <a:custGeom>
            <a:avLst/>
            <a:gdLst/>
            <a:ahLst/>
            <a:cxnLst/>
            <a:rect l="l" t="t" r="r" b="b"/>
            <a:pathLst>
              <a:path w="9636289" h="1125231">
                <a:moveTo>
                  <a:pt x="47882" y="0"/>
                </a:moveTo>
                <a:lnTo>
                  <a:pt x="9492642" y="0"/>
                </a:lnTo>
                <a:cubicBezTo>
                  <a:pt x="9571976" y="0"/>
                  <a:pt x="9636289" y="64313"/>
                  <a:pt x="9636289" y="143647"/>
                </a:cubicBezTo>
                <a:lnTo>
                  <a:pt x="9636289" y="981584"/>
                </a:lnTo>
                <a:cubicBezTo>
                  <a:pt x="9636289" y="1060918"/>
                  <a:pt x="9571976" y="1125231"/>
                  <a:pt x="9492642" y="1125231"/>
                </a:cubicBezTo>
                <a:lnTo>
                  <a:pt x="47882" y="1125231"/>
                </a:lnTo>
                <a:cubicBezTo>
                  <a:pt x="21438" y="1125231"/>
                  <a:pt x="0" y="1103794"/>
                  <a:pt x="0" y="1077349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1823" dist="478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5378" y="1819523"/>
            <a:ext cx="47882" cy="1125231"/>
          </a:xfrm>
          <a:custGeom>
            <a:avLst/>
            <a:gdLst/>
            <a:ahLst/>
            <a:cxnLst/>
            <a:rect l="l" t="t" r="r" b="b"/>
            <a:pathLst>
              <a:path w="47882" h="1125231">
                <a:moveTo>
                  <a:pt x="47882" y="0"/>
                </a:moveTo>
                <a:lnTo>
                  <a:pt x="47882" y="0"/>
                </a:lnTo>
                <a:lnTo>
                  <a:pt x="47882" y="1125231"/>
                </a:lnTo>
                <a:lnTo>
                  <a:pt x="47882" y="1125231"/>
                </a:lnTo>
                <a:cubicBezTo>
                  <a:pt x="21438" y="1125231"/>
                  <a:pt x="0" y="1103794"/>
                  <a:pt x="0" y="1077349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2" name="Shape 20"/>
          <p:cNvSpPr/>
          <p:nvPr/>
        </p:nvSpPr>
        <p:spPr>
          <a:xfrm>
            <a:off x="6360848" y="2048337"/>
            <a:ext cx="670351" cy="670351"/>
          </a:xfrm>
          <a:custGeom>
            <a:avLst/>
            <a:gdLst/>
            <a:ahLst/>
            <a:cxnLst/>
            <a:rect l="l" t="t" r="r" b="b"/>
            <a:pathLst>
              <a:path w="670351" h="670351">
                <a:moveTo>
                  <a:pt x="335175" y="0"/>
                </a:moveTo>
                <a:lnTo>
                  <a:pt x="335175" y="0"/>
                </a:lnTo>
                <a:cubicBezTo>
                  <a:pt x="520164" y="0"/>
                  <a:pt x="670351" y="150187"/>
                  <a:pt x="670351" y="335175"/>
                </a:cubicBezTo>
                <a:lnTo>
                  <a:pt x="670351" y="335175"/>
                </a:lnTo>
                <a:cubicBezTo>
                  <a:pt x="670351" y="520164"/>
                  <a:pt x="520164" y="670351"/>
                  <a:pt x="335175" y="670351"/>
                </a:cubicBezTo>
                <a:lnTo>
                  <a:pt x="335175" y="670351"/>
                </a:lnTo>
                <a:cubicBezTo>
                  <a:pt x="150187" y="670351"/>
                  <a:pt x="0" y="520164"/>
                  <a:pt x="0" y="335175"/>
                </a:cubicBezTo>
                <a:lnTo>
                  <a:pt x="0" y="335175"/>
                </a:lnTo>
                <a:cubicBezTo>
                  <a:pt x="0" y="150187"/>
                  <a:pt x="150187" y="0"/>
                  <a:pt x="335175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0996" y="2048337"/>
            <a:ext cx="790056" cy="67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8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2728" y="2024396"/>
            <a:ext cx="8487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基础信息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2728" y="2455335"/>
            <a:ext cx="846317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年龄段、所在城市、关注足球时长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45378" y="3091145"/>
            <a:ext cx="9636289" cy="1125231"/>
          </a:xfrm>
          <a:custGeom>
            <a:avLst/>
            <a:gdLst/>
            <a:ahLst/>
            <a:cxnLst/>
            <a:rect l="l" t="t" r="r" b="b"/>
            <a:pathLst>
              <a:path w="9636289" h="1125231">
                <a:moveTo>
                  <a:pt x="47882" y="0"/>
                </a:moveTo>
                <a:lnTo>
                  <a:pt x="9492642" y="0"/>
                </a:lnTo>
                <a:cubicBezTo>
                  <a:pt x="9571976" y="0"/>
                  <a:pt x="9636289" y="64313"/>
                  <a:pt x="9636289" y="143647"/>
                </a:cubicBezTo>
                <a:lnTo>
                  <a:pt x="9636289" y="981584"/>
                </a:lnTo>
                <a:cubicBezTo>
                  <a:pt x="9636289" y="1060918"/>
                  <a:pt x="9571976" y="1125231"/>
                  <a:pt x="9492642" y="1125231"/>
                </a:cubicBezTo>
                <a:lnTo>
                  <a:pt x="47882" y="1125231"/>
                </a:lnTo>
                <a:cubicBezTo>
                  <a:pt x="21438" y="1125231"/>
                  <a:pt x="0" y="1103794"/>
                  <a:pt x="0" y="1077349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1823" dist="478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5378" y="3091145"/>
            <a:ext cx="47882" cy="1125231"/>
          </a:xfrm>
          <a:custGeom>
            <a:avLst/>
            <a:gdLst/>
            <a:ahLst/>
            <a:cxnLst/>
            <a:rect l="l" t="t" r="r" b="b"/>
            <a:pathLst>
              <a:path w="47882" h="1125231">
                <a:moveTo>
                  <a:pt x="47882" y="0"/>
                </a:moveTo>
                <a:lnTo>
                  <a:pt x="47882" y="0"/>
                </a:lnTo>
                <a:lnTo>
                  <a:pt x="47882" y="1125231"/>
                </a:lnTo>
                <a:lnTo>
                  <a:pt x="47882" y="1125231"/>
                </a:lnTo>
                <a:cubicBezTo>
                  <a:pt x="21438" y="1125231"/>
                  <a:pt x="0" y="1103794"/>
                  <a:pt x="0" y="1077349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8" name="Shape 26"/>
          <p:cNvSpPr/>
          <p:nvPr/>
        </p:nvSpPr>
        <p:spPr>
          <a:xfrm>
            <a:off x="6360848" y="3319956"/>
            <a:ext cx="670351" cy="670351"/>
          </a:xfrm>
          <a:custGeom>
            <a:avLst/>
            <a:gdLst/>
            <a:ahLst/>
            <a:cxnLst/>
            <a:rect l="l" t="t" r="r" b="b"/>
            <a:pathLst>
              <a:path w="670351" h="670351">
                <a:moveTo>
                  <a:pt x="335175" y="0"/>
                </a:moveTo>
                <a:lnTo>
                  <a:pt x="335175" y="0"/>
                </a:lnTo>
                <a:cubicBezTo>
                  <a:pt x="520164" y="0"/>
                  <a:pt x="670351" y="150187"/>
                  <a:pt x="670351" y="335175"/>
                </a:cubicBezTo>
                <a:lnTo>
                  <a:pt x="670351" y="335175"/>
                </a:lnTo>
                <a:cubicBezTo>
                  <a:pt x="670351" y="520164"/>
                  <a:pt x="520164" y="670351"/>
                  <a:pt x="335175" y="670351"/>
                </a:cubicBezTo>
                <a:lnTo>
                  <a:pt x="335175" y="670351"/>
                </a:lnTo>
                <a:cubicBezTo>
                  <a:pt x="150187" y="670351"/>
                  <a:pt x="0" y="520164"/>
                  <a:pt x="0" y="335175"/>
                </a:cubicBezTo>
                <a:lnTo>
                  <a:pt x="0" y="335175"/>
                </a:lnTo>
                <a:cubicBezTo>
                  <a:pt x="0" y="150187"/>
                  <a:pt x="150187" y="0"/>
                  <a:pt x="335175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996" y="3319956"/>
            <a:ext cx="790056" cy="67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8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22728" y="3296015"/>
            <a:ext cx="8487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关注渠道与支持球队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2728" y="3726954"/>
            <a:ext cx="846317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赛事关注途径、支持球队类型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45378" y="4362767"/>
            <a:ext cx="9636289" cy="1125231"/>
          </a:xfrm>
          <a:custGeom>
            <a:avLst/>
            <a:gdLst/>
            <a:ahLst/>
            <a:cxnLst/>
            <a:rect l="l" t="t" r="r" b="b"/>
            <a:pathLst>
              <a:path w="9636289" h="1125231">
                <a:moveTo>
                  <a:pt x="47882" y="0"/>
                </a:moveTo>
                <a:lnTo>
                  <a:pt x="9492642" y="0"/>
                </a:lnTo>
                <a:cubicBezTo>
                  <a:pt x="9571976" y="0"/>
                  <a:pt x="9636289" y="64313"/>
                  <a:pt x="9636289" y="143647"/>
                </a:cubicBezTo>
                <a:lnTo>
                  <a:pt x="9636289" y="981584"/>
                </a:lnTo>
                <a:cubicBezTo>
                  <a:pt x="9636289" y="1060918"/>
                  <a:pt x="9571976" y="1125231"/>
                  <a:pt x="9492642" y="1125231"/>
                </a:cubicBezTo>
                <a:lnTo>
                  <a:pt x="47882" y="1125231"/>
                </a:lnTo>
                <a:cubicBezTo>
                  <a:pt x="21438" y="1125231"/>
                  <a:pt x="0" y="1103794"/>
                  <a:pt x="0" y="1077349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1823" dist="478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5378" y="4362767"/>
            <a:ext cx="47882" cy="1125231"/>
          </a:xfrm>
          <a:custGeom>
            <a:avLst/>
            <a:gdLst/>
            <a:ahLst/>
            <a:cxnLst/>
            <a:rect l="l" t="t" r="r" b="b"/>
            <a:pathLst>
              <a:path w="47882" h="1125231">
                <a:moveTo>
                  <a:pt x="47882" y="0"/>
                </a:moveTo>
                <a:lnTo>
                  <a:pt x="47882" y="0"/>
                </a:lnTo>
                <a:lnTo>
                  <a:pt x="47882" y="1125231"/>
                </a:lnTo>
                <a:lnTo>
                  <a:pt x="47882" y="1125231"/>
                </a:lnTo>
                <a:cubicBezTo>
                  <a:pt x="21438" y="1125231"/>
                  <a:pt x="0" y="1103794"/>
                  <a:pt x="0" y="1077349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4" name="Shape 32"/>
          <p:cNvSpPr/>
          <p:nvPr/>
        </p:nvSpPr>
        <p:spPr>
          <a:xfrm>
            <a:off x="6360848" y="4591578"/>
            <a:ext cx="670351" cy="670351"/>
          </a:xfrm>
          <a:custGeom>
            <a:avLst/>
            <a:gdLst/>
            <a:ahLst/>
            <a:cxnLst/>
            <a:rect l="l" t="t" r="r" b="b"/>
            <a:pathLst>
              <a:path w="670351" h="670351">
                <a:moveTo>
                  <a:pt x="335175" y="0"/>
                </a:moveTo>
                <a:lnTo>
                  <a:pt x="335175" y="0"/>
                </a:lnTo>
                <a:cubicBezTo>
                  <a:pt x="520164" y="0"/>
                  <a:pt x="670351" y="150187"/>
                  <a:pt x="670351" y="335175"/>
                </a:cubicBezTo>
                <a:lnTo>
                  <a:pt x="670351" y="335175"/>
                </a:lnTo>
                <a:cubicBezTo>
                  <a:pt x="670351" y="520164"/>
                  <a:pt x="520164" y="670351"/>
                  <a:pt x="335175" y="670351"/>
                </a:cubicBezTo>
                <a:lnTo>
                  <a:pt x="335175" y="670351"/>
                </a:lnTo>
                <a:cubicBezTo>
                  <a:pt x="150187" y="670351"/>
                  <a:pt x="0" y="520164"/>
                  <a:pt x="0" y="335175"/>
                </a:cubicBezTo>
                <a:lnTo>
                  <a:pt x="0" y="335175"/>
                </a:lnTo>
                <a:cubicBezTo>
                  <a:pt x="0" y="150187"/>
                  <a:pt x="150187" y="0"/>
                  <a:pt x="335175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996" y="4591578"/>
            <a:ext cx="790056" cy="67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8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2728" y="4567637"/>
            <a:ext cx="8487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旅游行为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22728" y="4998576"/>
            <a:ext cx="846317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是否参与足球主题旅游、旅游次数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45378" y="5634386"/>
            <a:ext cx="9636289" cy="1101290"/>
          </a:xfrm>
          <a:custGeom>
            <a:avLst/>
            <a:gdLst/>
            <a:ahLst/>
            <a:cxnLst/>
            <a:rect l="l" t="t" r="r" b="b"/>
            <a:pathLst>
              <a:path w="9636289" h="1101290">
                <a:moveTo>
                  <a:pt x="47882" y="0"/>
                </a:moveTo>
                <a:lnTo>
                  <a:pt x="9492647" y="0"/>
                </a:lnTo>
                <a:cubicBezTo>
                  <a:pt x="9571978" y="0"/>
                  <a:pt x="9636289" y="64310"/>
                  <a:pt x="9636289" y="143641"/>
                </a:cubicBezTo>
                <a:lnTo>
                  <a:pt x="9636289" y="957649"/>
                </a:lnTo>
                <a:cubicBezTo>
                  <a:pt x="9636289" y="1036980"/>
                  <a:pt x="9571978" y="1101290"/>
                  <a:pt x="9492647" y="1101290"/>
                </a:cubicBezTo>
                <a:lnTo>
                  <a:pt x="47882" y="1101290"/>
                </a:lnTo>
                <a:cubicBezTo>
                  <a:pt x="21438" y="1101290"/>
                  <a:pt x="0" y="1079853"/>
                  <a:pt x="0" y="1053408"/>
                </a:cubicBezTo>
                <a:lnTo>
                  <a:pt x="0" y="47882"/>
                </a:lnTo>
                <a:cubicBezTo>
                  <a:pt x="0" y="21438"/>
                  <a:pt x="21438" y="0"/>
                  <a:pt x="478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1823" dist="478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45378" y="5634386"/>
            <a:ext cx="47882" cy="1101290"/>
          </a:xfrm>
          <a:custGeom>
            <a:avLst/>
            <a:gdLst/>
            <a:ahLst/>
            <a:cxnLst/>
            <a:rect l="l" t="t" r="r" b="b"/>
            <a:pathLst>
              <a:path w="47882" h="1101290">
                <a:moveTo>
                  <a:pt x="47882" y="0"/>
                </a:moveTo>
                <a:lnTo>
                  <a:pt x="47882" y="0"/>
                </a:lnTo>
                <a:lnTo>
                  <a:pt x="47882" y="1101290"/>
                </a:lnTo>
                <a:lnTo>
                  <a:pt x="47882" y="1101290"/>
                </a:lnTo>
                <a:cubicBezTo>
                  <a:pt x="21438" y="1101290"/>
                  <a:pt x="0" y="1079853"/>
                  <a:pt x="0" y="1053408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0" name="Shape 38"/>
          <p:cNvSpPr/>
          <p:nvPr/>
        </p:nvSpPr>
        <p:spPr>
          <a:xfrm>
            <a:off x="6360848" y="5849856"/>
            <a:ext cx="670351" cy="670351"/>
          </a:xfrm>
          <a:custGeom>
            <a:avLst/>
            <a:gdLst/>
            <a:ahLst/>
            <a:cxnLst/>
            <a:rect l="l" t="t" r="r" b="b"/>
            <a:pathLst>
              <a:path w="670351" h="670351">
                <a:moveTo>
                  <a:pt x="335175" y="0"/>
                </a:moveTo>
                <a:lnTo>
                  <a:pt x="335175" y="0"/>
                </a:lnTo>
                <a:cubicBezTo>
                  <a:pt x="520164" y="0"/>
                  <a:pt x="670351" y="150187"/>
                  <a:pt x="670351" y="335175"/>
                </a:cubicBezTo>
                <a:lnTo>
                  <a:pt x="670351" y="335175"/>
                </a:lnTo>
                <a:cubicBezTo>
                  <a:pt x="670351" y="520164"/>
                  <a:pt x="520164" y="670351"/>
                  <a:pt x="335175" y="670351"/>
                </a:cubicBezTo>
                <a:lnTo>
                  <a:pt x="335175" y="670351"/>
                </a:lnTo>
                <a:cubicBezTo>
                  <a:pt x="150187" y="670351"/>
                  <a:pt x="0" y="520164"/>
                  <a:pt x="0" y="335175"/>
                </a:cubicBezTo>
                <a:lnTo>
                  <a:pt x="0" y="335175"/>
                </a:lnTo>
                <a:cubicBezTo>
                  <a:pt x="0" y="150187"/>
                  <a:pt x="150187" y="0"/>
                  <a:pt x="335175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1" name="Text 39"/>
          <p:cNvSpPr/>
          <p:nvPr/>
        </p:nvSpPr>
        <p:spPr>
          <a:xfrm>
            <a:off x="6300996" y="5849856"/>
            <a:ext cx="790056" cy="67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8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22728" y="5825915"/>
            <a:ext cx="8487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旅游偏好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22728" y="6256854"/>
            <a:ext cx="846317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目的地类型、参与活动、出行方式、停留时长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45378" y="6879323"/>
            <a:ext cx="9636289" cy="1101290"/>
          </a:xfrm>
          <a:custGeom>
            <a:avLst/>
            <a:gdLst/>
            <a:ahLst/>
            <a:cxnLst/>
            <a:rect l="l" t="t" r="r" b="b"/>
            <a:pathLst>
              <a:path w="9636289" h="1101290">
                <a:moveTo>
                  <a:pt x="47882" y="0"/>
                </a:moveTo>
                <a:lnTo>
                  <a:pt x="9492647" y="0"/>
                </a:lnTo>
                <a:cubicBezTo>
                  <a:pt x="9571978" y="0"/>
                  <a:pt x="9636289" y="64310"/>
                  <a:pt x="9636289" y="143641"/>
                </a:cubicBezTo>
                <a:lnTo>
                  <a:pt x="9636289" y="957649"/>
                </a:lnTo>
                <a:cubicBezTo>
                  <a:pt x="9636289" y="1036980"/>
                  <a:pt x="9571978" y="1101290"/>
                  <a:pt x="9492647" y="1101290"/>
                </a:cubicBezTo>
                <a:lnTo>
                  <a:pt x="47882" y="1101290"/>
                </a:lnTo>
                <a:cubicBezTo>
                  <a:pt x="21438" y="1101290"/>
                  <a:pt x="0" y="1079853"/>
                  <a:pt x="0" y="1053408"/>
                </a:cubicBezTo>
                <a:lnTo>
                  <a:pt x="0" y="47882"/>
                </a:lnTo>
                <a:cubicBezTo>
                  <a:pt x="0" y="21438"/>
                  <a:pt x="21438" y="0"/>
                  <a:pt x="478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1823" dist="478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45378" y="6879323"/>
            <a:ext cx="47882" cy="1101290"/>
          </a:xfrm>
          <a:custGeom>
            <a:avLst/>
            <a:gdLst/>
            <a:ahLst/>
            <a:cxnLst/>
            <a:rect l="l" t="t" r="r" b="b"/>
            <a:pathLst>
              <a:path w="47882" h="1101290">
                <a:moveTo>
                  <a:pt x="47882" y="0"/>
                </a:moveTo>
                <a:lnTo>
                  <a:pt x="47882" y="0"/>
                </a:lnTo>
                <a:lnTo>
                  <a:pt x="47882" y="1101290"/>
                </a:lnTo>
                <a:lnTo>
                  <a:pt x="47882" y="1101290"/>
                </a:lnTo>
                <a:cubicBezTo>
                  <a:pt x="21438" y="1101290"/>
                  <a:pt x="0" y="1079853"/>
                  <a:pt x="0" y="1053408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6" name="Shape 44"/>
          <p:cNvSpPr/>
          <p:nvPr/>
        </p:nvSpPr>
        <p:spPr>
          <a:xfrm>
            <a:off x="6360848" y="7094792"/>
            <a:ext cx="670351" cy="670351"/>
          </a:xfrm>
          <a:custGeom>
            <a:avLst/>
            <a:gdLst/>
            <a:ahLst/>
            <a:cxnLst/>
            <a:rect l="l" t="t" r="r" b="b"/>
            <a:pathLst>
              <a:path w="670351" h="670351">
                <a:moveTo>
                  <a:pt x="335175" y="0"/>
                </a:moveTo>
                <a:lnTo>
                  <a:pt x="335175" y="0"/>
                </a:lnTo>
                <a:cubicBezTo>
                  <a:pt x="520164" y="0"/>
                  <a:pt x="670351" y="150187"/>
                  <a:pt x="670351" y="335175"/>
                </a:cubicBezTo>
                <a:lnTo>
                  <a:pt x="670351" y="335175"/>
                </a:lnTo>
                <a:cubicBezTo>
                  <a:pt x="670351" y="520164"/>
                  <a:pt x="520164" y="670351"/>
                  <a:pt x="335175" y="670351"/>
                </a:cubicBezTo>
                <a:lnTo>
                  <a:pt x="335175" y="670351"/>
                </a:lnTo>
                <a:cubicBezTo>
                  <a:pt x="150187" y="670351"/>
                  <a:pt x="0" y="520164"/>
                  <a:pt x="0" y="335175"/>
                </a:cubicBezTo>
                <a:lnTo>
                  <a:pt x="0" y="335175"/>
                </a:lnTo>
                <a:cubicBezTo>
                  <a:pt x="0" y="150187"/>
                  <a:pt x="150187" y="0"/>
                  <a:pt x="335175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7" name="Text 45"/>
          <p:cNvSpPr/>
          <p:nvPr/>
        </p:nvSpPr>
        <p:spPr>
          <a:xfrm>
            <a:off x="6300996" y="7094792"/>
            <a:ext cx="790056" cy="67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8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22728" y="7070851"/>
            <a:ext cx="8487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消费分配与决策因素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22728" y="7501791"/>
            <a:ext cx="846317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预算分配、选择重视程度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45378" y="8124259"/>
            <a:ext cx="9636289" cy="1101290"/>
          </a:xfrm>
          <a:custGeom>
            <a:avLst/>
            <a:gdLst/>
            <a:ahLst/>
            <a:cxnLst/>
            <a:rect l="l" t="t" r="r" b="b"/>
            <a:pathLst>
              <a:path w="9636289" h="1101290">
                <a:moveTo>
                  <a:pt x="47882" y="0"/>
                </a:moveTo>
                <a:lnTo>
                  <a:pt x="9492647" y="0"/>
                </a:lnTo>
                <a:cubicBezTo>
                  <a:pt x="9571978" y="0"/>
                  <a:pt x="9636289" y="64310"/>
                  <a:pt x="9636289" y="143641"/>
                </a:cubicBezTo>
                <a:lnTo>
                  <a:pt x="9636289" y="957649"/>
                </a:lnTo>
                <a:cubicBezTo>
                  <a:pt x="9636289" y="1036980"/>
                  <a:pt x="9571978" y="1101290"/>
                  <a:pt x="9492647" y="1101290"/>
                </a:cubicBezTo>
                <a:lnTo>
                  <a:pt x="47882" y="1101290"/>
                </a:lnTo>
                <a:cubicBezTo>
                  <a:pt x="21438" y="1101290"/>
                  <a:pt x="0" y="1079853"/>
                  <a:pt x="0" y="1053408"/>
                </a:cubicBezTo>
                <a:lnTo>
                  <a:pt x="0" y="47882"/>
                </a:lnTo>
                <a:cubicBezTo>
                  <a:pt x="0" y="21438"/>
                  <a:pt x="21438" y="0"/>
                  <a:pt x="478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1823" dist="478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45378" y="8124259"/>
            <a:ext cx="47882" cy="1101290"/>
          </a:xfrm>
          <a:custGeom>
            <a:avLst/>
            <a:gdLst/>
            <a:ahLst/>
            <a:cxnLst/>
            <a:rect l="l" t="t" r="r" b="b"/>
            <a:pathLst>
              <a:path w="47882" h="1101290">
                <a:moveTo>
                  <a:pt x="47882" y="0"/>
                </a:moveTo>
                <a:lnTo>
                  <a:pt x="47882" y="0"/>
                </a:lnTo>
                <a:lnTo>
                  <a:pt x="47882" y="1101290"/>
                </a:lnTo>
                <a:lnTo>
                  <a:pt x="47882" y="1101290"/>
                </a:lnTo>
                <a:cubicBezTo>
                  <a:pt x="21438" y="1101290"/>
                  <a:pt x="0" y="1079853"/>
                  <a:pt x="0" y="1053408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2" name="Shape 50"/>
          <p:cNvSpPr/>
          <p:nvPr/>
        </p:nvSpPr>
        <p:spPr>
          <a:xfrm>
            <a:off x="6360848" y="8339729"/>
            <a:ext cx="670351" cy="670351"/>
          </a:xfrm>
          <a:custGeom>
            <a:avLst/>
            <a:gdLst/>
            <a:ahLst/>
            <a:cxnLst/>
            <a:rect l="l" t="t" r="r" b="b"/>
            <a:pathLst>
              <a:path w="670351" h="670351">
                <a:moveTo>
                  <a:pt x="335175" y="0"/>
                </a:moveTo>
                <a:lnTo>
                  <a:pt x="335175" y="0"/>
                </a:lnTo>
                <a:cubicBezTo>
                  <a:pt x="520164" y="0"/>
                  <a:pt x="670351" y="150187"/>
                  <a:pt x="670351" y="335175"/>
                </a:cubicBezTo>
                <a:lnTo>
                  <a:pt x="670351" y="335175"/>
                </a:lnTo>
                <a:cubicBezTo>
                  <a:pt x="670351" y="520164"/>
                  <a:pt x="520164" y="670351"/>
                  <a:pt x="335175" y="670351"/>
                </a:cubicBezTo>
                <a:lnTo>
                  <a:pt x="335175" y="670351"/>
                </a:lnTo>
                <a:cubicBezTo>
                  <a:pt x="150187" y="670351"/>
                  <a:pt x="0" y="520164"/>
                  <a:pt x="0" y="335175"/>
                </a:cubicBezTo>
                <a:lnTo>
                  <a:pt x="0" y="335175"/>
                </a:lnTo>
                <a:cubicBezTo>
                  <a:pt x="0" y="150187"/>
                  <a:pt x="150187" y="0"/>
                  <a:pt x="335175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3" name="Text 51"/>
          <p:cNvSpPr/>
          <p:nvPr/>
        </p:nvSpPr>
        <p:spPr>
          <a:xfrm>
            <a:off x="6300996" y="8339729"/>
            <a:ext cx="790056" cy="67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8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22728" y="8315788"/>
            <a:ext cx="8487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问题反馈与期望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22728" y="8746728"/>
            <a:ext cx="846317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现有产品不足、未来改进建议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hzhaige.com/ef26c8c0463efa9c978933bce6c280873fbfdfff.jpg"/>
          <p:cNvPicPr>
            <a:picLocks noChangeAspect="1"/>
          </p:cNvPicPr>
          <p:nvPr/>
        </p:nvPicPr>
        <p:blipFill>
          <a:blip r:embed="rId3"/>
          <a:srcRect t="2" b="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56B4D">
                  <a:alpha val="95000"/>
                </a:srgbClr>
              </a:gs>
              <a:gs pos="50000">
                <a:srgbClr val="E56B4D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2520950"/>
            <a:ext cx="1384300" cy="508000"/>
          </a:xfrm>
          <a:custGeom>
            <a:avLst/>
            <a:gdLst/>
            <a:ahLst/>
            <a:cxnLst/>
            <a:rect l="l" t="t" r="r" b="b"/>
            <a:pathLst>
              <a:path w="1384300" h="508000">
                <a:moveTo>
                  <a:pt x="0" y="0"/>
                </a:moveTo>
                <a:lnTo>
                  <a:pt x="1384300" y="0"/>
                </a:lnTo>
                <a:lnTo>
                  <a:pt x="13843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2520950"/>
            <a:ext cx="1485900" cy="50800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333750"/>
            <a:ext cx="899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调研过程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815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137150"/>
            <a:ext cx="8686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2025年12月18日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通过问卷收集的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样本数据情况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调研实施:样本情况与数据处理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930400"/>
            <a:ext cx="7467600" cy="2286000"/>
          </a:xfrm>
          <a:custGeom>
            <a:avLst/>
            <a:gdLst/>
            <a:ahLst/>
            <a:cxnLst/>
            <a:rect l="l" t="t" r="r" b="b"/>
            <a:pathLst>
              <a:path w="7467600" h="2286000">
                <a:moveTo>
                  <a:pt x="152408" y="0"/>
                </a:moveTo>
                <a:lnTo>
                  <a:pt x="7315192" y="0"/>
                </a:lnTo>
                <a:cubicBezTo>
                  <a:pt x="7399365" y="0"/>
                  <a:pt x="7467600" y="68235"/>
                  <a:pt x="7467600" y="152408"/>
                </a:cubicBezTo>
                <a:lnTo>
                  <a:pt x="7467600" y="2133592"/>
                </a:lnTo>
                <a:cubicBezTo>
                  <a:pt x="7467600" y="2217765"/>
                  <a:pt x="7399365" y="2286000"/>
                  <a:pt x="7315192" y="2286000"/>
                </a:cubicBezTo>
                <a:lnTo>
                  <a:pt x="152408" y="2286000"/>
                </a:lnTo>
                <a:cubicBezTo>
                  <a:pt x="68235" y="2286000"/>
                  <a:pt x="0" y="2217765"/>
                  <a:pt x="0" y="21335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6" name="Shape 4"/>
          <p:cNvSpPr/>
          <p:nvPr/>
        </p:nvSpPr>
        <p:spPr>
          <a:xfrm>
            <a:off x="887413" y="2247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95250" y="0"/>
                </a:moveTo>
                <a:cubicBezTo>
                  <a:pt x="108421" y="0"/>
                  <a:pt x="119063" y="10641"/>
                  <a:pt x="119063" y="23812"/>
                </a:cubicBezTo>
                <a:lnTo>
                  <a:pt x="119063" y="47625"/>
                </a:lnTo>
                <a:lnTo>
                  <a:pt x="214313" y="47625"/>
                </a:lnTo>
                <a:lnTo>
                  <a:pt x="214313" y="23812"/>
                </a:lnTo>
                <a:cubicBezTo>
                  <a:pt x="214313" y="10641"/>
                  <a:pt x="224954" y="0"/>
                  <a:pt x="238125" y="0"/>
                </a:cubicBezTo>
                <a:cubicBezTo>
                  <a:pt x="251296" y="0"/>
                  <a:pt x="261938" y="10641"/>
                  <a:pt x="261938" y="23812"/>
                </a:cubicBezTo>
                <a:lnTo>
                  <a:pt x="261938" y="47625"/>
                </a:lnTo>
                <a:lnTo>
                  <a:pt x="285750" y="47625"/>
                </a:lnTo>
                <a:cubicBezTo>
                  <a:pt x="312018" y="47625"/>
                  <a:pt x="333375" y="68982"/>
                  <a:pt x="333375" y="95250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95250"/>
                </a:lnTo>
                <a:cubicBezTo>
                  <a:pt x="0" y="68982"/>
                  <a:pt x="21357" y="47625"/>
                  <a:pt x="47625" y="47625"/>
                </a:cubicBezTo>
                <a:lnTo>
                  <a:pt x="71438" y="47625"/>
                </a:lnTo>
                <a:lnTo>
                  <a:pt x="71438" y="23812"/>
                </a:lnTo>
                <a:cubicBezTo>
                  <a:pt x="71438" y="10641"/>
                  <a:pt x="82079" y="0"/>
                  <a:pt x="95250" y="0"/>
                </a:cubicBezTo>
                <a:close/>
                <a:moveTo>
                  <a:pt x="229493" y="170185"/>
                </a:moveTo>
                <a:cubicBezTo>
                  <a:pt x="234702" y="161851"/>
                  <a:pt x="232172" y="150837"/>
                  <a:pt x="223837" y="145554"/>
                </a:cubicBezTo>
                <a:cubicBezTo>
                  <a:pt x="215503" y="140271"/>
                  <a:pt x="204490" y="142875"/>
                  <a:pt x="199206" y="151209"/>
                </a:cubicBezTo>
                <a:lnTo>
                  <a:pt x="153516" y="224358"/>
                </a:lnTo>
                <a:lnTo>
                  <a:pt x="133424" y="197569"/>
                </a:lnTo>
                <a:cubicBezTo>
                  <a:pt x="127471" y="189681"/>
                  <a:pt x="116309" y="188044"/>
                  <a:pt x="108421" y="193997"/>
                </a:cubicBezTo>
                <a:cubicBezTo>
                  <a:pt x="100533" y="199951"/>
                  <a:pt x="98896" y="211113"/>
                  <a:pt x="104849" y="219001"/>
                </a:cubicBezTo>
                <a:lnTo>
                  <a:pt x="140568" y="266626"/>
                </a:lnTo>
                <a:cubicBezTo>
                  <a:pt x="144066" y="271314"/>
                  <a:pt x="149721" y="273993"/>
                  <a:pt x="155600" y="273769"/>
                </a:cubicBezTo>
                <a:cubicBezTo>
                  <a:pt x="161479" y="273546"/>
                  <a:pt x="166836" y="270421"/>
                  <a:pt x="169962" y="265361"/>
                </a:cubicBezTo>
                <a:lnTo>
                  <a:pt x="229493" y="170111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7" name="Text 5"/>
          <p:cNvSpPr/>
          <p:nvPr/>
        </p:nvSpPr>
        <p:spPr>
          <a:xfrm>
            <a:off x="1441450" y="2235200"/>
            <a:ext cx="113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调研时间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844800"/>
            <a:ext cx="716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2025年12月18日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556000"/>
            <a:ext cx="697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7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集中收集问卷时段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4419600"/>
            <a:ext cx="7442200" cy="4216400"/>
          </a:xfrm>
          <a:custGeom>
            <a:avLst/>
            <a:gdLst/>
            <a:ahLst/>
            <a:cxnLst/>
            <a:rect l="l" t="t" r="r" b="b"/>
            <a:pathLst>
              <a:path w="7442200" h="4216400">
                <a:moveTo>
                  <a:pt x="50800" y="0"/>
                </a:moveTo>
                <a:lnTo>
                  <a:pt x="7289819" y="0"/>
                </a:lnTo>
                <a:cubicBezTo>
                  <a:pt x="7373977" y="0"/>
                  <a:pt x="7442200" y="68223"/>
                  <a:pt x="7442200" y="152381"/>
                </a:cubicBezTo>
                <a:lnTo>
                  <a:pt x="7442200" y="4064019"/>
                </a:lnTo>
                <a:cubicBezTo>
                  <a:pt x="7442200" y="4148177"/>
                  <a:pt x="7373977" y="4216400"/>
                  <a:pt x="7289819" y="4216400"/>
                </a:cubicBezTo>
                <a:lnTo>
                  <a:pt x="50800" y="4216400"/>
                </a:lnTo>
                <a:cubicBezTo>
                  <a:pt x="22744" y="4216400"/>
                  <a:pt x="0" y="4193656"/>
                  <a:pt x="0" y="416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3400" y="4419600"/>
            <a:ext cx="50800" cy="4216400"/>
          </a:xfrm>
          <a:custGeom>
            <a:avLst/>
            <a:gdLst/>
            <a:ahLst/>
            <a:cxnLst/>
            <a:rect l="l" t="t" r="r" b="b"/>
            <a:pathLst>
              <a:path w="50800" h="4216400">
                <a:moveTo>
                  <a:pt x="50800" y="0"/>
                </a:moveTo>
                <a:lnTo>
                  <a:pt x="50800" y="0"/>
                </a:lnTo>
                <a:lnTo>
                  <a:pt x="50800" y="4216400"/>
                </a:lnTo>
                <a:lnTo>
                  <a:pt x="50800" y="4216400"/>
                </a:lnTo>
                <a:cubicBezTo>
                  <a:pt x="22763" y="4216400"/>
                  <a:pt x="0" y="4193637"/>
                  <a:pt x="0" y="416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2" name="Shape 10"/>
          <p:cNvSpPr/>
          <p:nvPr/>
        </p:nvSpPr>
        <p:spPr>
          <a:xfrm>
            <a:off x="939800" y="4749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47625" y="38100"/>
                </a:move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lnTo>
                  <a:pt x="47625" y="38100"/>
                </a:lnTo>
                <a:close/>
                <a:moveTo>
                  <a:pt x="114300" y="280987"/>
                </a:moveTo>
                <a:cubicBezTo>
                  <a:pt x="124837" y="280987"/>
                  <a:pt x="133350" y="272475"/>
                  <a:pt x="133350" y="261937"/>
                </a:cubicBezTo>
                <a:cubicBezTo>
                  <a:pt x="133350" y="251400"/>
                  <a:pt x="124837" y="242888"/>
                  <a:pt x="114300" y="242888"/>
                </a:cubicBezTo>
                <a:cubicBezTo>
                  <a:pt x="103763" y="242888"/>
                  <a:pt x="95250" y="251400"/>
                  <a:pt x="95250" y="261937"/>
                </a:cubicBezTo>
                <a:cubicBezTo>
                  <a:pt x="95250" y="272475"/>
                  <a:pt x="103763" y="280987"/>
                  <a:pt x="114300" y="280987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3" name="Text 11"/>
          <p:cNvSpPr/>
          <p:nvPr/>
        </p:nvSpPr>
        <p:spPr>
          <a:xfrm>
            <a:off x="1397000" y="47244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调研渠道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" y="5283200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600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微信平台</a:t>
            </a:r>
            <a:r>
              <a:rPr lang="en-US" sz="16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定向发放问卷,依托社交网络触达目标人群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" y="5765800"/>
            <a:ext cx="6807200" cy="609600"/>
          </a:xfrm>
          <a:custGeom>
            <a:avLst/>
            <a:gdLst/>
            <a:ahLst/>
            <a:cxnLst/>
            <a:rect l="l" t="t" r="r" b="b"/>
            <a:pathLst>
              <a:path w="6807200" h="609600">
                <a:moveTo>
                  <a:pt x="101602" y="0"/>
                </a:moveTo>
                <a:lnTo>
                  <a:pt x="6705598" y="0"/>
                </a:lnTo>
                <a:cubicBezTo>
                  <a:pt x="6761711" y="0"/>
                  <a:pt x="6807200" y="45489"/>
                  <a:pt x="6807200" y="101602"/>
                </a:cubicBezTo>
                <a:lnTo>
                  <a:pt x="6807200" y="507998"/>
                </a:lnTo>
                <a:cubicBezTo>
                  <a:pt x="6807200" y="564111"/>
                  <a:pt x="6761711" y="609600"/>
                  <a:pt x="67055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35050" y="5918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9314" y="99774"/>
                </a:moveTo>
                <a:cubicBezTo>
                  <a:pt x="233124" y="99774"/>
                  <a:pt x="236815" y="99953"/>
                  <a:pt x="240506" y="100429"/>
                </a:cubicBezTo>
                <a:cubicBezTo>
                  <a:pt x="230624" y="53757"/>
                  <a:pt x="180558" y="19050"/>
                  <a:pt x="123646" y="19050"/>
                </a:cubicBezTo>
                <a:cubicBezTo>
                  <a:pt x="59829" y="19050"/>
                  <a:pt x="7739" y="62389"/>
                  <a:pt x="7739" y="117515"/>
                </a:cubicBezTo>
                <a:cubicBezTo>
                  <a:pt x="7739" y="149304"/>
                  <a:pt x="25182" y="175558"/>
                  <a:pt x="54114" y="195858"/>
                </a:cubicBezTo>
                <a:lnTo>
                  <a:pt x="42624" y="230743"/>
                </a:lnTo>
                <a:lnTo>
                  <a:pt x="83106" y="210443"/>
                </a:lnTo>
                <a:cubicBezTo>
                  <a:pt x="97631" y="213300"/>
                  <a:pt x="109180" y="216218"/>
                  <a:pt x="123706" y="216218"/>
                </a:cubicBezTo>
                <a:cubicBezTo>
                  <a:pt x="127397" y="216218"/>
                  <a:pt x="130909" y="216039"/>
                  <a:pt x="134600" y="215741"/>
                </a:cubicBezTo>
                <a:cubicBezTo>
                  <a:pt x="132219" y="208062"/>
                  <a:pt x="130909" y="199906"/>
                  <a:pt x="130909" y="191452"/>
                </a:cubicBezTo>
                <a:cubicBezTo>
                  <a:pt x="130850" y="140910"/>
                  <a:pt x="174308" y="99774"/>
                  <a:pt x="229314" y="99774"/>
                </a:cubicBezTo>
                <a:close/>
                <a:moveTo>
                  <a:pt x="167104" y="68282"/>
                </a:moveTo>
                <a:cubicBezTo>
                  <a:pt x="175736" y="68282"/>
                  <a:pt x="181511" y="74057"/>
                  <a:pt x="181511" y="82808"/>
                </a:cubicBezTo>
                <a:cubicBezTo>
                  <a:pt x="181511" y="91440"/>
                  <a:pt x="175736" y="97215"/>
                  <a:pt x="167104" y="97215"/>
                </a:cubicBezTo>
                <a:cubicBezTo>
                  <a:pt x="158294" y="97215"/>
                  <a:pt x="149662" y="91440"/>
                  <a:pt x="149662" y="82808"/>
                </a:cubicBezTo>
                <a:cubicBezTo>
                  <a:pt x="149721" y="74057"/>
                  <a:pt x="158353" y="68282"/>
                  <a:pt x="167104" y="68282"/>
                </a:cubicBezTo>
                <a:close/>
                <a:moveTo>
                  <a:pt x="85904" y="97215"/>
                </a:moveTo>
                <a:cubicBezTo>
                  <a:pt x="77272" y="97215"/>
                  <a:pt x="68461" y="91440"/>
                  <a:pt x="68461" y="82808"/>
                </a:cubicBezTo>
                <a:cubicBezTo>
                  <a:pt x="68461" y="73997"/>
                  <a:pt x="77272" y="68282"/>
                  <a:pt x="85904" y="68282"/>
                </a:cubicBezTo>
                <a:cubicBezTo>
                  <a:pt x="94714" y="68282"/>
                  <a:pt x="100429" y="74057"/>
                  <a:pt x="100429" y="82808"/>
                </a:cubicBezTo>
                <a:cubicBezTo>
                  <a:pt x="100429" y="91500"/>
                  <a:pt x="94714" y="97215"/>
                  <a:pt x="85904" y="97215"/>
                </a:cubicBezTo>
                <a:close/>
                <a:moveTo>
                  <a:pt x="335161" y="190143"/>
                </a:moveTo>
                <a:cubicBezTo>
                  <a:pt x="335161" y="143768"/>
                  <a:pt x="288786" y="106025"/>
                  <a:pt x="236696" y="106025"/>
                </a:cubicBezTo>
                <a:cubicBezTo>
                  <a:pt x="181511" y="106025"/>
                  <a:pt x="138232" y="143768"/>
                  <a:pt x="138232" y="190143"/>
                </a:cubicBezTo>
                <a:cubicBezTo>
                  <a:pt x="138232" y="236518"/>
                  <a:pt x="181570" y="274260"/>
                  <a:pt x="236696" y="274260"/>
                </a:cubicBezTo>
                <a:cubicBezTo>
                  <a:pt x="248186" y="274260"/>
                  <a:pt x="259854" y="271224"/>
                  <a:pt x="271582" y="268367"/>
                </a:cubicBezTo>
                <a:lnTo>
                  <a:pt x="303371" y="285810"/>
                </a:lnTo>
                <a:lnTo>
                  <a:pt x="294561" y="256877"/>
                </a:lnTo>
                <a:cubicBezTo>
                  <a:pt x="317897" y="239375"/>
                  <a:pt x="335161" y="216218"/>
                  <a:pt x="335161" y="190143"/>
                </a:cubicBezTo>
                <a:close/>
                <a:moveTo>
                  <a:pt x="204728" y="175558"/>
                </a:moveTo>
                <a:cubicBezTo>
                  <a:pt x="198953" y="175558"/>
                  <a:pt x="193238" y="169783"/>
                  <a:pt x="193238" y="163890"/>
                </a:cubicBezTo>
                <a:cubicBezTo>
                  <a:pt x="193238" y="158115"/>
                  <a:pt x="199013" y="152400"/>
                  <a:pt x="204728" y="152400"/>
                </a:cubicBezTo>
                <a:cubicBezTo>
                  <a:pt x="213539" y="152400"/>
                  <a:pt x="219254" y="158175"/>
                  <a:pt x="219254" y="163890"/>
                </a:cubicBezTo>
                <a:cubicBezTo>
                  <a:pt x="219254" y="169843"/>
                  <a:pt x="213479" y="175558"/>
                  <a:pt x="204728" y="175558"/>
                </a:cubicBezTo>
                <a:close/>
                <a:moveTo>
                  <a:pt x="268486" y="175558"/>
                </a:moveTo>
                <a:cubicBezTo>
                  <a:pt x="262711" y="175558"/>
                  <a:pt x="256996" y="169783"/>
                  <a:pt x="256996" y="163890"/>
                </a:cubicBezTo>
                <a:cubicBezTo>
                  <a:pt x="256996" y="158115"/>
                  <a:pt x="262771" y="152400"/>
                  <a:pt x="268486" y="152400"/>
                </a:cubicBezTo>
                <a:cubicBezTo>
                  <a:pt x="277118" y="152400"/>
                  <a:pt x="283012" y="158175"/>
                  <a:pt x="283012" y="163890"/>
                </a:cubicBezTo>
                <a:cubicBezTo>
                  <a:pt x="283071" y="169843"/>
                  <a:pt x="277118" y="175558"/>
                  <a:pt x="268486" y="175558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59182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微信社交网络平台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5800" y="1930400"/>
            <a:ext cx="50800" cy="3022600"/>
          </a:xfrm>
          <a:custGeom>
            <a:avLst/>
            <a:gdLst/>
            <a:ahLst/>
            <a:cxnLst/>
            <a:rect l="l" t="t" r="r" b="b"/>
            <a:pathLst>
              <a:path w="50800" h="3022600">
                <a:moveTo>
                  <a:pt x="50800" y="0"/>
                </a:moveTo>
                <a:lnTo>
                  <a:pt x="50800" y="0"/>
                </a:lnTo>
                <a:lnTo>
                  <a:pt x="50800" y="3022600"/>
                </a:lnTo>
                <a:lnTo>
                  <a:pt x="50800" y="3022600"/>
                </a:lnTo>
                <a:cubicBezTo>
                  <a:pt x="22763" y="3022600"/>
                  <a:pt x="0" y="2999837"/>
                  <a:pt x="0" y="2971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0" name="Shape 18"/>
          <p:cNvSpPr/>
          <p:nvPr/>
        </p:nvSpPr>
        <p:spPr>
          <a:xfrm>
            <a:off x="8693150" y="2260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1" name="Text 19"/>
          <p:cNvSpPr/>
          <p:nvPr/>
        </p:nvSpPr>
        <p:spPr>
          <a:xfrm>
            <a:off x="9169400" y="22352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2794000"/>
            <a:ext cx="690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 err="1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600" b="1" dirty="0" err="1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人工核对+分类统计</a:t>
            </a:r>
            <a:r>
              <a:rPr lang="en-US" sz="1600" dirty="0" err="1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方式,对多选、开放题</a:t>
            </a:r>
            <a:r>
              <a:rPr lang="zh-CN" altLang="en-US" sz="16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借助工具</a:t>
            </a:r>
            <a:r>
              <a:rPr lang="en-US" sz="1600" dirty="0" err="1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</a:t>
            </a:r>
            <a:r>
              <a:rPr lang="zh-CN" altLang="en-US" sz="16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整理</a:t>
            </a:r>
            <a:r>
              <a:rPr lang="en-US" sz="16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,确保数据准确性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3276600"/>
            <a:ext cx="3327400" cy="609600"/>
          </a:xfrm>
          <a:custGeom>
            <a:avLst/>
            <a:gdLst/>
            <a:ahLst/>
            <a:cxnLst/>
            <a:rect l="l" t="t" r="r" b="b"/>
            <a:pathLst>
              <a:path w="3327400" h="609600">
                <a:moveTo>
                  <a:pt x="101602" y="0"/>
                </a:moveTo>
                <a:lnTo>
                  <a:pt x="3225798" y="0"/>
                </a:lnTo>
                <a:cubicBezTo>
                  <a:pt x="3281911" y="0"/>
                  <a:pt x="3327400" y="45489"/>
                  <a:pt x="3327400" y="101602"/>
                </a:cubicBezTo>
                <a:lnTo>
                  <a:pt x="3327400" y="507998"/>
                </a:lnTo>
                <a:cubicBezTo>
                  <a:pt x="3327400" y="564111"/>
                  <a:pt x="3281911" y="609600"/>
                  <a:pt x="3225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737600" y="3429000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人工核对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115800" y="3276600"/>
            <a:ext cx="3327400" cy="609600"/>
          </a:xfrm>
          <a:custGeom>
            <a:avLst/>
            <a:gdLst/>
            <a:ahLst/>
            <a:cxnLst/>
            <a:rect l="l" t="t" r="r" b="b"/>
            <a:pathLst>
              <a:path w="3327400" h="609600">
                <a:moveTo>
                  <a:pt x="101602" y="0"/>
                </a:moveTo>
                <a:lnTo>
                  <a:pt x="3225798" y="0"/>
                </a:lnTo>
                <a:cubicBezTo>
                  <a:pt x="3281911" y="0"/>
                  <a:pt x="3327400" y="45489"/>
                  <a:pt x="3327400" y="101602"/>
                </a:cubicBezTo>
                <a:lnTo>
                  <a:pt x="3327400" y="507998"/>
                </a:lnTo>
                <a:cubicBezTo>
                  <a:pt x="3327400" y="564111"/>
                  <a:pt x="3281911" y="609600"/>
                  <a:pt x="3225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217400" y="3429000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分类统计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36000" y="4038600"/>
            <a:ext cx="3327400" cy="609600"/>
          </a:xfrm>
          <a:custGeom>
            <a:avLst/>
            <a:gdLst/>
            <a:ahLst/>
            <a:cxnLst/>
            <a:rect l="l" t="t" r="r" b="b"/>
            <a:pathLst>
              <a:path w="3327400" h="609600">
                <a:moveTo>
                  <a:pt x="101602" y="0"/>
                </a:moveTo>
                <a:lnTo>
                  <a:pt x="3225798" y="0"/>
                </a:lnTo>
                <a:cubicBezTo>
                  <a:pt x="3281911" y="0"/>
                  <a:pt x="3327400" y="45489"/>
                  <a:pt x="3327400" y="101602"/>
                </a:cubicBezTo>
                <a:lnTo>
                  <a:pt x="3327400" y="507998"/>
                </a:lnTo>
                <a:cubicBezTo>
                  <a:pt x="3327400" y="564111"/>
                  <a:pt x="3281911" y="609600"/>
                  <a:pt x="3225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737600" y="4191000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图表</a:t>
            </a:r>
            <a:r>
              <a:rPr lang="en-US" sz="1600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115800" y="4038600"/>
            <a:ext cx="3327400" cy="609600"/>
          </a:xfrm>
          <a:custGeom>
            <a:avLst/>
            <a:gdLst/>
            <a:ahLst/>
            <a:cxnLst/>
            <a:rect l="l" t="t" r="r" b="b"/>
            <a:pathLst>
              <a:path w="3327400" h="609600">
                <a:moveTo>
                  <a:pt x="101602" y="0"/>
                </a:moveTo>
                <a:lnTo>
                  <a:pt x="3225798" y="0"/>
                </a:lnTo>
                <a:cubicBezTo>
                  <a:pt x="3281911" y="0"/>
                  <a:pt x="3327400" y="45489"/>
                  <a:pt x="3327400" y="101602"/>
                </a:cubicBezTo>
                <a:lnTo>
                  <a:pt x="3327400" y="507998"/>
                </a:lnTo>
                <a:cubicBezTo>
                  <a:pt x="3327400" y="564111"/>
                  <a:pt x="3281911" y="609600"/>
                  <a:pt x="3225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217400" y="4191000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数据校验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80400" y="5156200"/>
            <a:ext cx="7467600" cy="3479800"/>
          </a:xfrm>
          <a:custGeom>
            <a:avLst/>
            <a:gdLst/>
            <a:ahLst/>
            <a:cxnLst/>
            <a:rect l="l" t="t" r="r" b="b"/>
            <a:pathLst>
              <a:path w="7467600" h="3479800">
                <a:moveTo>
                  <a:pt x="152415" y="0"/>
                </a:moveTo>
                <a:lnTo>
                  <a:pt x="7315185" y="0"/>
                </a:lnTo>
                <a:cubicBezTo>
                  <a:pt x="7399361" y="0"/>
                  <a:pt x="7467600" y="68239"/>
                  <a:pt x="7467600" y="152415"/>
                </a:cubicBezTo>
                <a:lnTo>
                  <a:pt x="7467600" y="3327385"/>
                </a:lnTo>
                <a:cubicBezTo>
                  <a:pt x="7467600" y="3411561"/>
                  <a:pt x="7399361" y="3479800"/>
                  <a:pt x="7315185" y="3479800"/>
                </a:cubicBezTo>
                <a:lnTo>
                  <a:pt x="152415" y="3479800"/>
                </a:lnTo>
                <a:cubicBezTo>
                  <a:pt x="68239" y="3479800"/>
                  <a:pt x="0" y="3411561"/>
                  <a:pt x="0" y="3327385"/>
                </a:cubicBezTo>
                <a:lnTo>
                  <a:pt x="0" y="152415"/>
                </a:lnTo>
                <a:cubicBezTo>
                  <a:pt x="0" y="68239"/>
                  <a:pt x="68239" y="0"/>
                  <a:pt x="152415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32" name="Shape 30"/>
          <p:cNvSpPr/>
          <p:nvPr/>
        </p:nvSpPr>
        <p:spPr>
          <a:xfrm>
            <a:off x="8612188" y="54737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81298" y="178594"/>
                </a:moveTo>
                <a:lnTo>
                  <a:pt x="250329" y="178594"/>
                </a:lnTo>
                <a:cubicBezTo>
                  <a:pt x="237158" y="178594"/>
                  <a:pt x="226516" y="167953"/>
                  <a:pt x="226516" y="154781"/>
                </a:cubicBezTo>
                <a:lnTo>
                  <a:pt x="226516" y="23812"/>
                </a:lnTo>
                <a:cubicBezTo>
                  <a:pt x="226516" y="10641"/>
                  <a:pt x="237232" y="-149"/>
                  <a:pt x="250254" y="1563"/>
                </a:cubicBezTo>
                <a:cubicBezTo>
                  <a:pt x="329878" y="12129"/>
                  <a:pt x="392981" y="75233"/>
                  <a:pt x="403547" y="154856"/>
                </a:cubicBezTo>
                <a:cubicBezTo>
                  <a:pt x="405259" y="167878"/>
                  <a:pt x="394469" y="178594"/>
                  <a:pt x="381298" y="178594"/>
                </a:cubicBezTo>
                <a:close/>
                <a:moveTo>
                  <a:pt x="165646" y="27682"/>
                </a:moveTo>
                <a:cubicBezTo>
                  <a:pt x="179115" y="24854"/>
                  <a:pt x="190798" y="35868"/>
                  <a:pt x="190798" y="49634"/>
                </a:cubicBezTo>
                <a:lnTo>
                  <a:pt x="190798" y="196453"/>
                </a:lnTo>
                <a:cubicBezTo>
                  <a:pt x="190798" y="200620"/>
                  <a:pt x="192286" y="204639"/>
                  <a:pt x="194890" y="207838"/>
                </a:cubicBezTo>
                <a:lnTo>
                  <a:pt x="293191" y="326454"/>
                </a:lnTo>
                <a:cubicBezTo>
                  <a:pt x="301898" y="336947"/>
                  <a:pt x="300038" y="352797"/>
                  <a:pt x="288057" y="359271"/>
                </a:cubicBezTo>
                <a:cubicBezTo>
                  <a:pt x="262682" y="373112"/>
                  <a:pt x="233586" y="381000"/>
                  <a:pt x="202704" y="381000"/>
                </a:cubicBezTo>
                <a:cubicBezTo>
                  <a:pt x="104105" y="381000"/>
                  <a:pt x="24110" y="301005"/>
                  <a:pt x="24110" y="202406"/>
                </a:cubicBezTo>
                <a:cubicBezTo>
                  <a:pt x="24110" y="116458"/>
                  <a:pt x="84758" y="44723"/>
                  <a:pt x="165646" y="27682"/>
                </a:cubicBezTo>
                <a:close/>
                <a:moveTo>
                  <a:pt x="355550" y="214313"/>
                </a:moveTo>
                <a:lnTo>
                  <a:pt x="403175" y="214313"/>
                </a:lnTo>
                <a:cubicBezTo>
                  <a:pt x="416942" y="214313"/>
                  <a:pt x="427955" y="225996"/>
                  <a:pt x="425128" y="239464"/>
                </a:cubicBezTo>
                <a:cubicBezTo>
                  <a:pt x="417537" y="275481"/>
                  <a:pt x="399083" y="307479"/>
                  <a:pt x="373335" y="331887"/>
                </a:cubicBezTo>
                <a:cubicBezTo>
                  <a:pt x="364182" y="340593"/>
                  <a:pt x="349821" y="338733"/>
                  <a:pt x="341784" y="328985"/>
                </a:cubicBezTo>
                <a:lnTo>
                  <a:pt x="278978" y="253305"/>
                </a:lnTo>
                <a:cubicBezTo>
                  <a:pt x="266105" y="237753"/>
                  <a:pt x="277192" y="214313"/>
                  <a:pt x="297284" y="214313"/>
                </a:cubicBezTo>
                <a:lnTo>
                  <a:pt x="355476" y="214313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3" name="Text 31"/>
          <p:cNvSpPr/>
          <p:nvPr/>
        </p:nvSpPr>
        <p:spPr>
          <a:xfrm>
            <a:off x="9213850" y="5461000"/>
            <a:ext cx="113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样本情况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85200" y="6070600"/>
            <a:ext cx="2184400" cy="1117600"/>
          </a:xfrm>
          <a:custGeom>
            <a:avLst/>
            <a:gdLst/>
            <a:ahLst/>
            <a:cxnLst/>
            <a:rect l="l" t="t" r="r" b="b"/>
            <a:pathLst>
              <a:path w="2184400" h="1117600">
                <a:moveTo>
                  <a:pt x="101601" y="0"/>
                </a:moveTo>
                <a:lnTo>
                  <a:pt x="2082799" y="0"/>
                </a:lnTo>
                <a:cubicBezTo>
                  <a:pt x="2138912" y="0"/>
                  <a:pt x="2184400" y="45488"/>
                  <a:pt x="2184400" y="101601"/>
                </a:cubicBezTo>
                <a:lnTo>
                  <a:pt x="2184400" y="1015999"/>
                </a:lnTo>
                <a:cubicBezTo>
                  <a:pt x="2184400" y="1072112"/>
                  <a:pt x="2138912" y="1117600"/>
                  <a:pt x="20827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623300" y="6223000"/>
            <a:ext cx="210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93150" y="6781800"/>
            <a:ext cx="196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有效问卷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922000" y="6070600"/>
            <a:ext cx="2184400" cy="1117600"/>
          </a:xfrm>
          <a:custGeom>
            <a:avLst/>
            <a:gdLst/>
            <a:ahLst/>
            <a:cxnLst/>
            <a:rect l="l" t="t" r="r" b="b"/>
            <a:pathLst>
              <a:path w="2184400" h="1117600">
                <a:moveTo>
                  <a:pt x="101601" y="0"/>
                </a:moveTo>
                <a:lnTo>
                  <a:pt x="2082799" y="0"/>
                </a:lnTo>
                <a:cubicBezTo>
                  <a:pt x="2138912" y="0"/>
                  <a:pt x="2184400" y="45488"/>
                  <a:pt x="2184400" y="101601"/>
                </a:cubicBezTo>
                <a:lnTo>
                  <a:pt x="2184400" y="1015999"/>
                </a:lnTo>
                <a:cubicBezTo>
                  <a:pt x="2184400" y="1072112"/>
                  <a:pt x="2138912" y="1117600"/>
                  <a:pt x="20827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960100" y="6223000"/>
            <a:ext cx="210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29950" y="6781800"/>
            <a:ext cx="196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有效率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258800" y="6070600"/>
            <a:ext cx="2184400" cy="1117600"/>
          </a:xfrm>
          <a:custGeom>
            <a:avLst/>
            <a:gdLst/>
            <a:ahLst/>
            <a:cxnLst/>
            <a:rect l="l" t="t" r="r" b="b"/>
            <a:pathLst>
              <a:path w="2184400" h="1117600">
                <a:moveTo>
                  <a:pt x="101601" y="0"/>
                </a:moveTo>
                <a:lnTo>
                  <a:pt x="2082799" y="0"/>
                </a:lnTo>
                <a:cubicBezTo>
                  <a:pt x="2138912" y="0"/>
                  <a:pt x="2184400" y="45488"/>
                  <a:pt x="2184400" y="101601"/>
                </a:cubicBezTo>
                <a:lnTo>
                  <a:pt x="2184400" y="1015999"/>
                </a:lnTo>
                <a:cubicBezTo>
                  <a:pt x="2184400" y="1072112"/>
                  <a:pt x="2138912" y="1117600"/>
                  <a:pt x="20827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3296900" y="6223000"/>
            <a:ext cx="210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366750" y="6781800"/>
            <a:ext cx="196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覆盖区域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5200" y="7340600"/>
            <a:ext cx="695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样本覆盖区域:以</a:t>
            </a:r>
            <a:r>
              <a:rPr lang="en-US" sz="1600" b="1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山东(济南、聊城、济宁)</a:t>
            </a:r>
            <a:r>
              <a:rPr lang="en-US" sz="1600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为主,含1份国外(马来西亚)样本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hzhaige.com/f701539c68edf8666b60b28ca50ca9dffe2e81ba.jpg"/>
          <p:cNvPicPr>
            <a:picLocks noChangeAspect="1"/>
          </p:cNvPicPr>
          <p:nvPr/>
        </p:nvPicPr>
        <p:blipFill>
          <a:blip r:embed="rId3"/>
          <a:srcRect t="2" b="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2197100"/>
            <a:ext cx="1397000" cy="508000"/>
          </a:xfrm>
          <a:custGeom>
            <a:avLst/>
            <a:gdLst/>
            <a:ahLst/>
            <a:cxnLst/>
            <a:rect l="l" t="t" r="r" b="b"/>
            <a:pathLst>
              <a:path w="1397000" h="508000">
                <a:moveTo>
                  <a:pt x="0" y="0"/>
                </a:moveTo>
                <a:lnTo>
                  <a:pt x="1397000" y="0"/>
                </a:lnTo>
                <a:lnTo>
                  <a:pt x="1397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2197100"/>
            <a:ext cx="1498600" cy="50800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009900"/>
            <a:ext cx="899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调研对象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统计学特征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6007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956300"/>
            <a:ext cx="868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20-35岁为核心客群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足球关注时长跨度大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DEMOGRAPHIC CHARACTERISTICS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年龄段与地域分布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879600"/>
            <a:ext cx="7721600" cy="6756400"/>
          </a:xfrm>
          <a:custGeom>
            <a:avLst/>
            <a:gdLst/>
            <a:ahLst/>
            <a:cxnLst/>
            <a:rect l="l" t="t" r="r" b="b"/>
            <a:pathLst>
              <a:path w="7721600" h="6756400">
                <a:moveTo>
                  <a:pt x="152424" y="0"/>
                </a:moveTo>
                <a:lnTo>
                  <a:pt x="7569176" y="0"/>
                </a:lnTo>
                <a:cubicBezTo>
                  <a:pt x="7653357" y="0"/>
                  <a:pt x="7721600" y="68243"/>
                  <a:pt x="7721600" y="152424"/>
                </a:cubicBezTo>
                <a:lnTo>
                  <a:pt x="7721600" y="6603976"/>
                </a:lnTo>
                <a:cubicBezTo>
                  <a:pt x="7721600" y="6688157"/>
                  <a:pt x="7653357" y="6756400"/>
                  <a:pt x="7569176" y="6756400"/>
                </a:cubicBezTo>
                <a:lnTo>
                  <a:pt x="152424" y="6756400"/>
                </a:lnTo>
                <a:cubicBezTo>
                  <a:pt x="68243" y="6756400"/>
                  <a:pt x="0" y="6688157"/>
                  <a:pt x="0" y="6603976"/>
                </a:cubicBezTo>
                <a:lnTo>
                  <a:pt x="0" y="152424"/>
                </a:lnTo>
                <a:cubicBezTo>
                  <a:pt x="0" y="68299"/>
                  <a:pt x="68299" y="0"/>
                  <a:pt x="1524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8500" y="2133600"/>
            <a:ext cx="734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年龄段分布</a:t>
            </a:r>
            <a:endParaRPr lang="en-US" sz="1600" dirty="0"/>
          </a:p>
        </p:txBody>
      </p:sp>
      <p:pic>
        <p:nvPicPr>
          <p:cNvPr id="7" name="Image 0" descr="https://kimi-img.moonshot.cn/pub/slides/25-12-19-16:37:47-d52gtmpe3tpka0btjv3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641600"/>
            <a:ext cx="7213600" cy="5334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8534400" y="1879600"/>
            <a:ext cx="7213600" cy="3556000"/>
          </a:xfrm>
          <a:custGeom>
            <a:avLst/>
            <a:gdLst/>
            <a:ahLst/>
            <a:cxnLst/>
            <a:rect l="l" t="t" r="r" b="b"/>
            <a:pathLst>
              <a:path w="7213600" h="3556000">
                <a:moveTo>
                  <a:pt x="152410" y="0"/>
                </a:moveTo>
                <a:lnTo>
                  <a:pt x="7061190" y="0"/>
                </a:lnTo>
                <a:cubicBezTo>
                  <a:pt x="7145364" y="0"/>
                  <a:pt x="7213600" y="68236"/>
                  <a:pt x="7213600" y="152410"/>
                </a:cubicBezTo>
                <a:lnTo>
                  <a:pt x="7213600" y="3403590"/>
                </a:lnTo>
                <a:cubicBezTo>
                  <a:pt x="7213600" y="3487764"/>
                  <a:pt x="7145364" y="3556000"/>
                  <a:pt x="7061190" y="3556000"/>
                </a:cubicBezTo>
                <a:lnTo>
                  <a:pt x="152410" y="3556000"/>
                </a:lnTo>
                <a:cubicBezTo>
                  <a:pt x="68236" y="3556000"/>
                  <a:pt x="0" y="3487764"/>
                  <a:pt x="0" y="34035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24900" y="2133600"/>
            <a:ext cx="683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地域分布</a:t>
            </a:r>
            <a:endParaRPr lang="en-US" sz="1600" dirty="0"/>
          </a:p>
        </p:txBody>
      </p:sp>
      <p:pic>
        <p:nvPicPr>
          <p:cNvPr id="10" name="Image 1" descr="https://kimi-img.moonshot.cn/pub/slides/25-12-19-16:37:47-d52gtmqav1f1e62fngi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88400" y="2641600"/>
            <a:ext cx="6705600" cy="2540000"/>
          </a:xfrm>
          <a:prstGeom prst="roundRect">
            <a:avLst>
              <a:gd name="adj" fmla="val 0"/>
            </a:avLst>
          </a:prstGeom>
        </p:spPr>
      </p:pic>
      <p:sp>
        <p:nvSpPr>
          <p:cNvPr id="11" name="Shape 7"/>
          <p:cNvSpPr/>
          <p:nvPr/>
        </p:nvSpPr>
        <p:spPr>
          <a:xfrm>
            <a:off x="8534400" y="5720608"/>
            <a:ext cx="7213600" cy="2540000"/>
          </a:xfrm>
          <a:custGeom>
            <a:avLst/>
            <a:gdLst/>
            <a:ahLst/>
            <a:cxnLst/>
            <a:rect l="l" t="t" r="r" b="b"/>
            <a:pathLst>
              <a:path w="7213600" h="2540000">
                <a:moveTo>
                  <a:pt x="152400" y="0"/>
                </a:moveTo>
                <a:lnTo>
                  <a:pt x="7061200" y="0"/>
                </a:lnTo>
                <a:cubicBezTo>
                  <a:pt x="7145312" y="0"/>
                  <a:pt x="7213600" y="68288"/>
                  <a:pt x="7213600" y="152400"/>
                </a:cubicBezTo>
                <a:lnTo>
                  <a:pt x="7213600" y="2387600"/>
                </a:lnTo>
                <a:cubicBezTo>
                  <a:pt x="7213600" y="2471712"/>
                  <a:pt x="7145312" y="2540000"/>
                  <a:pt x="7061200" y="2540000"/>
                </a:cubicBezTo>
                <a:lnTo>
                  <a:pt x="152400" y="2540000"/>
                </a:lnTo>
                <a:cubicBezTo>
                  <a:pt x="68288" y="2540000"/>
                  <a:pt x="0" y="2471712"/>
                  <a:pt x="0" y="238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4F41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8"/>
          <p:cNvSpPr/>
          <p:nvPr/>
        </p:nvSpPr>
        <p:spPr>
          <a:xfrm>
            <a:off x="8788400" y="5892800"/>
            <a:ext cx="683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</a:rPr>
              <a:t>总结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807450" y="650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4" name="Text 10"/>
          <p:cNvSpPr/>
          <p:nvPr/>
        </p:nvSpPr>
        <p:spPr>
          <a:xfrm>
            <a:off x="9080499" y="6299200"/>
            <a:ext cx="373297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20-25岁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占比最高(41.7%),为核心客群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8807450" y="690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6" name="Text 12"/>
          <p:cNvSpPr/>
          <p:nvPr/>
        </p:nvSpPr>
        <p:spPr>
          <a:xfrm>
            <a:off x="9080500" y="6807200"/>
            <a:ext cx="42554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31-35岁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次之(25%),</a:t>
            </a:r>
            <a:r>
              <a:rPr lang="en-US" b="1" dirty="0" err="1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显示成熟女性参与度高</a:t>
            </a:r>
            <a:endParaRPr lang="en-US" b="1" dirty="0">
              <a:solidFill>
                <a:srgbClr val="E56B4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807450" y="7315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8" name="Text 14"/>
          <p:cNvSpPr/>
          <p:nvPr/>
        </p:nvSpPr>
        <p:spPr>
          <a:xfrm>
            <a:off x="9080499" y="7162800"/>
            <a:ext cx="6413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山东济南占</a:t>
            </a:r>
            <a:r>
              <a:rPr lang="en-US" sz="16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75%,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为核心调研区域</a:t>
            </a:r>
            <a:r>
              <a:rPr lang="zh-CN" alt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仅有一名马来西亚球迷</a:t>
            </a:r>
            <a:endParaRPr lang="en-US" b="1" dirty="0">
              <a:solidFill>
                <a:schemeClr val="bg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080500" y="7620000"/>
            <a:ext cx="41129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FOOTBALL ENGAGEMENT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足球关注时长与支持球队类型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879600"/>
            <a:ext cx="7721600" cy="6756400"/>
          </a:xfrm>
          <a:custGeom>
            <a:avLst/>
            <a:gdLst/>
            <a:ahLst/>
            <a:cxnLst/>
            <a:rect l="l" t="t" r="r" b="b"/>
            <a:pathLst>
              <a:path w="7721600" h="6756400">
                <a:moveTo>
                  <a:pt x="152424" y="0"/>
                </a:moveTo>
                <a:lnTo>
                  <a:pt x="7569176" y="0"/>
                </a:lnTo>
                <a:cubicBezTo>
                  <a:pt x="7653357" y="0"/>
                  <a:pt x="7721600" y="68243"/>
                  <a:pt x="7721600" y="152424"/>
                </a:cubicBezTo>
                <a:lnTo>
                  <a:pt x="7721600" y="6603976"/>
                </a:lnTo>
                <a:cubicBezTo>
                  <a:pt x="7721600" y="6688157"/>
                  <a:pt x="7653357" y="6756400"/>
                  <a:pt x="7569176" y="6756400"/>
                </a:cubicBezTo>
                <a:lnTo>
                  <a:pt x="152424" y="6756400"/>
                </a:lnTo>
                <a:cubicBezTo>
                  <a:pt x="68243" y="6756400"/>
                  <a:pt x="0" y="6688157"/>
                  <a:pt x="0" y="6603976"/>
                </a:cubicBezTo>
                <a:lnTo>
                  <a:pt x="0" y="152424"/>
                </a:lnTo>
                <a:cubicBezTo>
                  <a:pt x="0" y="68299"/>
                  <a:pt x="68299" y="0"/>
                  <a:pt x="1524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8500" y="2133600"/>
            <a:ext cx="734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足球关注时长分布</a:t>
            </a:r>
            <a:endParaRPr lang="en-US" sz="1600" dirty="0"/>
          </a:p>
        </p:txBody>
      </p:sp>
      <p:pic>
        <p:nvPicPr>
          <p:cNvPr id="7" name="Image 0" descr="https://kimi-img.moonshot.cn/pub/slides/25-12-19-16:37:47-d52gtmprqpm8ktvkaup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5500" y="2641600"/>
            <a:ext cx="7213600" cy="5334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8534400" y="1879600"/>
            <a:ext cx="7213600" cy="3556000"/>
          </a:xfrm>
          <a:custGeom>
            <a:avLst/>
            <a:gdLst/>
            <a:ahLst/>
            <a:cxnLst/>
            <a:rect l="l" t="t" r="r" b="b"/>
            <a:pathLst>
              <a:path w="7213600" h="3556000">
                <a:moveTo>
                  <a:pt x="152410" y="0"/>
                </a:moveTo>
                <a:lnTo>
                  <a:pt x="7061190" y="0"/>
                </a:lnTo>
                <a:cubicBezTo>
                  <a:pt x="7145364" y="0"/>
                  <a:pt x="7213600" y="68236"/>
                  <a:pt x="7213600" y="152410"/>
                </a:cubicBezTo>
                <a:lnTo>
                  <a:pt x="7213600" y="3403590"/>
                </a:lnTo>
                <a:cubicBezTo>
                  <a:pt x="7213600" y="3487764"/>
                  <a:pt x="7145364" y="3556000"/>
                  <a:pt x="7061190" y="3556000"/>
                </a:cubicBezTo>
                <a:lnTo>
                  <a:pt x="152410" y="3556000"/>
                </a:lnTo>
                <a:cubicBezTo>
                  <a:pt x="68236" y="3556000"/>
                  <a:pt x="0" y="3487764"/>
                  <a:pt x="0" y="34035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24900" y="2133600"/>
            <a:ext cx="683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支持球队类型</a:t>
            </a:r>
            <a:endParaRPr lang="en-US" sz="1600" dirty="0"/>
          </a:p>
        </p:txBody>
      </p:sp>
      <p:pic>
        <p:nvPicPr>
          <p:cNvPr id="10" name="Image 1" descr="https://kimi-img.moonshot.cn/pub/slides/25-12-19-16:37:47-d52gtmr3kdli9jkmoeg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88400" y="2641600"/>
            <a:ext cx="6705600" cy="2540000"/>
          </a:xfrm>
          <a:prstGeom prst="roundRect">
            <a:avLst>
              <a:gd name="adj" fmla="val 0"/>
            </a:avLst>
          </a:prstGeom>
        </p:spPr>
      </p:pic>
      <p:sp>
        <p:nvSpPr>
          <p:cNvPr id="11" name="Shape 7"/>
          <p:cNvSpPr/>
          <p:nvPr/>
        </p:nvSpPr>
        <p:spPr>
          <a:xfrm>
            <a:off x="8534400" y="5638800"/>
            <a:ext cx="7213600" cy="2133600"/>
          </a:xfrm>
          <a:custGeom>
            <a:avLst/>
            <a:gdLst/>
            <a:ahLst/>
            <a:cxnLst/>
            <a:rect l="l" t="t" r="r" b="b"/>
            <a:pathLst>
              <a:path w="7213600" h="2133600">
                <a:moveTo>
                  <a:pt x="152403" y="0"/>
                </a:moveTo>
                <a:lnTo>
                  <a:pt x="7061197" y="0"/>
                </a:lnTo>
                <a:cubicBezTo>
                  <a:pt x="7145367" y="0"/>
                  <a:pt x="7213600" y="68233"/>
                  <a:pt x="7213600" y="152403"/>
                </a:cubicBezTo>
                <a:lnTo>
                  <a:pt x="7213600" y="1981197"/>
                </a:lnTo>
                <a:cubicBezTo>
                  <a:pt x="7213600" y="2065367"/>
                  <a:pt x="7145367" y="2133600"/>
                  <a:pt x="7061197" y="2133600"/>
                </a:cubicBezTo>
                <a:lnTo>
                  <a:pt x="152403" y="2133600"/>
                </a:lnTo>
                <a:cubicBezTo>
                  <a:pt x="68233" y="2133600"/>
                  <a:pt x="0" y="2065367"/>
                  <a:pt x="0" y="19811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56B4D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8"/>
          <p:cNvSpPr/>
          <p:nvPr/>
        </p:nvSpPr>
        <p:spPr>
          <a:xfrm>
            <a:off x="8788400" y="5892800"/>
            <a:ext cx="683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样本</a:t>
            </a:r>
            <a:r>
              <a:rPr lang="zh-CN" alt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特征总结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820150" y="6451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4" name="Text 10"/>
          <p:cNvSpPr/>
          <p:nvPr/>
        </p:nvSpPr>
        <p:spPr>
          <a:xfrm>
            <a:off x="9175749" y="6400800"/>
            <a:ext cx="52527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41.7%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的样本关注足球</a:t>
            </a:r>
            <a:r>
              <a:rPr 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10年以上</a:t>
            </a:r>
            <a:r>
              <a:rPr lang="zh-CN" alt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dirty="0" err="1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资深球迷属性明显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8820150" y="685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6" name="Text 12"/>
          <p:cNvSpPr/>
          <p:nvPr/>
        </p:nvSpPr>
        <p:spPr>
          <a:xfrm>
            <a:off x="9175750" y="6705600"/>
            <a:ext cx="5252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58.3%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同时支持</a:t>
            </a:r>
            <a:r>
              <a:rPr 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国家队+俱乐部</a:t>
            </a:r>
            <a:r>
              <a:rPr lang="zh-CN" alt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dirty="0" err="1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情感投入多元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9175750" y="7213600"/>
            <a:ext cx="401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hzhaige.com/a88c4a547cb004e9e4dce85d3fd25e2b364940e0.jpg"/>
          <p:cNvPicPr>
            <a:picLocks noChangeAspect="1"/>
          </p:cNvPicPr>
          <p:nvPr/>
        </p:nvPicPr>
        <p:blipFill>
          <a:blip r:embed="rId3"/>
          <a:srcRect t="2" b="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56B4D">
                  <a:alpha val="95000"/>
                </a:srgbClr>
              </a:gs>
              <a:gs pos="50000">
                <a:srgbClr val="E56B4D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1949450"/>
            <a:ext cx="1397000" cy="508000"/>
          </a:xfrm>
          <a:custGeom>
            <a:avLst/>
            <a:gdLst/>
            <a:ahLst/>
            <a:cxnLst/>
            <a:rect l="l" t="t" r="r" b="b"/>
            <a:pathLst>
              <a:path w="1397000" h="508000">
                <a:moveTo>
                  <a:pt x="0" y="0"/>
                </a:moveTo>
                <a:lnTo>
                  <a:pt x="1397000" y="0"/>
                </a:lnTo>
                <a:lnTo>
                  <a:pt x="1397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1949450"/>
            <a:ext cx="1498600" cy="50800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762250"/>
            <a:ext cx="899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旅游消费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行为特征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3530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708650"/>
            <a:ext cx="8686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参与度100%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以主队远征为核心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短期旅行为主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TRAVEL BEHAVIOR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参与度与旅游频次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879600"/>
            <a:ext cx="8966200" cy="2540000"/>
          </a:xfrm>
          <a:custGeom>
            <a:avLst/>
            <a:gdLst/>
            <a:ahLst/>
            <a:cxnLst/>
            <a:rect l="l" t="t" r="r" b="b"/>
            <a:pathLst>
              <a:path w="8966200" h="2540000">
                <a:moveTo>
                  <a:pt x="152400" y="0"/>
                </a:moveTo>
                <a:lnTo>
                  <a:pt x="8813800" y="0"/>
                </a:lnTo>
                <a:cubicBezTo>
                  <a:pt x="8897912" y="0"/>
                  <a:pt x="8966200" y="68288"/>
                  <a:pt x="8966200" y="152400"/>
                </a:cubicBezTo>
                <a:lnTo>
                  <a:pt x="8966200" y="2387600"/>
                </a:lnTo>
                <a:cubicBezTo>
                  <a:pt x="8966200" y="2471712"/>
                  <a:pt x="8897912" y="2540000"/>
                  <a:pt x="8813800" y="2540000"/>
                </a:cubicBezTo>
                <a:lnTo>
                  <a:pt x="152400" y="2540000"/>
                </a:lnTo>
                <a:cubicBezTo>
                  <a:pt x="68288" y="2540000"/>
                  <a:pt x="0" y="2471712"/>
                  <a:pt x="0" y="238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56B4D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/>
          <p:cNvSpPr/>
          <p:nvPr/>
        </p:nvSpPr>
        <p:spPr>
          <a:xfrm>
            <a:off x="908050" y="2768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214759" y="0"/>
                </a:moveTo>
                <a:lnTo>
                  <a:pt x="548134" y="0"/>
                </a:lnTo>
                <a:cubicBezTo>
                  <a:pt x="587573" y="0"/>
                  <a:pt x="619720" y="32445"/>
                  <a:pt x="618232" y="71735"/>
                </a:cubicBezTo>
                <a:cubicBezTo>
                  <a:pt x="617934" y="79623"/>
                  <a:pt x="617637" y="87511"/>
                  <a:pt x="617190" y="95250"/>
                </a:cubicBezTo>
                <a:lnTo>
                  <a:pt x="691009" y="95250"/>
                </a:lnTo>
                <a:cubicBezTo>
                  <a:pt x="729853" y="95250"/>
                  <a:pt x="764084" y="127397"/>
                  <a:pt x="761107" y="169366"/>
                </a:cubicBezTo>
                <a:cubicBezTo>
                  <a:pt x="749945" y="323701"/>
                  <a:pt x="671066" y="408533"/>
                  <a:pt x="585490" y="452884"/>
                </a:cubicBezTo>
                <a:cubicBezTo>
                  <a:pt x="561975" y="465088"/>
                  <a:pt x="538014" y="474166"/>
                  <a:pt x="515243" y="480864"/>
                </a:cubicBezTo>
                <a:cubicBezTo>
                  <a:pt x="485180" y="523429"/>
                  <a:pt x="453926" y="545902"/>
                  <a:pt x="429071" y="557957"/>
                </a:cubicBezTo>
                <a:lnTo>
                  <a:pt x="429071" y="666750"/>
                </a:lnTo>
                <a:lnTo>
                  <a:pt x="524321" y="666750"/>
                </a:lnTo>
                <a:cubicBezTo>
                  <a:pt x="550664" y="666750"/>
                  <a:pt x="571946" y="688032"/>
                  <a:pt x="571946" y="714375"/>
                </a:cubicBezTo>
                <a:cubicBezTo>
                  <a:pt x="571946" y="740718"/>
                  <a:pt x="550664" y="762000"/>
                  <a:pt x="524321" y="762000"/>
                </a:cubicBezTo>
                <a:lnTo>
                  <a:pt x="238571" y="762000"/>
                </a:lnTo>
                <a:cubicBezTo>
                  <a:pt x="212229" y="762000"/>
                  <a:pt x="190946" y="740718"/>
                  <a:pt x="190946" y="714375"/>
                </a:cubicBezTo>
                <a:cubicBezTo>
                  <a:pt x="190946" y="688032"/>
                  <a:pt x="212229" y="666750"/>
                  <a:pt x="238571" y="666750"/>
                </a:cubicBezTo>
                <a:lnTo>
                  <a:pt x="333821" y="666750"/>
                </a:lnTo>
                <a:lnTo>
                  <a:pt x="333821" y="557957"/>
                </a:lnTo>
                <a:cubicBezTo>
                  <a:pt x="310009" y="546497"/>
                  <a:pt x="280392" y="525214"/>
                  <a:pt x="251520" y="486073"/>
                </a:cubicBezTo>
                <a:cubicBezTo>
                  <a:pt x="224135" y="478929"/>
                  <a:pt x="194370" y="468064"/>
                  <a:pt x="165348" y="451693"/>
                </a:cubicBezTo>
                <a:cubicBezTo>
                  <a:pt x="84832" y="406598"/>
                  <a:pt x="12204" y="321618"/>
                  <a:pt x="1786" y="169069"/>
                </a:cubicBezTo>
                <a:cubicBezTo>
                  <a:pt x="-1042" y="127248"/>
                  <a:pt x="33040" y="95101"/>
                  <a:pt x="71884" y="95101"/>
                </a:cubicBezTo>
                <a:lnTo>
                  <a:pt x="145703" y="95101"/>
                </a:lnTo>
                <a:cubicBezTo>
                  <a:pt x="145256" y="87362"/>
                  <a:pt x="144959" y="79623"/>
                  <a:pt x="144661" y="71586"/>
                </a:cubicBezTo>
                <a:cubicBezTo>
                  <a:pt x="143173" y="32147"/>
                  <a:pt x="175320" y="-149"/>
                  <a:pt x="214759" y="-149"/>
                </a:cubicBezTo>
                <a:close/>
                <a:moveTo>
                  <a:pt x="151061" y="166688"/>
                </a:moveTo>
                <a:lnTo>
                  <a:pt x="73075" y="166688"/>
                </a:lnTo>
                <a:cubicBezTo>
                  <a:pt x="82302" y="292745"/>
                  <a:pt x="140196" y="355848"/>
                  <a:pt x="199876" y="389334"/>
                </a:cubicBezTo>
                <a:cubicBezTo>
                  <a:pt x="178445" y="333821"/>
                  <a:pt x="160734" y="261342"/>
                  <a:pt x="151061" y="166688"/>
                </a:cubicBezTo>
                <a:close/>
                <a:moveTo>
                  <a:pt x="565547" y="382191"/>
                </a:moveTo>
                <a:cubicBezTo>
                  <a:pt x="625822" y="346770"/>
                  <a:pt x="680293" y="283815"/>
                  <a:pt x="689521" y="166688"/>
                </a:cubicBezTo>
                <a:lnTo>
                  <a:pt x="611684" y="166688"/>
                </a:lnTo>
                <a:cubicBezTo>
                  <a:pt x="602456" y="257324"/>
                  <a:pt x="585788" y="327720"/>
                  <a:pt x="565547" y="382191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Text 5"/>
          <p:cNvSpPr/>
          <p:nvPr/>
        </p:nvSpPr>
        <p:spPr>
          <a:xfrm>
            <a:off x="1968500" y="2184400"/>
            <a:ext cx="2933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参与度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850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8499" y="3759200"/>
            <a:ext cx="42304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 err="1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样本均参与过</a:t>
            </a:r>
            <a:r>
              <a:rPr lang="zh-CN" altLang="en-US" sz="18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有关</a:t>
            </a:r>
            <a:r>
              <a:rPr lang="en-US" sz="1800" dirty="0" err="1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足球旅游</a:t>
            </a:r>
            <a:r>
              <a:rPr lang="zh-CN" altLang="en-US" sz="18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的旅游消费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4622800"/>
            <a:ext cx="8966200" cy="4216400"/>
          </a:xfrm>
          <a:custGeom>
            <a:avLst/>
            <a:gdLst/>
            <a:ahLst/>
            <a:cxnLst/>
            <a:rect l="l" t="t" r="r" b="b"/>
            <a:pathLst>
              <a:path w="8966200" h="4216400">
                <a:moveTo>
                  <a:pt x="152381" y="0"/>
                </a:moveTo>
                <a:lnTo>
                  <a:pt x="8813819" y="0"/>
                </a:lnTo>
                <a:cubicBezTo>
                  <a:pt x="8897977" y="0"/>
                  <a:pt x="8966200" y="68223"/>
                  <a:pt x="8966200" y="152381"/>
                </a:cubicBezTo>
                <a:lnTo>
                  <a:pt x="8966200" y="4064019"/>
                </a:lnTo>
                <a:cubicBezTo>
                  <a:pt x="8966200" y="4148177"/>
                  <a:pt x="8897977" y="4216400"/>
                  <a:pt x="8813819" y="4216400"/>
                </a:cubicBezTo>
                <a:lnTo>
                  <a:pt x="152381" y="4216400"/>
                </a:lnTo>
                <a:cubicBezTo>
                  <a:pt x="68223" y="4216400"/>
                  <a:pt x="0" y="4148177"/>
                  <a:pt x="0" y="4064019"/>
                </a:cubicBezTo>
                <a:lnTo>
                  <a:pt x="0" y="152381"/>
                </a:lnTo>
                <a:cubicBezTo>
                  <a:pt x="0" y="68223"/>
                  <a:pt x="68223" y="0"/>
                  <a:pt x="1523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300" y="4927600"/>
            <a:ext cx="848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旅游频次分布</a:t>
            </a:r>
            <a:endParaRPr lang="en-US" sz="1600" dirty="0"/>
          </a:p>
        </p:txBody>
      </p:sp>
      <p:pic>
        <p:nvPicPr>
          <p:cNvPr id="12" name="Image 0" descr="https://kimi-img.moonshot.cn/pub/slides/25-12-19-16:37:47-d52gtmvqmogm89gvivc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5486400"/>
            <a:ext cx="8356600" cy="3048000"/>
          </a:xfrm>
          <a:prstGeom prst="roundRect">
            <a:avLst>
              <a:gd name="adj" fmla="val 0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9804400" y="1879600"/>
            <a:ext cx="5943600" cy="4927600"/>
          </a:xfrm>
          <a:custGeom>
            <a:avLst/>
            <a:gdLst/>
            <a:ahLst/>
            <a:cxnLst/>
            <a:rect l="l" t="t" r="r" b="b"/>
            <a:pathLst>
              <a:path w="5943600" h="4927600">
                <a:moveTo>
                  <a:pt x="50800" y="0"/>
                </a:moveTo>
                <a:lnTo>
                  <a:pt x="5791189" y="0"/>
                </a:lnTo>
                <a:cubicBezTo>
                  <a:pt x="5875363" y="0"/>
                  <a:pt x="5943600" y="68237"/>
                  <a:pt x="5943600" y="152411"/>
                </a:cubicBezTo>
                <a:lnTo>
                  <a:pt x="5943600" y="4775189"/>
                </a:lnTo>
                <a:cubicBezTo>
                  <a:pt x="5943600" y="4859363"/>
                  <a:pt x="5875363" y="4927600"/>
                  <a:pt x="5791189" y="4927600"/>
                </a:cubicBezTo>
                <a:lnTo>
                  <a:pt x="50800" y="4927600"/>
                </a:lnTo>
                <a:cubicBezTo>
                  <a:pt x="22744" y="4927600"/>
                  <a:pt x="0" y="4904856"/>
                  <a:pt x="0" y="487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804400" y="1879600"/>
            <a:ext cx="50800" cy="4927600"/>
          </a:xfrm>
          <a:custGeom>
            <a:avLst/>
            <a:gdLst/>
            <a:ahLst/>
            <a:cxnLst/>
            <a:rect l="l" t="t" r="r" b="b"/>
            <a:pathLst>
              <a:path w="50800" h="4927600">
                <a:moveTo>
                  <a:pt x="50800" y="0"/>
                </a:moveTo>
                <a:lnTo>
                  <a:pt x="50800" y="0"/>
                </a:lnTo>
                <a:lnTo>
                  <a:pt x="50800" y="4927600"/>
                </a:lnTo>
                <a:lnTo>
                  <a:pt x="50800" y="4927600"/>
                </a:lnTo>
                <a:cubicBezTo>
                  <a:pt x="22763" y="4927600"/>
                  <a:pt x="0" y="4904837"/>
                  <a:pt x="0" y="487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5" name="Text 12"/>
          <p:cNvSpPr/>
          <p:nvPr/>
        </p:nvSpPr>
        <p:spPr>
          <a:xfrm>
            <a:off x="10134600" y="2184400"/>
            <a:ext cx="543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高频出行特征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34600" y="2743200"/>
            <a:ext cx="5308600" cy="1422400"/>
          </a:xfrm>
          <a:custGeom>
            <a:avLst/>
            <a:gdLst/>
            <a:ahLst/>
            <a:cxnLst/>
            <a:rect l="l" t="t" r="r" b="b"/>
            <a:pathLst>
              <a:path w="5308600" h="1422400">
                <a:moveTo>
                  <a:pt x="101602" y="0"/>
                </a:moveTo>
                <a:lnTo>
                  <a:pt x="5206998" y="0"/>
                </a:lnTo>
                <a:cubicBezTo>
                  <a:pt x="5263111" y="0"/>
                  <a:pt x="5308600" y="45489"/>
                  <a:pt x="5308600" y="101602"/>
                </a:cubicBezTo>
                <a:lnTo>
                  <a:pt x="5308600" y="1320798"/>
                </a:lnTo>
                <a:cubicBezTo>
                  <a:pt x="5308600" y="1376911"/>
                  <a:pt x="5263111" y="1422400"/>
                  <a:pt x="52069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337800" y="294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8" name="Text 15"/>
          <p:cNvSpPr/>
          <p:nvPr/>
        </p:nvSpPr>
        <p:spPr>
          <a:xfrm>
            <a:off x="10274300" y="29464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58%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099800" y="3073400"/>
            <a:ext cx="116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4次及以上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337800" y="3657600"/>
            <a:ext cx="500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超半数样本为</a:t>
            </a:r>
            <a:r>
              <a:rPr lang="en-US" sz="1600" b="1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高频参与者</a:t>
            </a: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,出行意愿强烈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134600" y="4318000"/>
            <a:ext cx="5308600" cy="1422400"/>
          </a:xfrm>
          <a:custGeom>
            <a:avLst/>
            <a:gdLst/>
            <a:ahLst/>
            <a:cxnLst/>
            <a:rect l="l" t="t" r="r" b="b"/>
            <a:pathLst>
              <a:path w="5308600" h="1422400">
                <a:moveTo>
                  <a:pt x="101602" y="0"/>
                </a:moveTo>
                <a:lnTo>
                  <a:pt x="5206998" y="0"/>
                </a:lnTo>
                <a:cubicBezTo>
                  <a:pt x="5263111" y="0"/>
                  <a:pt x="5308600" y="45489"/>
                  <a:pt x="5308600" y="101602"/>
                </a:cubicBezTo>
                <a:lnTo>
                  <a:pt x="5308600" y="1320798"/>
                </a:lnTo>
                <a:cubicBezTo>
                  <a:pt x="5308600" y="1376911"/>
                  <a:pt x="5263111" y="1422400"/>
                  <a:pt x="52069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0337800" y="452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3" name="Text 20"/>
          <p:cNvSpPr/>
          <p:nvPr/>
        </p:nvSpPr>
        <p:spPr>
          <a:xfrm>
            <a:off x="10274300" y="45212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42%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099800" y="4648200"/>
            <a:ext cx="67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1-3次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337800" y="5232400"/>
            <a:ext cx="500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部分样本处于</a:t>
            </a:r>
            <a:r>
              <a:rPr lang="en-US" sz="1600" b="1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初步尝试阶段</a:t>
            </a: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,增长潜力大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779000" y="7010400"/>
            <a:ext cx="5969000" cy="1828800"/>
          </a:xfrm>
          <a:custGeom>
            <a:avLst/>
            <a:gdLst/>
            <a:ahLst/>
            <a:cxnLst/>
            <a:rect l="l" t="t" r="r" b="b"/>
            <a:pathLst>
              <a:path w="5969000" h="1828800">
                <a:moveTo>
                  <a:pt x="152394" y="0"/>
                </a:moveTo>
                <a:lnTo>
                  <a:pt x="5816606" y="0"/>
                </a:lnTo>
                <a:cubicBezTo>
                  <a:pt x="5900771" y="0"/>
                  <a:pt x="5969000" y="68229"/>
                  <a:pt x="5969000" y="152394"/>
                </a:cubicBezTo>
                <a:lnTo>
                  <a:pt x="5969000" y="1676406"/>
                </a:lnTo>
                <a:cubicBezTo>
                  <a:pt x="5969000" y="1760571"/>
                  <a:pt x="5900771" y="1828800"/>
                  <a:pt x="5816606" y="1828800"/>
                </a:cubicBezTo>
                <a:lnTo>
                  <a:pt x="152394" y="1828800"/>
                </a:lnTo>
                <a:cubicBezTo>
                  <a:pt x="68229" y="1828800"/>
                  <a:pt x="0" y="1760571"/>
                  <a:pt x="0" y="1676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7" name="Text 24"/>
          <p:cNvSpPr/>
          <p:nvPr/>
        </p:nvSpPr>
        <p:spPr>
          <a:xfrm>
            <a:off x="10083800" y="7315200"/>
            <a:ext cx="548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096500" y="78740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9" name="Text 26"/>
          <p:cNvSpPr/>
          <p:nvPr/>
        </p:nvSpPr>
        <p:spPr>
          <a:xfrm>
            <a:off x="10439400" y="7823200"/>
            <a:ext cx="45828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已工作女性球迷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参与意愿极高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,市场基础良好</a:t>
            </a: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10096500" y="82804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31" name="Text 28"/>
          <p:cNvSpPr/>
          <p:nvPr/>
        </p:nvSpPr>
        <p:spPr>
          <a:xfrm>
            <a:off x="10439399" y="8229600"/>
            <a:ext cx="406037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高频出行群体占比过半,产品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复购潜力大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DESTINATION &amp; ACTIVITIES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目的地与活动偏好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879600"/>
            <a:ext cx="6858000" cy="7112000"/>
          </a:xfrm>
          <a:custGeom>
            <a:avLst/>
            <a:gdLst/>
            <a:ahLst/>
            <a:cxnLst/>
            <a:rect l="l" t="t" r="r" b="b"/>
            <a:pathLst>
              <a:path w="6858000" h="7112000">
                <a:moveTo>
                  <a:pt x="152385" y="0"/>
                </a:moveTo>
                <a:lnTo>
                  <a:pt x="6705615" y="0"/>
                </a:lnTo>
                <a:cubicBezTo>
                  <a:pt x="6789775" y="0"/>
                  <a:pt x="6858000" y="68225"/>
                  <a:pt x="6858000" y="152385"/>
                </a:cubicBezTo>
                <a:lnTo>
                  <a:pt x="6858000" y="6959615"/>
                </a:lnTo>
                <a:cubicBezTo>
                  <a:pt x="6858000" y="7043775"/>
                  <a:pt x="6789775" y="7112000"/>
                  <a:pt x="6705615" y="7112000"/>
                </a:cubicBezTo>
                <a:lnTo>
                  <a:pt x="152385" y="7112000"/>
                </a:lnTo>
                <a:cubicBezTo>
                  <a:pt x="68225" y="7112000"/>
                  <a:pt x="0" y="7043775"/>
                  <a:pt x="0" y="69596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8500" y="2133600"/>
            <a:ext cx="647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热门活动偏好</a:t>
            </a:r>
            <a:endParaRPr lang="en-US" sz="1600" dirty="0"/>
          </a:p>
        </p:txBody>
      </p:sp>
      <p:pic>
        <p:nvPicPr>
          <p:cNvPr id="7" name="Image 0" descr="https://kimi-img.moonshot.cn/pub/slides/25-12-19-16:37:48-d52gtn5s8fbb44v1opr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641600"/>
            <a:ext cx="6350000" cy="5334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670800" y="1879600"/>
            <a:ext cx="8077200" cy="2844800"/>
          </a:xfrm>
          <a:custGeom>
            <a:avLst/>
            <a:gdLst/>
            <a:ahLst/>
            <a:cxnLst/>
            <a:rect l="l" t="t" r="r" b="b"/>
            <a:pathLst>
              <a:path w="8077200" h="2844800">
                <a:moveTo>
                  <a:pt x="152396" y="0"/>
                </a:moveTo>
                <a:lnTo>
                  <a:pt x="7924804" y="0"/>
                </a:lnTo>
                <a:cubicBezTo>
                  <a:pt x="8008970" y="0"/>
                  <a:pt x="8077200" y="68230"/>
                  <a:pt x="8077200" y="152396"/>
                </a:cubicBezTo>
                <a:lnTo>
                  <a:pt x="8077200" y="2692404"/>
                </a:lnTo>
                <a:cubicBezTo>
                  <a:pt x="8077200" y="2776570"/>
                  <a:pt x="8008970" y="2844800"/>
                  <a:pt x="7924804" y="2844800"/>
                </a:cubicBezTo>
                <a:lnTo>
                  <a:pt x="152396" y="2844800"/>
                </a:lnTo>
                <a:cubicBezTo>
                  <a:pt x="68230" y="2844800"/>
                  <a:pt x="0" y="2776570"/>
                  <a:pt x="0" y="269240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0" y="2159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112276"/>
                </a:moveTo>
                <a:cubicBezTo>
                  <a:pt x="0" y="50244"/>
                  <a:pt x="51197" y="0"/>
                  <a:pt x="114300" y="0"/>
                </a:cubicBezTo>
                <a:cubicBezTo>
                  <a:pt x="177403" y="0"/>
                  <a:pt x="228600" y="50244"/>
                  <a:pt x="228600" y="112276"/>
                </a:cubicBezTo>
                <a:cubicBezTo>
                  <a:pt x="228600" y="183297"/>
                  <a:pt x="157043" y="268426"/>
                  <a:pt x="127159" y="300871"/>
                </a:cubicBezTo>
                <a:cubicBezTo>
                  <a:pt x="120134" y="308491"/>
                  <a:pt x="108406" y="308491"/>
                  <a:pt x="101382" y="300871"/>
                </a:cubicBezTo>
                <a:cubicBezTo>
                  <a:pt x="71497" y="268426"/>
                  <a:pt x="-60" y="183297"/>
                  <a:pt x="-60" y="112276"/>
                </a:cubicBezTo>
                <a:close/>
                <a:moveTo>
                  <a:pt x="114300" y="152400"/>
                </a:moveTo>
                <a:cubicBezTo>
                  <a:pt x="135328" y="152400"/>
                  <a:pt x="152400" y="135328"/>
                  <a:pt x="152400" y="114300"/>
                </a:cubicBezTo>
                <a:cubicBezTo>
                  <a:pt x="152400" y="93272"/>
                  <a:pt x="135328" y="76200"/>
                  <a:pt x="114300" y="76200"/>
                </a:cubicBezTo>
                <a:cubicBezTo>
                  <a:pt x="93272" y="76200"/>
                  <a:pt x="76200" y="93272"/>
                  <a:pt x="76200" y="114300"/>
                </a:cubicBezTo>
                <a:cubicBezTo>
                  <a:pt x="76200" y="135328"/>
                  <a:pt x="93272" y="152400"/>
                  <a:pt x="114300" y="15240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0" name="Text 7"/>
          <p:cNvSpPr/>
          <p:nvPr/>
        </p:nvSpPr>
        <p:spPr>
          <a:xfrm>
            <a:off x="8458200" y="21336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核心目的地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924800" y="2641600"/>
            <a:ext cx="7569200" cy="1371600"/>
          </a:xfrm>
          <a:custGeom>
            <a:avLst/>
            <a:gdLst/>
            <a:ahLst/>
            <a:cxnLst/>
            <a:rect l="l" t="t" r="r" b="b"/>
            <a:pathLst>
              <a:path w="7569200" h="1371600">
                <a:moveTo>
                  <a:pt x="101594" y="0"/>
                </a:moveTo>
                <a:lnTo>
                  <a:pt x="7467606" y="0"/>
                </a:lnTo>
                <a:cubicBezTo>
                  <a:pt x="7523715" y="0"/>
                  <a:pt x="7569200" y="45485"/>
                  <a:pt x="7569200" y="101594"/>
                </a:cubicBezTo>
                <a:lnTo>
                  <a:pt x="7569200" y="1270006"/>
                </a:lnTo>
                <a:cubicBezTo>
                  <a:pt x="7569200" y="1326115"/>
                  <a:pt x="7523715" y="1371600"/>
                  <a:pt x="74676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128000" y="2844800"/>
            <a:ext cx="746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28000" y="350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跟随</a:t>
            </a:r>
            <a:r>
              <a:rPr lang="en-US" sz="1600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主队远征城市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4800" y="4165600"/>
            <a:ext cx="767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全部样本选择跟随主队远征,部分叠加国内重要赛事城市、足球文化特色城市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96200" y="4927600"/>
            <a:ext cx="8051800" cy="4064000"/>
          </a:xfrm>
          <a:custGeom>
            <a:avLst/>
            <a:gdLst/>
            <a:ahLst/>
            <a:cxnLst/>
            <a:rect l="l" t="t" r="r" b="b"/>
            <a:pathLst>
              <a:path w="8051800" h="4064000">
                <a:moveTo>
                  <a:pt x="50800" y="0"/>
                </a:moveTo>
                <a:lnTo>
                  <a:pt x="7899400" y="0"/>
                </a:lnTo>
                <a:cubicBezTo>
                  <a:pt x="7983512" y="0"/>
                  <a:pt x="8051800" y="68288"/>
                  <a:pt x="8051800" y="152400"/>
                </a:cubicBezTo>
                <a:lnTo>
                  <a:pt x="8051800" y="3911600"/>
                </a:lnTo>
                <a:cubicBezTo>
                  <a:pt x="8051800" y="3995712"/>
                  <a:pt x="7983512" y="4064000"/>
                  <a:pt x="7899400" y="4064000"/>
                </a:cubicBezTo>
                <a:lnTo>
                  <a:pt x="50800" y="4064000"/>
                </a:lnTo>
                <a:cubicBezTo>
                  <a:pt x="22763" y="4064000"/>
                  <a:pt x="0" y="4041237"/>
                  <a:pt x="0" y="401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96200" y="4927600"/>
            <a:ext cx="50800" cy="4064000"/>
          </a:xfrm>
          <a:custGeom>
            <a:avLst/>
            <a:gdLst/>
            <a:ahLst/>
            <a:cxnLst/>
            <a:rect l="l" t="t" r="r" b="b"/>
            <a:pathLst>
              <a:path w="50800" h="4064000">
                <a:moveTo>
                  <a:pt x="50800" y="0"/>
                </a:moveTo>
                <a:lnTo>
                  <a:pt x="50800" y="0"/>
                </a:lnTo>
                <a:lnTo>
                  <a:pt x="50800" y="4064000"/>
                </a:lnTo>
                <a:lnTo>
                  <a:pt x="50800" y="4064000"/>
                </a:lnTo>
                <a:cubicBezTo>
                  <a:pt x="22763" y="4064000"/>
                  <a:pt x="0" y="4041237"/>
                  <a:pt x="0" y="401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7" name="Text 14"/>
          <p:cNvSpPr/>
          <p:nvPr/>
        </p:nvSpPr>
        <p:spPr>
          <a:xfrm>
            <a:off x="7975600" y="5181600"/>
            <a:ext cx="764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消费</a:t>
            </a:r>
            <a:r>
              <a:rPr lang="en-US" sz="2000" b="1" dirty="0" err="1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分析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75600" y="5689600"/>
            <a:ext cx="7518400" cy="914400"/>
          </a:xfrm>
          <a:custGeom>
            <a:avLst/>
            <a:gdLst/>
            <a:ahLst/>
            <a:cxnLst/>
            <a:rect l="l" t="t" r="r" b="b"/>
            <a:pathLst>
              <a:path w="7518400" h="914400">
                <a:moveTo>
                  <a:pt x="101599" y="0"/>
                </a:moveTo>
                <a:lnTo>
                  <a:pt x="7416801" y="0"/>
                </a:lnTo>
                <a:cubicBezTo>
                  <a:pt x="7472913" y="0"/>
                  <a:pt x="7518400" y="45487"/>
                  <a:pt x="7518400" y="101599"/>
                </a:cubicBezTo>
                <a:lnTo>
                  <a:pt x="7518400" y="812801"/>
                </a:lnTo>
                <a:cubicBezTo>
                  <a:pt x="7518400" y="868913"/>
                  <a:pt x="7472913" y="914400"/>
                  <a:pt x="7416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128000" y="594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0" name="Text 17"/>
          <p:cNvSpPr/>
          <p:nvPr/>
        </p:nvSpPr>
        <p:spPr>
          <a:xfrm>
            <a:off x="8077200" y="5943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86800" y="5842000"/>
            <a:ext cx="302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体验式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686800" y="6146800"/>
            <a:ext cx="670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体验式消费</a:t>
            </a:r>
            <a:r>
              <a:rPr lang="zh-CN" altLang="en-US" b="1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占主导，比较注重亲身体验，原以为沉浸式的体验买单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7975600" y="6756400"/>
            <a:ext cx="7518400" cy="914400"/>
          </a:xfrm>
          <a:custGeom>
            <a:avLst/>
            <a:gdLst/>
            <a:ahLst/>
            <a:cxnLst/>
            <a:rect l="l" t="t" r="r" b="b"/>
            <a:pathLst>
              <a:path w="7518400" h="914400">
                <a:moveTo>
                  <a:pt x="101599" y="0"/>
                </a:moveTo>
                <a:lnTo>
                  <a:pt x="7416801" y="0"/>
                </a:lnTo>
                <a:cubicBezTo>
                  <a:pt x="7472913" y="0"/>
                  <a:pt x="7518400" y="45487"/>
                  <a:pt x="7518400" y="101599"/>
                </a:cubicBezTo>
                <a:lnTo>
                  <a:pt x="7518400" y="812801"/>
                </a:lnTo>
                <a:cubicBezTo>
                  <a:pt x="7518400" y="868913"/>
                  <a:pt x="7472913" y="914400"/>
                  <a:pt x="7416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128000" y="7010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5" name="Text 22"/>
          <p:cNvSpPr/>
          <p:nvPr/>
        </p:nvSpPr>
        <p:spPr>
          <a:xfrm>
            <a:off x="8077200" y="7010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686800" y="6908800"/>
            <a:ext cx="403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对品牌和文化认同消费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686800" y="7264400"/>
            <a:ext cx="54923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消费者对足球品牌文化的认同，消费具有一定</a:t>
            </a:r>
            <a:r>
              <a:rPr lang="zh-CN" altLang="en-US" b="1" dirty="0">
                <a:solidFill>
                  <a:srgbClr val="FF000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忠诚度</a:t>
            </a:r>
            <a:endParaRPr lang="en-US" dirty="0">
              <a:solidFill>
                <a:srgbClr val="FF0000">
                  <a:alpha val="70000"/>
                </a:srgbClr>
              </a:solidFill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975600" y="7823200"/>
            <a:ext cx="7518400" cy="914400"/>
          </a:xfrm>
          <a:custGeom>
            <a:avLst/>
            <a:gdLst/>
            <a:ahLst/>
            <a:cxnLst/>
            <a:rect l="l" t="t" r="r" b="b"/>
            <a:pathLst>
              <a:path w="7518400" h="914400">
                <a:moveTo>
                  <a:pt x="101599" y="0"/>
                </a:moveTo>
                <a:lnTo>
                  <a:pt x="7416801" y="0"/>
                </a:lnTo>
                <a:cubicBezTo>
                  <a:pt x="7472913" y="0"/>
                  <a:pt x="7518400" y="45487"/>
                  <a:pt x="7518400" y="101599"/>
                </a:cubicBezTo>
                <a:lnTo>
                  <a:pt x="7518400" y="812801"/>
                </a:lnTo>
                <a:cubicBezTo>
                  <a:pt x="7518400" y="868913"/>
                  <a:pt x="7472913" y="914400"/>
                  <a:pt x="7416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D2C7B8">
              <a:alpha val="3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128000" y="807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D2C7B8"/>
          </a:solidFill>
          <a:ln/>
        </p:spPr>
      </p:sp>
      <p:sp>
        <p:nvSpPr>
          <p:cNvPr id="30" name="Text 27"/>
          <p:cNvSpPr/>
          <p:nvPr/>
        </p:nvSpPr>
        <p:spPr>
          <a:xfrm>
            <a:off x="8077200" y="8077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686800" y="7975600"/>
            <a:ext cx="379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附加消费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8686799" y="8280400"/>
            <a:ext cx="57773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周边购买、文化体验</a:t>
            </a:r>
            <a:r>
              <a:rPr lang="zh-CN" altLang="en-US" b="1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这些附加消费反应</a:t>
            </a:r>
            <a:r>
              <a:rPr lang="zh-CN" altLang="en-US" b="1" dirty="0">
                <a:solidFill>
                  <a:srgbClr val="FF000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消费场景的多元化</a:t>
            </a:r>
            <a:endParaRPr lang="en-US" dirty="0">
              <a:solidFill>
                <a:srgbClr val="FF0000">
                  <a:alpha val="70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303" y="481303"/>
            <a:ext cx="15389655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6" b="1" kern="0" spc="76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TRAVEL PATTERNS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1303" y="866345"/>
            <a:ext cx="15509981" cy="481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11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出行方式与停留时长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1303" y="1492038"/>
            <a:ext cx="962605" cy="48130"/>
          </a:xfrm>
          <a:custGeom>
            <a:avLst/>
            <a:gdLst/>
            <a:ahLst/>
            <a:cxnLst/>
            <a:rect l="l" t="t" r="r" b="b"/>
            <a:pathLst>
              <a:path w="962605" h="48130">
                <a:moveTo>
                  <a:pt x="0" y="0"/>
                </a:moveTo>
                <a:lnTo>
                  <a:pt x="962605" y="0"/>
                </a:lnTo>
                <a:lnTo>
                  <a:pt x="962605" y="48130"/>
                </a:lnTo>
                <a:lnTo>
                  <a:pt x="0" y="4813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481303" y="1780820"/>
            <a:ext cx="7508323" cy="6040349"/>
          </a:xfrm>
          <a:custGeom>
            <a:avLst/>
            <a:gdLst/>
            <a:ahLst/>
            <a:cxnLst/>
            <a:rect l="l" t="t" r="r" b="b"/>
            <a:pathLst>
              <a:path w="7508323" h="6040349">
                <a:moveTo>
                  <a:pt x="144364" y="0"/>
                </a:moveTo>
                <a:lnTo>
                  <a:pt x="7363958" y="0"/>
                </a:lnTo>
                <a:cubicBezTo>
                  <a:pt x="7443635" y="0"/>
                  <a:pt x="7508323" y="64687"/>
                  <a:pt x="7508323" y="144364"/>
                </a:cubicBezTo>
                <a:lnTo>
                  <a:pt x="7508323" y="5895985"/>
                </a:lnTo>
                <a:cubicBezTo>
                  <a:pt x="7508323" y="5975662"/>
                  <a:pt x="7443635" y="6040349"/>
                  <a:pt x="7363958" y="6040349"/>
                </a:cubicBezTo>
                <a:lnTo>
                  <a:pt x="144364" y="6040349"/>
                </a:lnTo>
                <a:cubicBezTo>
                  <a:pt x="64687" y="6040349"/>
                  <a:pt x="0" y="5975662"/>
                  <a:pt x="0" y="5895985"/>
                </a:cubicBezTo>
                <a:lnTo>
                  <a:pt x="0" y="144364"/>
                </a:lnTo>
                <a:cubicBezTo>
                  <a:pt x="0" y="64687"/>
                  <a:pt x="64687" y="0"/>
                  <a:pt x="1443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2195" dist="481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1791" y="2021472"/>
            <a:ext cx="7147346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9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出行方式偏好</a:t>
            </a:r>
            <a:endParaRPr lang="en-US" sz="1600" dirty="0"/>
          </a:p>
        </p:txBody>
      </p:sp>
      <p:pic>
        <p:nvPicPr>
          <p:cNvPr id="7" name="Image 0" descr="https://kimi-img.moonshot.cn/pub/slides/25-12-19-16:37:48-d52gtn136ak2rcam95i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1954" y="2502774"/>
            <a:ext cx="6593848" cy="5053679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8273018" y="1780820"/>
            <a:ext cx="7508323" cy="6040349"/>
          </a:xfrm>
          <a:custGeom>
            <a:avLst/>
            <a:gdLst/>
            <a:ahLst/>
            <a:cxnLst/>
            <a:rect l="l" t="t" r="r" b="b"/>
            <a:pathLst>
              <a:path w="7508323" h="6040349">
                <a:moveTo>
                  <a:pt x="144364" y="0"/>
                </a:moveTo>
                <a:lnTo>
                  <a:pt x="7363958" y="0"/>
                </a:lnTo>
                <a:cubicBezTo>
                  <a:pt x="7443635" y="0"/>
                  <a:pt x="7508323" y="64687"/>
                  <a:pt x="7508323" y="144364"/>
                </a:cubicBezTo>
                <a:lnTo>
                  <a:pt x="7508323" y="5895985"/>
                </a:lnTo>
                <a:cubicBezTo>
                  <a:pt x="7508323" y="5975662"/>
                  <a:pt x="7443635" y="6040349"/>
                  <a:pt x="7363958" y="6040349"/>
                </a:cubicBezTo>
                <a:lnTo>
                  <a:pt x="144364" y="6040349"/>
                </a:lnTo>
                <a:cubicBezTo>
                  <a:pt x="64687" y="6040349"/>
                  <a:pt x="0" y="5975662"/>
                  <a:pt x="0" y="5895985"/>
                </a:cubicBezTo>
                <a:lnTo>
                  <a:pt x="0" y="144364"/>
                </a:lnTo>
                <a:cubicBezTo>
                  <a:pt x="0" y="64687"/>
                  <a:pt x="64687" y="0"/>
                  <a:pt x="1443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2195" dist="481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53507" y="2021472"/>
            <a:ext cx="7147346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9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停留时长分布</a:t>
            </a:r>
            <a:endParaRPr lang="en-US" sz="1600" dirty="0"/>
          </a:p>
        </p:txBody>
      </p:sp>
      <p:pic>
        <p:nvPicPr>
          <p:cNvPr id="10" name="Image 1" descr="https://kimi-img.moonshot.cn/pub/slides/25-12-19-16:37:48-d52gtn5pa8fkon2n35d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13669" y="2502774"/>
            <a:ext cx="6593848" cy="5053679"/>
          </a:xfrm>
          <a:prstGeom prst="roundRect">
            <a:avLst>
              <a:gd name="adj" fmla="val 0"/>
            </a:avLst>
          </a:prstGeom>
        </p:spPr>
      </p:pic>
      <p:sp>
        <p:nvSpPr>
          <p:cNvPr id="11" name="Shape 7"/>
          <p:cNvSpPr/>
          <p:nvPr/>
        </p:nvSpPr>
        <p:spPr>
          <a:xfrm>
            <a:off x="481303" y="8064453"/>
            <a:ext cx="4969451" cy="1106996"/>
          </a:xfrm>
          <a:custGeom>
            <a:avLst/>
            <a:gdLst/>
            <a:ahLst/>
            <a:cxnLst/>
            <a:rect l="l" t="t" r="r" b="b"/>
            <a:pathLst>
              <a:path w="4969451" h="1106996">
                <a:moveTo>
                  <a:pt x="144386" y="0"/>
                </a:moveTo>
                <a:lnTo>
                  <a:pt x="4825065" y="0"/>
                </a:lnTo>
                <a:cubicBezTo>
                  <a:pt x="4904754" y="0"/>
                  <a:pt x="4969451" y="64697"/>
                  <a:pt x="4969451" y="144386"/>
                </a:cubicBezTo>
                <a:lnTo>
                  <a:pt x="4969451" y="962611"/>
                </a:lnTo>
                <a:cubicBezTo>
                  <a:pt x="4969451" y="1042353"/>
                  <a:pt x="4904807" y="1106996"/>
                  <a:pt x="4825065" y="1106996"/>
                </a:cubicBezTo>
                <a:lnTo>
                  <a:pt x="144386" y="1106996"/>
                </a:lnTo>
                <a:cubicBezTo>
                  <a:pt x="64697" y="1106996"/>
                  <a:pt x="0" y="1042299"/>
                  <a:pt x="0" y="962611"/>
                </a:cubicBezTo>
                <a:lnTo>
                  <a:pt x="0" y="144386"/>
                </a:lnTo>
                <a:cubicBezTo>
                  <a:pt x="0" y="64644"/>
                  <a:pt x="64644" y="0"/>
                  <a:pt x="144386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2" name="Text 8"/>
          <p:cNvSpPr/>
          <p:nvPr/>
        </p:nvSpPr>
        <p:spPr>
          <a:xfrm>
            <a:off x="673824" y="8256974"/>
            <a:ext cx="4692702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结伴出行主流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73824" y="8690147"/>
            <a:ext cx="4680669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50%与朋友/同事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33%与家人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社交属性强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10138066" y="8064453"/>
            <a:ext cx="4969451" cy="1106996"/>
          </a:xfrm>
          <a:custGeom>
            <a:avLst/>
            <a:gdLst/>
            <a:ahLst/>
            <a:cxnLst/>
            <a:rect l="l" t="t" r="r" b="b"/>
            <a:pathLst>
              <a:path w="4969451" h="1106996">
                <a:moveTo>
                  <a:pt x="144386" y="0"/>
                </a:moveTo>
                <a:lnTo>
                  <a:pt x="4825065" y="0"/>
                </a:lnTo>
                <a:cubicBezTo>
                  <a:pt x="4904754" y="0"/>
                  <a:pt x="4969451" y="64697"/>
                  <a:pt x="4969451" y="144386"/>
                </a:cubicBezTo>
                <a:lnTo>
                  <a:pt x="4969451" y="962611"/>
                </a:lnTo>
                <a:cubicBezTo>
                  <a:pt x="4969451" y="1042353"/>
                  <a:pt x="4904807" y="1106996"/>
                  <a:pt x="4825065" y="1106996"/>
                </a:cubicBezTo>
                <a:lnTo>
                  <a:pt x="144386" y="1106996"/>
                </a:lnTo>
                <a:cubicBezTo>
                  <a:pt x="64697" y="1106996"/>
                  <a:pt x="0" y="1042299"/>
                  <a:pt x="0" y="962611"/>
                </a:cubicBezTo>
                <a:lnTo>
                  <a:pt x="0" y="144386"/>
                </a:lnTo>
                <a:cubicBezTo>
                  <a:pt x="0" y="64644"/>
                  <a:pt x="64644" y="0"/>
                  <a:pt x="144386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5" name="Text 11"/>
          <p:cNvSpPr/>
          <p:nvPr/>
        </p:nvSpPr>
        <p:spPr>
          <a:xfrm>
            <a:off x="10276440" y="8254341"/>
            <a:ext cx="4692702" cy="33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短期旅行为主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0276440" y="8690147"/>
            <a:ext cx="4680669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58%停留1-2天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42%停留3-4天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BUDGET ALLOCATION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消费预算分配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879600"/>
            <a:ext cx="9169400" cy="6756400"/>
          </a:xfrm>
          <a:custGeom>
            <a:avLst/>
            <a:gdLst/>
            <a:ahLst/>
            <a:cxnLst/>
            <a:rect l="l" t="t" r="r" b="b"/>
            <a:pathLst>
              <a:path w="9169400" h="6756400">
                <a:moveTo>
                  <a:pt x="152424" y="0"/>
                </a:moveTo>
                <a:lnTo>
                  <a:pt x="9016976" y="0"/>
                </a:lnTo>
                <a:cubicBezTo>
                  <a:pt x="9101157" y="0"/>
                  <a:pt x="9169400" y="68243"/>
                  <a:pt x="9169400" y="152424"/>
                </a:cubicBezTo>
                <a:lnTo>
                  <a:pt x="9169400" y="6603976"/>
                </a:lnTo>
                <a:cubicBezTo>
                  <a:pt x="9169400" y="6688157"/>
                  <a:pt x="9101157" y="6756400"/>
                  <a:pt x="9016976" y="6756400"/>
                </a:cubicBezTo>
                <a:lnTo>
                  <a:pt x="152424" y="6756400"/>
                </a:lnTo>
                <a:cubicBezTo>
                  <a:pt x="68243" y="6756400"/>
                  <a:pt x="0" y="6688157"/>
                  <a:pt x="0" y="6603976"/>
                </a:cubicBezTo>
                <a:lnTo>
                  <a:pt x="0" y="152424"/>
                </a:lnTo>
                <a:cubicBezTo>
                  <a:pt x="0" y="68299"/>
                  <a:pt x="68299" y="0"/>
                  <a:pt x="1524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8500" y="2133600"/>
            <a:ext cx="878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消费预算分配结构</a:t>
            </a:r>
            <a:endParaRPr lang="en-US" sz="1600" dirty="0"/>
          </a:p>
        </p:txBody>
      </p:sp>
      <p:pic>
        <p:nvPicPr>
          <p:cNvPr id="7" name="Image 0" descr="https://kimi-img.moonshot.cn/pub/slides/25-12-19-16:37:48-d52gtn1rqpm8ktvkaur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2641600"/>
            <a:ext cx="8661400" cy="5588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9982200" y="1879600"/>
            <a:ext cx="5765800" cy="4216400"/>
          </a:xfrm>
          <a:custGeom>
            <a:avLst/>
            <a:gdLst/>
            <a:ahLst/>
            <a:cxnLst/>
            <a:rect l="l" t="t" r="r" b="b"/>
            <a:pathLst>
              <a:path w="5765800" h="4216400">
                <a:moveTo>
                  <a:pt x="152381" y="0"/>
                </a:moveTo>
                <a:lnTo>
                  <a:pt x="5613419" y="0"/>
                </a:lnTo>
                <a:cubicBezTo>
                  <a:pt x="5697577" y="0"/>
                  <a:pt x="5765800" y="68223"/>
                  <a:pt x="5765800" y="152381"/>
                </a:cubicBezTo>
                <a:lnTo>
                  <a:pt x="5765800" y="4064019"/>
                </a:lnTo>
                <a:cubicBezTo>
                  <a:pt x="5765800" y="4148177"/>
                  <a:pt x="5697577" y="4216400"/>
                  <a:pt x="5613419" y="4216400"/>
                </a:cubicBezTo>
                <a:lnTo>
                  <a:pt x="152381" y="4216400"/>
                </a:lnTo>
                <a:cubicBezTo>
                  <a:pt x="68223" y="4216400"/>
                  <a:pt x="0" y="4148177"/>
                  <a:pt x="0" y="4064019"/>
                </a:cubicBezTo>
                <a:lnTo>
                  <a:pt x="0" y="152381"/>
                </a:lnTo>
                <a:cubicBezTo>
                  <a:pt x="0" y="68223"/>
                  <a:pt x="68223" y="0"/>
                  <a:pt x="152381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9" name="Text 6"/>
          <p:cNvSpPr/>
          <p:nvPr/>
        </p:nvSpPr>
        <p:spPr>
          <a:xfrm>
            <a:off x="10236200" y="2133600"/>
            <a:ext cx="538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消费结构洞察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236200" y="2641600"/>
            <a:ext cx="5257800" cy="965200"/>
          </a:xfrm>
          <a:custGeom>
            <a:avLst/>
            <a:gdLst/>
            <a:ahLst/>
            <a:cxnLst/>
            <a:rect l="l" t="t" r="r" b="b"/>
            <a:pathLst>
              <a:path w="5257800" h="965200">
                <a:moveTo>
                  <a:pt x="101597" y="0"/>
                </a:moveTo>
                <a:lnTo>
                  <a:pt x="5156203" y="0"/>
                </a:lnTo>
                <a:cubicBezTo>
                  <a:pt x="5212313" y="0"/>
                  <a:pt x="5257800" y="45487"/>
                  <a:pt x="5257800" y="101597"/>
                </a:cubicBezTo>
                <a:lnTo>
                  <a:pt x="5257800" y="863603"/>
                </a:lnTo>
                <a:cubicBezTo>
                  <a:pt x="5257800" y="919713"/>
                  <a:pt x="5212313" y="965200"/>
                  <a:pt x="5156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388600" y="27940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交通+住宿占比最高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388600" y="31496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注重旅行的便利性和舒适性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0236200" y="3759200"/>
            <a:ext cx="5257800" cy="965200"/>
          </a:xfrm>
          <a:custGeom>
            <a:avLst/>
            <a:gdLst/>
            <a:ahLst/>
            <a:cxnLst/>
            <a:rect l="l" t="t" r="r" b="b"/>
            <a:pathLst>
              <a:path w="5257800" h="965200">
                <a:moveTo>
                  <a:pt x="101597" y="0"/>
                </a:moveTo>
                <a:lnTo>
                  <a:pt x="5156203" y="0"/>
                </a:lnTo>
                <a:cubicBezTo>
                  <a:pt x="5212313" y="0"/>
                  <a:pt x="5257800" y="45487"/>
                  <a:pt x="5257800" y="101597"/>
                </a:cubicBezTo>
                <a:lnTo>
                  <a:pt x="5257800" y="863603"/>
                </a:lnTo>
                <a:cubicBezTo>
                  <a:pt x="5257800" y="919713"/>
                  <a:pt x="5212313" y="965200"/>
                  <a:pt x="5156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388600" y="3812309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赛事门票占比低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414000" y="4229100"/>
            <a:ext cx="49289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旅行过程中，注重整体旅行活动的体验而不是单一的赛事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0236200" y="4876800"/>
            <a:ext cx="5257800" cy="965200"/>
          </a:xfrm>
          <a:custGeom>
            <a:avLst/>
            <a:gdLst/>
            <a:ahLst/>
            <a:cxnLst/>
            <a:rect l="l" t="t" r="r" b="b"/>
            <a:pathLst>
              <a:path w="5257800" h="965200">
                <a:moveTo>
                  <a:pt x="101597" y="0"/>
                </a:moveTo>
                <a:lnTo>
                  <a:pt x="5156203" y="0"/>
                </a:lnTo>
                <a:cubicBezTo>
                  <a:pt x="5212313" y="0"/>
                  <a:pt x="5257800" y="45487"/>
                  <a:pt x="5257800" y="101597"/>
                </a:cubicBezTo>
                <a:lnTo>
                  <a:pt x="5257800" y="863603"/>
                </a:lnTo>
                <a:cubicBezTo>
                  <a:pt x="5257800" y="919713"/>
                  <a:pt x="5212313" y="965200"/>
                  <a:pt x="5156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388600" y="50292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其他消费占比25%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388600" y="53848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消费灵活性强，愿意为调整预算来满足个性化需求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10007600" y="6299200"/>
            <a:ext cx="5740400" cy="2336800"/>
          </a:xfrm>
          <a:custGeom>
            <a:avLst/>
            <a:gdLst/>
            <a:ahLst/>
            <a:cxnLst/>
            <a:rect l="l" t="t" r="r" b="b"/>
            <a:pathLst>
              <a:path w="5740400" h="2336800">
                <a:moveTo>
                  <a:pt x="50800" y="0"/>
                </a:moveTo>
                <a:lnTo>
                  <a:pt x="5587994" y="0"/>
                </a:lnTo>
                <a:cubicBezTo>
                  <a:pt x="5672165" y="0"/>
                  <a:pt x="5740400" y="68235"/>
                  <a:pt x="5740400" y="152406"/>
                </a:cubicBezTo>
                <a:lnTo>
                  <a:pt x="5740400" y="2184394"/>
                </a:lnTo>
                <a:cubicBezTo>
                  <a:pt x="5740400" y="2268565"/>
                  <a:pt x="5672165" y="2336800"/>
                  <a:pt x="5587994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007600" y="62992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1" name="Text 18"/>
          <p:cNvSpPr/>
          <p:nvPr/>
        </p:nvSpPr>
        <p:spPr>
          <a:xfrm>
            <a:off x="10287000" y="6553200"/>
            <a:ext cx="533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</a:rPr>
              <a:t>总结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388600" y="7264400"/>
            <a:ext cx="392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女性球迷在旅游消费上更倾向便利性，体验多样性和预算灵活性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FACTORS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决策关键因素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8" name="Shape 5"/>
          <p:cNvSpPr/>
          <p:nvPr/>
        </p:nvSpPr>
        <p:spPr>
          <a:xfrm>
            <a:off x="9982200" y="1879600"/>
            <a:ext cx="5765800" cy="4216400"/>
          </a:xfrm>
          <a:custGeom>
            <a:avLst/>
            <a:gdLst/>
            <a:ahLst/>
            <a:cxnLst/>
            <a:rect l="l" t="t" r="r" b="b"/>
            <a:pathLst>
              <a:path w="5765800" h="4216400">
                <a:moveTo>
                  <a:pt x="152381" y="0"/>
                </a:moveTo>
                <a:lnTo>
                  <a:pt x="5613419" y="0"/>
                </a:lnTo>
                <a:cubicBezTo>
                  <a:pt x="5697577" y="0"/>
                  <a:pt x="5765800" y="68223"/>
                  <a:pt x="5765800" y="152381"/>
                </a:cubicBezTo>
                <a:lnTo>
                  <a:pt x="5765800" y="4064019"/>
                </a:lnTo>
                <a:cubicBezTo>
                  <a:pt x="5765800" y="4148177"/>
                  <a:pt x="5697577" y="4216400"/>
                  <a:pt x="5613419" y="4216400"/>
                </a:cubicBezTo>
                <a:lnTo>
                  <a:pt x="152381" y="4216400"/>
                </a:lnTo>
                <a:cubicBezTo>
                  <a:pt x="68223" y="4216400"/>
                  <a:pt x="0" y="4148177"/>
                  <a:pt x="0" y="4064019"/>
                </a:cubicBezTo>
                <a:lnTo>
                  <a:pt x="0" y="152381"/>
                </a:lnTo>
                <a:cubicBezTo>
                  <a:pt x="0" y="68223"/>
                  <a:pt x="68223" y="0"/>
                  <a:pt x="152381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9" name="Text 6"/>
          <p:cNvSpPr/>
          <p:nvPr/>
        </p:nvSpPr>
        <p:spPr>
          <a:xfrm>
            <a:off x="10236200" y="2133600"/>
            <a:ext cx="538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决策</a:t>
            </a:r>
            <a:r>
              <a:rPr lang="zh-CN" alt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分析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236200" y="2641600"/>
            <a:ext cx="5257800" cy="965200"/>
          </a:xfrm>
          <a:custGeom>
            <a:avLst/>
            <a:gdLst/>
            <a:ahLst/>
            <a:cxnLst/>
            <a:rect l="l" t="t" r="r" b="b"/>
            <a:pathLst>
              <a:path w="5257800" h="965200">
                <a:moveTo>
                  <a:pt x="101597" y="0"/>
                </a:moveTo>
                <a:lnTo>
                  <a:pt x="5156203" y="0"/>
                </a:lnTo>
                <a:cubicBezTo>
                  <a:pt x="5212313" y="0"/>
                  <a:pt x="5257800" y="45487"/>
                  <a:pt x="5257800" y="101597"/>
                </a:cubicBezTo>
                <a:lnTo>
                  <a:pt x="5257800" y="863603"/>
                </a:lnTo>
                <a:cubicBezTo>
                  <a:pt x="5257800" y="919713"/>
                  <a:pt x="5212313" y="965200"/>
                  <a:pt x="5156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388600" y="27940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高度重视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388600" y="31496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E56B4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赛事吸引力</a:t>
            </a:r>
            <a:r>
              <a:rPr lang="en-US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</a:t>
            </a:r>
            <a:r>
              <a:rPr lang="en-US" b="1" dirty="0">
                <a:solidFill>
                  <a:srgbClr val="E56B4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目的地其他旅游资源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0236200" y="3759200"/>
            <a:ext cx="5257800" cy="965200"/>
          </a:xfrm>
          <a:custGeom>
            <a:avLst/>
            <a:gdLst/>
            <a:ahLst/>
            <a:cxnLst/>
            <a:rect l="l" t="t" r="r" b="b"/>
            <a:pathLst>
              <a:path w="5257800" h="965200">
                <a:moveTo>
                  <a:pt x="101597" y="0"/>
                </a:moveTo>
                <a:lnTo>
                  <a:pt x="5156203" y="0"/>
                </a:lnTo>
                <a:cubicBezTo>
                  <a:pt x="5212313" y="0"/>
                  <a:pt x="5257800" y="45487"/>
                  <a:pt x="5257800" y="101597"/>
                </a:cubicBezTo>
                <a:lnTo>
                  <a:pt x="5257800" y="863603"/>
                </a:lnTo>
                <a:cubicBezTo>
                  <a:pt x="5257800" y="919713"/>
                  <a:pt x="5212313" y="965200"/>
                  <a:pt x="5156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Text 11"/>
          <p:cNvSpPr/>
          <p:nvPr/>
        </p:nvSpPr>
        <p:spPr>
          <a:xfrm>
            <a:off x="10388600" y="39116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比较重视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388600" y="42672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E56B4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足球文化氛围</a:t>
            </a:r>
            <a:r>
              <a:rPr lang="en-US" sz="1600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b="1" dirty="0">
                <a:solidFill>
                  <a:schemeClr val="bg1">
                    <a:alpha val="9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r>
              <a:rPr lang="en-US" sz="1600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b="1" dirty="0">
                <a:solidFill>
                  <a:srgbClr val="E56B4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出行便利性</a:t>
            </a:r>
            <a:r>
              <a:rPr lang="en-US" sz="1600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</a:t>
            </a:r>
            <a:r>
              <a:rPr lang="en-US" b="1" dirty="0" err="1">
                <a:solidFill>
                  <a:srgbClr val="E56B4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同行伙伴意愿</a:t>
            </a:r>
            <a:endParaRPr lang="en-US" b="1" dirty="0">
              <a:solidFill>
                <a:srgbClr val="E56B4D">
                  <a:alpha val="9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292443" y="4927600"/>
            <a:ext cx="5257800" cy="965200"/>
          </a:xfrm>
          <a:custGeom>
            <a:avLst/>
            <a:gdLst/>
            <a:ahLst/>
            <a:cxnLst/>
            <a:rect l="l" t="t" r="r" b="b"/>
            <a:pathLst>
              <a:path w="5257800" h="965200">
                <a:moveTo>
                  <a:pt x="101597" y="0"/>
                </a:moveTo>
                <a:lnTo>
                  <a:pt x="5156203" y="0"/>
                </a:lnTo>
                <a:cubicBezTo>
                  <a:pt x="5212313" y="0"/>
                  <a:pt x="5257800" y="45487"/>
                  <a:pt x="5257800" y="101597"/>
                </a:cubicBezTo>
                <a:lnTo>
                  <a:pt x="5257800" y="863603"/>
                </a:lnTo>
                <a:cubicBezTo>
                  <a:pt x="5257800" y="919713"/>
                  <a:pt x="5212313" y="965200"/>
                  <a:pt x="5156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388600" y="50292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一般重视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388600" y="5384800"/>
            <a:ext cx="505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E56B4D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旅游成本</a:t>
            </a:r>
            <a:r>
              <a:rPr lang="en-US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价格敏感度相对较低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10007600" y="6263574"/>
            <a:ext cx="5740400" cy="2540000"/>
          </a:xfrm>
          <a:custGeom>
            <a:avLst/>
            <a:gdLst/>
            <a:ahLst/>
            <a:cxnLst/>
            <a:rect l="l" t="t" r="r" b="b"/>
            <a:pathLst>
              <a:path w="5740400" h="2540000">
                <a:moveTo>
                  <a:pt x="50800" y="0"/>
                </a:moveTo>
                <a:lnTo>
                  <a:pt x="5588000" y="0"/>
                </a:lnTo>
                <a:cubicBezTo>
                  <a:pt x="5672112" y="0"/>
                  <a:pt x="5740400" y="68288"/>
                  <a:pt x="5740400" y="152400"/>
                </a:cubicBezTo>
                <a:lnTo>
                  <a:pt x="5740400" y="2387600"/>
                </a:lnTo>
                <a:cubicBezTo>
                  <a:pt x="5740400" y="2471712"/>
                  <a:pt x="5672112" y="2540000"/>
                  <a:pt x="5588000" y="2540000"/>
                </a:cubicBezTo>
                <a:lnTo>
                  <a:pt x="50800" y="2540000"/>
                </a:lnTo>
                <a:cubicBezTo>
                  <a:pt x="22763" y="2540000"/>
                  <a:pt x="0" y="2517237"/>
                  <a:pt x="0" y="248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Shape 17"/>
          <p:cNvSpPr/>
          <p:nvPr/>
        </p:nvSpPr>
        <p:spPr>
          <a:xfrm>
            <a:off x="10007600" y="62992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50800" h="2540000">
                <a:moveTo>
                  <a:pt x="50800" y="0"/>
                </a:moveTo>
                <a:lnTo>
                  <a:pt x="50800" y="0"/>
                </a:lnTo>
                <a:lnTo>
                  <a:pt x="50800" y="2540000"/>
                </a:lnTo>
                <a:lnTo>
                  <a:pt x="50800" y="2540000"/>
                </a:lnTo>
                <a:cubicBezTo>
                  <a:pt x="22763" y="2540000"/>
                  <a:pt x="0" y="2517237"/>
                  <a:pt x="0" y="248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1" name="Text 18"/>
          <p:cNvSpPr/>
          <p:nvPr/>
        </p:nvSpPr>
        <p:spPr>
          <a:xfrm>
            <a:off x="10287000" y="6553200"/>
            <a:ext cx="533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642600" y="7061200"/>
            <a:ext cx="411843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女性球迷在选择时，更加注重</a:t>
            </a:r>
            <a:r>
              <a:rPr lang="zh-CN" altLang="en-US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赛事本身的质量和吸引力</a:t>
            </a:r>
            <a:r>
              <a:rPr lang="zh-CN" alt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，以及旅游过程中所获得的</a:t>
            </a:r>
            <a:r>
              <a:rPr lang="zh-CN" altLang="en-US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综合体验和文化感受</a:t>
            </a:r>
            <a:r>
              <a:rPr lang="zh-CN" alt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而对于</a:t>
            </a:r>
            <a:r>
              <a:rPr lang="zh-CN" altLang="en-US" b="1" dirty="0">
                <a:solidFill>
                  <a:srgbClr val="00B0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出行便利性</a:t>
            </a:r>
            <a:r>
              <a:rPr lang="zh-CN" alt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zh-CN" altLang="en-US" b="1" dirty="0">
                <a:solidFill>
                  <a:srgbClr val="00B0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旅游成本</a:t>
            </a:r>
            <a:r>
              <a:rPr lang="zh-CN" alt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等因素的敏感度相对较</a:t>
            </a:r>
            <a:r>
              <a:rPr lang="zh-CN" altLang="en-US" b="1" dirty="0">
                <a:solidFill>
                  <a:srgbClr val="00B0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</a:t>
            </a:r>
            <a:r>
              <a:rPr lang="zh-CN" alt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dirty="0"/>
          </a:p>
        </p:txBody>
      </p:sp>
      <p:graphicFrame>
        <p:nvGraphicFramePr>
          <p:cNvPr id="41" name="图表 40">
            <a:extLst>
              <a:ext uri="{FF2B5EF4-FFF2-40B4-BE49-F238E27FC236}">
                <a16:creationId xmlns:a16="http://schemas.microsoft.com/office/drawing/2014/main" id="{778AECB1-40D7-0FA8-F5CF-13DE0A32FB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947945"/>
              </p:ext>
            </p:extLst>
          </p:nvPr>
        </p:nvGraphicFramePr>
        <p:xfrm>
          <a:off x="1" y="1945574"/>
          <a:ext cx="9982200" cy="6803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2.znzmo.com/30b5cfe3e15272555805e812d81b358d429746fe.jpeg"/>
          <p:cNvPicPr>
            <a:picLocks noChangeAspect="1"/>
          </p:cNvPicPr>
          <p:nvPr/>
        </p:nvPicPr>
        <p:blipFill>
          <a:blip r:embed="rId3"/>
          <a:srcRect t="12500" b="125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1949450"/>
            <a:ext cx="1397000" cy="508000"/>
          </a:xfrm>
          <a:custGeom>
            <a:avLst/>
            <a:gdLst/>
            <a:ahLst/>
            <a:cxnLst/>
            <a:rect l="l" t="t" r="r" b="b"/>
            <a:pathLst>
              <a:path w="1397000" h="508000">
                <a:moveTo>
                  <a:pt x="0" y="0"/>
                </a:moveTo>
                <a:lnTo>
                  <a:pt x="1397000" y="0"/>
                </a:lnTo>
                <a:lnTo>
                  <a:pt x="1397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1949450"/>
            <a:ext cx="1498600" cy="50800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762250"/>
            <a:ext cx="899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现存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问题分析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3530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708650"/>
            <a:ext cx="8686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专业度不足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服务体验欠佳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人群适配性待提升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810" y="468810"/>
            <a:ext cx="1541214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b="1" kern="0" spc="74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8810" y="843859"/>
            <a:ext cx="1552934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22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三大核心问题剖析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8810" y="1453312"/>
            <a:ext cx="937621" cy="46881"/>
          </a:xfrm>
          <a:custGeom>
            <a:avLst/>
            <a:gdLst/>
            <a:ahLst/>
            <a:cxnLst/>
            <a:rect l="l" t="t" r="r" b="b"/>
            <a:pathLst>
              <a:path w="937621" h="46881">
                <a:moveTo>
                  <a:pt x="0" y="0"/>
                </a:moveTo>
                <a:lnTo>
                  <a:pt x="937621" y="0"/>
                </a:lnTo>
                <a:lnTo>
                  <a:pt x="937621" y="46881"/>
                </a:lnTo>
                <a:lnTo>
                  <a:pt x="0" y="46881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492251" y="1734598"/>
            <a:ext cx="7536127" cy="4512300"/>
          </a:xfrm>
          <a:custGeom>
            <a:avLst/>
            <a:gdLst/>
            <a:ahLst/>
            <a:cxnLst/>
            <a:rect l="l" t="t" r="r" b="b"/>
            <a:pathLst>
              <a:path w="7536127" h="4512300">
                <a:moveTo>
                  <a:pt x="46881" y="0"/>
                </a:moveTo>
                <a:lnTo>
                  <a:pt x="7395479" y="0"/>
                </a:lnTo>
                <a:cubicBezTo>
                  <a:pt x="7473156" y="0"/>
                  <a:pt x="7536127" y="62970"/>
                  <a:pt x="7536127" y="140648"/>
                </a:cubicBezTo>
                <a:lnTo>
                  <a:pt x="7536127" y="4371652"/>
                </a:lnTo>
                <a:cubicBezTo>
                  <a:pt x="7536127" y="4449329"/>
                  <a:pt x="7473156" y="4512300"/>
                  <a:pt x="7395479" y="4512300"/>
                </a:cubicBezTo>
                <a:lnTo>
                  <a:pt x="46881" y="4512300"/>
                </a:lnTo>
                <a:cubicBezTo>
                  <a:pt x="21007" y="4512300"/>
                  <a:pt x="0" y="4491293"/>
                  <a:pt x="0" y="4465419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0322" dist="4688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2251" y="1734598"/>
            <a:ext cx="46881" cy="4512300"/>
          </a:xfrm>
          <a:custGeom>
            <a:avLst/>
            <a:gdLst/>
            <a:ahLst/>
            <a:cxnLst/>
            <a:rect l="l" t="t" r="r" b="b"/>
            <a:pathLst>
              <a:path w="46881" h="4512300">
                <a:moveTo>
                  <a:pt x="46881" y="0"/>
                </a:moveTo>
                <a:lnTo>
                  <a:pt x="46881" y="0"/>
                </a:lnTo>
                <a:lnTo>
                  <a:pt x="46881" y="4512300"/>
                </a:lnTo>
                <a:lnTo>
                  <a:pt x="46881" y="4512300"/>
                </a:lnTo>
                <a:cubicBezTo>
                  <a:pt x="21007" y="4512300"/>
                  <a:pt x="0" y="4491293"/>
                  <a:pt x="0" y="4465419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Shape 5"/>
          <p:cNvSpPr/>
          <p:nvPr/>
        </p:nvSpPr>
        <p:spPr>
          <a:xfrm>
            <a:off x="750097" y="1969004"/>
            <a:ext cx="656335" cy="656335"/>
          </a:xfrm>
          <a:custGeom>
            <a:avLst/>
            <a:gdLst/>
            <a:ahLst/>
            <a:cxnLst/>
            <a:rect l="l" t="t" r="r" b="b"/>
            <a:pathLst>
              <a:path w="656335" h="656335">
                <a:moveTo>
                  <a:pt x="328167" y="0"/>
                </a:moveTo>
                <a:lnTo>
                  <a:pt x="328167" y="0"/>
                </a:lnTo>
                <a:cubicBezTo>
                  <a:pt x="509288" y="0"/>
                  <a:pt x="656335" y="147047"/>
                  <a:pt x="656335" y="328167"/>
                </a:cubicBezTo>
                <a:lnTo>
                  <a:pt x="656335" y="328167"/>
                </a:lnTo>
                <a:cubicBezTo>
                  <a:pt x="656335" y="509288"/>
                  <a:pt x="509288" y="656335"/>
                  <a:pt x="328167" y="656335"/>
                </a:cubicBezTo>
                <a:lnTo>
                  <a:pt x="328167" y="656335"/>
                </a:lnTo>
                <a:cubicBezTo>
                  <a:pt x="147047" y="656335"/>
                  <a:pt x="0" y="509288"/>
                  <a:pt x="0" y="328167"/>
                </a:cubicBezTo>
                <a:lnTo>
                  <a:pt x="0" y="328167"/>
                </a:lnTo>
                <a:cubicBezTo>
                  <a:pt x="0" y="147047"/>
                  <a:pt x="147047" y="0"/>
                  <a:pt x="328167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Text 6"/>
          <p:cNvSpPr/>
          <p:nvPr/>
        </p:nvSpPr>
        <p:spPr>
          <a:xfrm>
            <a:off x="679775" y="1969004"/>
            <a:ext cx="796978" cy="65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47074" y="2109647"/>
            <a:ext cx="1488473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产品设计层面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0097" y="2812862"/>
            <a:ext cx="7043876" cy="914180"/>
          </a:xfrm>
          <a:custGeom>
            <a:avLst/>
            <a:gdLst/>
            <a:ahLst/>
            <a:cxnLst/>
            <a:rect l="l" t="t" r="r" b="b"/>
            <a:pathLst>
              <a:path w="7043876" h="914180">
                <a:moveTo>
                  <a:pt x="93758" y="0"/>
                </a:moveTo>
                <a:lnTo>
                  <a:pt x="6950118" y="0"/>
                </a:lnTo>
                <a:cubicBezTo>
                  <a:pt x="7001899" y="0"/>
                  <a:pt x="7043876" y="41977"/>
                  <a:pt x="7043876" y="93758"/>
                </a:cubicBezTo>
                <a:lnTo>
                  <a:pt x="7043876" y="820422"/>
                </a:lnTo>
                <a:cubicBezTo>
                  <a:pt x="7043876" y="872203"/>
                  <a:pt x="7001899" y="914180"/>
                  <a:pt x="6950118" y="914180"/>
                </a:cubicBezTo>
                <a:lnTo>
                  <a:pt x="93758" y="914180"/>
                </a:lnTo>
                <a:cubicBezTo>
                  <a:pt x="41977" y="914180"/>
                  <a:pt x="0" y="872203"/>
                  <a:pt x="0" y="820422"/>
                </a:cubicBezTo>
                <a:lnTo>
                  <a:pt x="0" y="93758"/>
                </a:lnTo>
                <a:cubicBezTo>
                  <a:pt x="0" y="42012"/>
                  <a:pt x="42012" y="0"/>
                  <a:pt x="93758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2873" y="2946687"/>
            <a:ext cx="187524" cy="195352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93762" y="187524"/>
                </a:moveTo>
                <a:cubicBezTo>
                  <a:pt x="145511" y="187524"/>
                  <a:pt x="187524" y="145511"/>
                  <a:pt x="187524" y="93762"/>
                </a:cubicBezTo>
                <a:cubicBezTo>
                  <a:pt x="187524" y="42013"/>
                  <a:pt x="145511" y="0"/>
                  <a:pt x="93762" y="0"/>
                </a:cubicBezTo>
                <a:cubicBezTo>
                  <a:pt x="42013" y="0"/>
                  <a:pt x="0" y="42013"/>
                  <a:pt x="0" y="93762"/>
                </a:cubicBezTo>
                <a:cubicBezTo>
                  <a:pt x="0" y="145511"/>
                  <a:pt x="42013" y="187524"/>
                  <a:pt x="93762" y="187524"/>
                </a:cubicBezTo>
                <a:close/>
                <a:moveTo>
                  <a:pt x="93762" y="49811"/>
                </a:moveTo>
                <a:cubicBezTo>
                  <a:pt x="98633" y="49811"/>
                  <a:pt x="102552" y="53730"/>
                  <a:pt x="102552" y="58601"/>
                </a:cubicBezTo>
                <a:lnTo>
                  <a:pt x="102552" y="99622"/>
                </a:lnTo>
                <a:cubicBezTo>
                  <a:pt x="102552" y="104493"/>
                  <a:pt x="98633" y="108412"/>
                  <a:pt x="93762" y="108412"/>
                </a:cubicBezTo>
                <a:cubicBezTo>
                  <a:pt x="88891" y="108412"/>
                  <a:pt x="84972" y="104493"/>
                  <a:pt x="84972" y="99622"/>
                </a:cubicBezTo>
                <a:lnTo>
                  <a:pt x="84972" y="58601"/>
                </a:lnTo>
                <a:cubicBezTo>
                  <a:pt x="84972" y="53730"/>
                  <a:pt x="88891" y="49811"/>
                  <a:pt x="93762" y="49811"/>
                </a:cubicBezTo>
                <a:close/>
                <a:moveTo>
                  <a:pt x="83983" y="128923"/>
                </a:moveTo>
                <a:cubicBezTo>
                  <a:pt x="83761" y="125293"/>
                  <a:pt x="85571" y="121839"/>
                  <a:pt x="88682" y="119957"/>
                </a:cubicBezTo>
                <a:cubicBezTo>
                  <a:pt x="91794" y="118075"/>
                  <a:pt x="95693" y="118075"/>
                  <a:pt x="98805" y="119957"/>
                </a:cubicBezTo>
                <a:cubicBezTo>
                  <a:pt x="101917" y="121839"/>
                  <a:pt x="103727" y="125293"/>
                  <a:pt x="103505" y="128923"/>
                </a:cubicBezTo>
                <a:cubicBezTo>
                  <a:pt x="103727" y="132553"/>
                  <a:pt x="101917" y="136006"/>
                  <a:pt x="98805" y="137888"/>
                </a:cubicBezTo>
                <a:cubicBezTo>
                  <a:pt x="95693" y="139771"/>
                  <a:pt x="91794" y="139771"/>
                  <a:pt x="88682" y="137888"/>
                </a:cubicBezTo>
                <a:cubicBezTo>
                  <a:pt x="85571" y="136006"/>
                  <a:pt x="83761" y="132553"/>
                  <a:pt x="83983" y="128923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22439" y="2859743"/>
            <a:ext cx="653541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专业度不足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0739" y="3281673"/>
            <a:ext cx="7157173" cy="351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缺乏懂球人士主导策划,产品同质化、趣味性欠缺,难以满足资深球迷的深度需求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50097" y="3820805"/>
            <a:ext cx="7043876" cy="914180"/>
          </a:xfrm>
          <a:custGeom>
            <a:avLst/>
            <a:gdLst/>
            <a:ahLst/>
            <a:cxnLst/>
            <a:rect l="l" t="t" r="r" b="b"/>
            <a:pathLst>
              <a:path w="7043876" h="914180">
                <a:moveTo>
                  <a:pt x="93758" y="0"/>
                </a:moveTo>
                <a:lnTo>
                  <a:pt x="6950118" y="0"/>
                </a:lnTo>
                <a:cubicBezTo>
                  <a:pt x="7001899" y="0"/>
                  <a:pt x="7043876" y="41977"/>
                  <a:pt x="7043876" y="93758"/>
                </a:cubicBezTo>
                <a:lnTo>
                  <a:pt x="7043876" y="820422"/>
                </a:lnTo>
                <a:cubicBezTo>
                  <a:pt x="7043876" y="872203"/>
                  <a:pt x="7001899" y="914180"/>
                  <a:pt x="6950118" y="914180"/>
                </a:cubicBezTo>
                <a:lnTo>
                  <a:pt x="93758" y="914180"/>
                </a:lnTo>
                <a:cubicBezTo>
                  <a:pt x="41977" y="914180"/>
                  <a:pt x="0" y="872203"/>
                  <a:pt x="0" y="820422"/>
                </a:cubicBezTo>
                <a:lnTo>
                  <a:pt x="0" y="93758"/>
                </a:lnTo>
                <a:cubicBezTo>
                  <a:pt x="0" y="42012"/>
                  <a:pt x="42012" y="0"/>
                  <a:pt x="93758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Shape 13"/>
          <p:cNvSpPr/>
          <p:nvPr/>
        </p:nvSpPr>
        <p:spPr>
          <a:xfrm>
            <a:off x="914180" y="4000523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93762" y="187524"/>
                </a:moveTo>
                <a:cubicBezTo>
                  <a:pt x="145511" y="187524"/>
                  <a:pt x="187524" y="145511"/>
                  <a:pt x="187524" y="93762"/>
                </a:cubicBezTo>
                <a:cubicBezTo>
                  <a:pt x="187524" y="42013"/>
                  <a:pt x="145511" y="0"/>
                  <a:pt x="93762" y="0"/>
                </a:cubicBezTo>
                <a:cubicBezTo>
                  <a:pt x="42013" y="0"/>
                  <a:pt x="0" y="42013"/>
                  <a:pt x="0" y="93762"/>
                </a:cubicBezTo>
                <a:cubicBezTo>
                  <a:pt x="0" y="145511"/>
                  <a:pt x="42013" y="187524"/>
                  <a:pt x="93762" y="187524"/>
                </a:cubicBezTo>
                <a:close/>
                <a:moveTo>
                  <a:pt x="93762" y="49811"/>
                </a:moveTo>
                <a:cubicBezTo>
                  <a:pt x="98633" y="49811"/>
                  <a:pt x="102552" y="53730"/>
                  <a:pt x="102552" y="58601"/>
                </a:cubicBezTo>
                <a:lnTo>
                  <a:pt x="102552" y="99622"/>
                </a:lnTo>
                <a:cubicBezTo>
                  <a:pt x="102552" y="104493"/>
                  <a:pt x="98633" y="108412"/>
                  <a:pt x="93762" y="108412"/>
                </a:cubicBezTo>
                <a:cubicBezTo>
                  <a:pt x="88891" y="108412"/>
                  <a:pt x="84972" y="104493"/>
                  <a:pt x="84972" y="99622"/>
                </a:cubicBezTo>
                <a:lnTo>
                  <a:pt x="84972" y="58601"/>
                </a:lnTo>
                <a:cubicBezTo>
                  <a:pt x="84972" y="53730"/>
                  <a:pt x="88891" y="49811"/>
                  <a:pt x="93762" y="49811"/>
                </a:cubicBezTo>
                <a:close/>
                <a:moveTo>
                  <a:pt x="83983" y="128923"/>
                </a:moveTo>
                <a:cubicBezTo>
                  <a:pt x="83761" y="125293"/>
                  <a:pt x="85571" y="121839"/>
                  <a:pt x="88682" y="119957"/>
                </a:cubicBezTo>
                <a:cubicBezTo>
                  <a:pt x="91794" y="118075"/>
                  <a:pt x="95693" y="118075"/>
                  <a:pt x="98805" y="119957"/>
                </a:cubicBezTo>
                <a:cubicBezTo>
                  <a:pt x="101917" y="121839"/>
                  <a:pt x="103727" y="125293"/>
                  <a:pt x="103505" y="128923"/>
                </a:cubicBezTo>
                <a:cubicBezTo>
                  <a:pt x="103727" y="132553"/>
                  <a:pt x="101917" y="136006"/>
                  <a:pt x="98805" y="137888"/>
                </a:cubicBezTo>
                <a:cubicBezTo>
                  <a:pt x="95693" y="139771"/>
                  <a:pt x="91794" y="139771"/>
                  <a:pt x="88682" y="137888"/>
                </a:cubicBezTo>
                <a:cubicBezTo>
                  <a:pt x="85571" y="136006"/>
                  <a:pt x="83761" y="132553"/>
                  <a:pt x="83983" y="128923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11674" y="3961448"/>
            <a:ext cx="653541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多样性欠缺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0740" y="4289615"/>
            <a:ext cx="6856352" cy="320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主题酒店、交通配套等产品供给不足,规模偏小,选择空间有限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8201" y="4985024"/>
            <a:ext cx="7043876" cy="914180"/>
          </a:xfrm>
          <a:custGeom>
            <a:avLst/>
            <a:gdLst/>
            <a:ahLst/>
            <a:cxnLst/>
            <a:rect l="l" t="t" r="r" b="b"/>
            <a:pathLst>
              <a:path w="7043876" h="914180">
                <a:moveTo>
                  <a:pt x="93758" y="0"/>
                </a:moveTo>
                <a:lnTo>
                  <a:pt x="6950118" y="0"/>
                </a:lnTo>
                <a:cubicBezTo>
                  <a:pt x="7001899" y="0"/>
                  <a:pt x="7043876" y="41977"/>
                  <a:pt x="7043876" y="93758"/>
                </a:cubicBezTo>
                <a:lnTo>
                  <a:pt x="7043876" y="820422"/>
                </a:lnTo>
                <a:cubicBezTo>
                  <a:pt x="7043876" y="872203"/>
                  <a:pt x="7001899" y="914180"/>
                  <a:pt x="6950118" y="914180"/>
                </a:cubicBezTo>
                <a:lnTo>
                  <a:pt x="93758" y="914180"/>
                </a:lnTo>
                <a:cubicBezTo>
                  <a:pt x="41977" y="914180"/>
                  <a:pt x="0" y="872203"/>
                  <a:pt x="0" y="820422"/>
                </a:cubicBezTo>
                <a:lnTo>
                  <a:pt x="0" y="93758"/>
                </a:lnTo>
                <a:cubicBezTo>
                  <a:pt x="0" y="42012"/>
                  <a:pt x="42012" y="0"/>
                  <a:pt x="93758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4180" y="5008465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93762" y="187524"/>
                </a:moveTo>
                <a:cubicBezTo>
                  <a:pt x="145511" y="187524"/>
                  <a:pt x="187524" y="145511"/>
                  <a:pt x="187524" y="93762"/>
                </a:cubicBezTo>
                <a:cubicBezTo>
                  <a:pt x="187524" y="42013"/>
                  <a:pt x="145511" y="0"/>
                  <a:pt x="93762" y="0"/>
                </a:cubicBezTo>
                <a:cubicBezTo>
                  <a:pt x="42013" y="0"/>
                  <a:pt x="0" y="42013"/>
                  <a:pt x="0" y="93762"/>
                </a:cubicBezTo>
                <a:cubicBezTo>
                  <a:pt x="0" y="145511"/>
                  <a:pt x="42013" y="187524"/>
                  <a:pt x="93762" y="187524"/>
                </a:cubicBezTo>
                <a:close/>
                <a:moveTo>
                  <a:pt x="93762" y="49811"/>
                </a:moveTo>
                <a:cubicBezTo>
                  <a:pt x="98633" y="49811"/>
                  <a:pt x="102552" y="53730"/>
                  <a:pt x="102552" y="58601"/>
                </a:cubicBezTo>
                <a:lnTo>
                  <a:pt x="102552" y="99622"/>
                </a:lnTo>
                <a:cubicBezTo>
                  <a:pt x="102552" y="104493"/>
                  <a:pt x="98633" y="108412"/>
                  <a:pt x="93762" y="108412"/>
                </a:cubicBezTo>
                <a:cubicBezTo>
                  <a:pt x="88891" y="108412"/>
                  <a:pt x="84972" y="104493"/>
                  <a:pt x="84972" y="99622"/>
                </a:cubicBezTo>
                <a:lnTo>
                  <a:pt x="84972" y="58601"/>
                </a:lnTo>
                <a:cubicBezTo>
                  <a:pt x="84972" y="53730"/>
                  <a:pt x="88891" y="49811"/>
                  <a:pt x="93762" y="49811"/>
                </a:cubicBezTo>
                <a:close/>
                <a:moveTo>
                  <a:pt x="83983" y="128923"/>
                </a:moveTo>
                <a:cubicBezTo>
                  <a:pt x="83761" y="125293"/>
                  <a:pt x="85571" y="121839"/>
                  <a:pt x="88682" y="119957"/>
                </a:cubicBezTo>
                <a:cubicBezTo>
                  <a:pt x="91794" y="118075"/>
                  <a:pt x="95693" y="118075"/>
                  <a:pt x="98805" y="119957"/>
                </a:cubicBezTo>
                <a:cubicBezTo>
                  <a:pt x="101917" y="121839"/>
                  <a:pt x="103727" y="125293"/>
                  <a:pt x="103505" y="128923"/>
                </a:cubicBezTo>
                <a:cubicBezTo>
                  <a:pt x="103727" y="132553"/>
                  <a:pt x="101917" y="136006"/>
                  <a:pt x="98805" y="137888"/>
                </a:cubicBezTo>
                <a:cubicBezTo>
                  <a:pt x="95693" y="139771"/>
                  <a:pt x="91794" y="139771"/>
                  <a:pt x="88682" y="137888"/>
                </a:cubicBezTo>
                <a:cubicBezTo>
                  <a:pt x="85571" y="136006"/>
                  <a:pt x="83761" y="132553"/>
                  <a:pt x="83983" y="128923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0" name="Text 18"/>
          <p:cNvSpPr/>
          <p:nvPr/>
        </p:nvSpPr>
        <p:spPr>
          <a:xfrm>
            <a:off x="1211674" y="4969390"/>
            <a:ext cx="653541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美观与时尚感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0740" y="5297557"/>
            <a:ext cx="6856352" cy="30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部分年轻用户反馈产品美观度不足,与年轻人审美脱节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43250" y="1734598"/>
            <a:ext cx="7536127" cy="4512300"/>
          </a:xfrm>
          <a:custGeom>
            <a:avLst/>
            <a:gdLst/>
            <a:ahLst/>
            <a:cxnLst/>
            <a:rect l="l" t="t" r="r" b="b"/>
            <a:pathLst>
              <a:path w="7536127" h="4512300">
                <a:moveTo>
                  <a:pt x="46881" y="0"/>
                </a:moveTo>
                <a:lnTo>
                  <a:pt x="7395479" y="0"/>
                </a:lnTo>
                <a:cubicBezTo>
                  <a:pt x="7473156" y="0"/>
                  <a:pt x="7536127" y="62970"/>
                  <a:pt x="7536127" y="140648"/>
                </a:cubicBezTo>
                <a:lnTo>
                  <a:pt x="7536127" y="4371652"/>
                </a:lnTo>
                <a:cubicBezTo>
                  <a:pt x="7536127" y="4449329"/>
                  <a:pt x="7473156" y="4512300"/>
                  <a:pt x="7395479" y="4512300"/>
                </a:cubicBezTo>
                <a:lnTo>
                  <a:pt x="46881" y="4512300"/>
                </a:lnTo>
                <a:cubicBezTo>
                  <a:pt x="21007" y="4512300"/>
                  <a:pt x="0" y="4491293"/>
                  <a:pt x="0" y="4465419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0322" dist="4688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43250" y="1734598"/>
            <a:ext cx="46881" cy="4512300"/>
          </a:xfrm>
          <a:custGeom>
            <a:avLst/>
            <a:gdLst/>
            <a:ahLst/>
            <a:cxnLst/>
            <a:rect l="l" t="t" r="r" b="b"/>
            <a:pathLst>
              <a:path w="46881" h="4512300">
                <a:moveTo>
                  <a:pt x="46881" y="0"/>
                </a:moveTo>
                <a:lnTo>
                  <a:pt x="46881" y="0"/>
                </a:lnTo>
                <a:lnTo>
                  <a:pt x="46881" y="4512300"/>
                </a:lnTo>
                <a:lnTo>
                  <a:pt x="46881" y="4512300"/>
                </a:lnTo>
                <a:cubicBezTo>
                  <a:pt x="21007" y="4512300"/>
                  <a:pt x="0" y="4491293"/>
                  <a:pt x="0" y="4465419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1095" y="1969004"/>
            <a:ext cx="656335" cy="656335"/>
          </a:xfrm>
          <a:custGeom>
            <a:avLst/>
            <a:gdLst/>
            <a:ahLst/>
            <a:cxnLst/>
            <a:rect l="l" t="t" r="r" b="b"/>
            <a:pathLst>
              <a:path w="656335" h="656335">
                <a:moveTo>
                  <a:pt x="328167" y="0"/>
                </a:moveTo>
                <a:lnTo>
                  <a:pt x="328167" y="0"/>
                </a:lnTo>
                <a:cubicBezTo>
                  <a:pt x="509288" y="0"/>
                  <a:pt x="656335" y="147047"/>
                  <a:pt x="656335" y="328167"/>
                </a:cubicBezTo>
                <a:lnTo>
                  <a:pt x="656335" y="328167"/>
                </a:lnTo>
                <a:cubicBezTo>
                  <a:pt x="656335" y="509288"/>
                  <a:pt x="509288" y="656335"/>
                  <a:pt x="328167" y="656335"/>
                </a:cubicBezTo>
                <a:lnTo>
                  <a:pt x="328167" y="656335"/>
                </a:lnTo>
                <a:cubicBezTo>
                  <a:pt x="147047" y="656335"/>
                  <a:pt x="0" y="509288"/>
                  <a:pt x="0" y="328167"/>
                </a:cubicBezTo>
                <a:lnTo>
                  <a:pt x="0" y="328167"/>
                </a:lnTo>
                <a:cubicBezTo>
                  <a:pt x="0" y="147047"/>
                  <a:pt x="147047" y="0"/>
                  <a:pt x="328167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5" name="Text 23"/>
          <p:cNvSpPr/>
          <p:nvPr/>
        </p:nvSpPr>
        <p:spPr>
          <a:xfrm>
            <a:off x="8430774" y="1969004"/>
            <a:ext cx="796978" cy="65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8073" y="2109647"/>
            <a:ext cx="1488473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服务体验层面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1095" y="2812862"/>
            <a:ext cx="7043876" cy="914180"/>
          </a:xfrm>
          <a:custGeom>
            <a:avLst/>
            <a:gdLst/>
            <a:ahLst/>
            <a:cxnLst/>
            <a:rect l="l" t="t" r="r" b="b"/>
            <a:pathLst>
              <a:path w="7043876" h="914180">
                <a:moveTo>
                  <a:pt x="93758" y="0"/>
                </a:moveTo>
                <a:lnTo>
                  <a:pt x="6950118" y="0"/>
                </a:lnTo>
                <a:cubicBezTo>
                  <a:pt x="7001899" y="0"/>
                  <a:pt x="7043876" y="41977"/>
                  <a:pt x="7043876" y="93758"/>
                </a:cubicBezTo>
                <a:lnTo>
                  <a:pt x="7043876" y="820422"/>
                </a:lnTo>
                <a:cubicBezTo>
                  <a:pt x="7043876" y="872203"/>
                  <a:pt x="7001899" y="914180"/>
                  <a:pt x="6950118" y="914180"/>
                </a:cubicBezTo>
                <a:lnTo>
                  <a:pt x="93758" y="914180"/>
                </a:lnTo>
                <a:cubicBezTo>
                  <a:pt x="41977" y="914180"/>
                  <a:pt x="0" y="872203"/>
                  <a:pt x="0" y="820422"/>
                </a:cubicBezTo>
                <a:lnTo>
                  <a:pt x="0" y="93758"/>
                </a:lnTo>
                <a:cubicBezTo>
                  <a:pt x="0" y="42012"/>
                  <a:pt x="42012" y="0"/>
                  <a:pt x="93758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665179" y="2992581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93762" y="187524"/>
                </a:moveTo>
                <a:cubicBezTo>
                  <a:pt x="145511" y="187524"/>
                  <a:pt x="187524" y="145511"/>
                  <a:pt x="187524" y="93762"/>
                </a:cubicBezTo>
                <a:cubicBezTo>
                  <a:pt x="187524" y="42013"/>
                  <a:pt x="145511" y="0"/>
                  <a:pt x="93762" y="0"/>
                </a:cubicBezTo>
                <a:cubicBezTo>
                  <a:pt x="42013" y="0"/>
                  <a:pt x="0" y="42013"/>
                  <a:pt x="0" y="93762"/>
                </a:cubicBezTo>
                <a:cubicBezTo>
                  <a:pt x="0" y="145511"/>
                  <a:pt x="42013" y="187524"/>
                  <a:pt x="93762" y="187524"/>
                </a:cubicBezTo>
                <a:close/>
                <a:moveTo>
                  <a:pt x="93762" y="49811"/>
                </a:moveTo>
                <a:cubicBezTo>
                  <a:pt x="98633" y="49811"/>
                  <a:pt x="102552" y="53730"/>
                  <a:pt x="102552" y="58601"/>
                </a:cubicBezTo>
                <a:lnTo>
                  <a:pt x="102552" y="99622"/>
                </a:lnTo>
                <a:cubicBezTo>
                  <a:pt x="102552" y="104493"/>
                  <a:pt x="98633" y="108412"/>
                  <a:pt x="93762" y="108412"/>
                </a:cubicBezTo>
                <a:cubicBezTo>
                  <a:pt x="88891" y="108412"/>
                  <a:pt x="84972" y="104493"/>
                  <a:pt x="84972" y="99622"/>
                </a:cubicBezTo>
                <a:lnTo>
                  <a:pt x="84972" y="58601"/>
                </a:lnTo>
                <a:cubicBezTo>
                  <a:pt x="84972" y="53730"/>
                  <a:pt x="88891" y="49811"/>
                  <a:pt x="93762" y="49811"/>
                </a:cubicBezTo>
                <a:close/>
                <a:moveTo>
                  <a:pt x="83983" y="128923"/>
                </a:moveTo>
                <a:cubicBezTo>
                  <a:pt x="83761" y="125293"/>
                  <a:pt x="85571" y="121839"/>
                  <a:pt x="88682" y="119957"/>
                </a:cubicBezTo>
                <a:cubicBezTo>
                  <a:pt x="91794" y="118075"/>
                  <a:pt x="95693" y="118075"/>
                  <a:pt x="98805" y="119957"/>
                </a:cubicBezTo>
                <a:cubicBezTo>
                  <a:pt x="101917" y="121839"/>
                  <a:pt x="103727" y="125293"/>
                  <a:pt x="103505" y="128923"/>
                </a:cubicBezTo>
                <a:cubicBezTo>
                  <a:pt x="103727" y="132553"/>
                  <a:pt x="101917" y="136006"/>
                  <a:pt x="98805" y="137888"/>
                </a:cubicBezTo>
                <a:cubicBezTo>
                  <a:pt x="95693" y="139771"/>
                  <a:pt x="91794" y="139771"/>
                  <a:pt x="88682" y="137888"/>
                </a:cubicBezTo>
                <a:cubicBezTo>
                  <a:pt x="85571" y="136006"/>
                  <a:pt x="83761" y="132553"/>
                  <a:pt x="83983" y="128923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29" name="Text 27"/>
          <p:cNvSpPr/>
          <p:nvPr/>
        </p:nvSpPr>
        <p:spPr>
          <a:xfrm>
            <a:off x="8962673" y="2953505"/>
            <a:ext cx="653541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票务与出行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01095" y="3412353"/>
            <a:ext cx="7239213" cy="187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散客购票渠道不便捷,缺乏球迷专列等定制化交通服务,出行体验有待提升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01095" y="3820805"/>
            <a:ext cx="7043876" cy="914180"/>
          </a:xfrm>
          <a:custGeom>
            <a:avLst/>
            <a:gdLst/>
            <a:ahLst/>
            <a:cxnLst/>
            <a:rect l="l" t="t" r="r" b="b"/>
            <a:pathLst>
              <a:path w="7043876" h="914180">
                <a:moveTo>
                  <a:pt x="93758" y="0"/>
                </a:moveTo>
                <a:lnTo>
                  <a:pt x="6950118" y="0"/>
                </a:lnTo>
                <a:cubicBezTo>
                  <a:pt x="7001899" y="0"/>
                  <a:pt x="7043876" y="41977"/>
                  <a:pt x="7043876" y="93758"/>
                </a:cubicBezTo>
                <a:lnTo>
                  <a:pt x="7043876" y="820422"/>
                </a:lnTo>
                <a:cubicBezTo>
                  <a:pt x="7043876" y="872203"/>
                  <a:pt x="7001899" y="914180"/>
                  <a:pt x="6950118" y="914180"/>
                </a:cubicBezTo>
                <a:lnTo>
                  <a:pt x="93758" y="914180"/>
                </a:lnTo>
                <a:cubicBezTo>
                  <a:pt x="41977" y="914180"/>
                  <a:pt x="0" y="872203"/>
                  <a:pt x="0" y="820422"/>
                </a:cubicBezTo>
                <a:lnTo>
                  <a:pt x="0" y="93758"/>
                </a:lnTo>
                <a:cubicBezTo>
                  <a:pt x="0" y="42012"/>
                  <a:pt x="42012" y="0"/>
                  <a:pt x="93758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665179" y="4000523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93762" y="187524"/>
                </a:moveTo>
                <a:cubicBezTo>
                  <a:pt x="145511" y="187524"/>
                  <a:pt x="187524" y="145511"/>
                  <a:pt x="187524" y="93762"/>
                </a:cubicBezTo>
                <a:cubicBezTo>
                  <a:pt x="187524" y="42013"/>
                  <a:pt x="145511" y="0"/>
                  <a:pt x="93762" y="0"/>
                </a:cubicBezTo>
                <a:cubicBezTo>
                  <a:pt x="42013" y="0"/>
                  <a:pt x="0" y="42013"/>
                  <a:pt x="0" y="93762"/>
                </a:cubicBezTo>
                <a:cubicBezTo>
                  <a:pt x="0" y="145511"/>
                  <a:pt x="42013" y="187524"/>
                  <a:pt x="93762" y="187524"/>
                </a:cubicBezTo>
                <a:close/>
                <a:moveTo>
                  <a:pt x="93762" y="49811"/>
                </a:moveTo>
                <a:cubicBezTo>
                  <a:pt x="98633" y="49811"/>
                  <a:pt x="102552" y="53730"/>
                  <a:pt x="102552" y="58601"/>
                </a:cubicBezTo>
                <a:lnTo>
                  <a:pt x="102552" y="99622"/>
                </a:lnTo>
                <a:cubicBezTo>
                  <a:pt x="102552" y="104493"/>
                  <a:pt x="98633" y="108412"/>
                  <a:pt x="93762" y="108412"/>
                </a:cubicBezTo>
                <a:cubicBezTo>
                  <a:pt x="88891" y="108412"/>
                  <a:pt x="84972" y="104493"/>
                  <a:pt x="84972" y="99622"/>
                </a:cubicBezTo>
                <a:lnTo>
                  <a:pt x="84972" y="58601"/>
                </a:lnTo>
                <a:cubicBezTo>
                  <a:pt x="84972" y="53730"/>
                  <a:pt x="88891" y="49811"/>
                  <a:pt x="93762" y="49811"/>
                </a:cubicBezTo>
                <a:close/>
                <a:moveTo>
                  <a:pt x="83983" y="128923"/>
                </a:moveTo>
                <a:cubicBezTo>
                  <a:pt x="83761" y="125293"/>
                  <a:pt x="85571" y="121839"/>
                  <a:pt x="88682" y="119957"/>
                </a:cubicBezTo>
                <a:cubicBezTo>
                  <a:pt x="91794" y="118075"/>
                  <a:pt x="95693" y="118075"/>
                  <a:pt x="98805" y="119957"/>
                </a:cubicBezTo>
                <a:cubicBezTo>
                  <a:pt x="101917" y="121839"/>
                  <a:pt x="103727" y="125293"/>
                  <a:pt x="103505" y="128923"/>
                </a:cubicBezTo>
                <a:cubicBezTo>
                  <a:pt x="103727" y="132553"/>
                  <a:pt x="101917" y="136006"/>
                  <a:pt x="98805" y="137888"/>
                </a:cubicBezTo>
                <a:cubicBezTo>
                  <a:pt x="95693" y="139771"/>
                  <a:pt x="91794" y="139771"/>
                  <a:pt x="88682" y="137888"/>
                </a:cubicBezTo>
                <a:cubicBezTo>
                  <a:pt x="85571" y="136006"/>
                  <a:pt x="83761" y="132553"/>
                  <a:pt x="83983" y="128923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3" name="Text 31"/>
          <p:cNvSpPr/>
          <p:nvPr/>
        </p:nvSpPr>
        <p:spPr>
          <a:xfrm>
            <a:off x="8962673" y="3961448"/>
            <a:ext cx="653541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球迷互动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01095" y="4432571"/>
            <a:ext cx="7239212" cy="255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球迷群体融合性差,对立性较强,客队球迷座位安排不合理,影响观赛体验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501095" y="4828747"/>
            <a:ext cx="7043876" cy="914180"/>
          </a:xfrm>
          <a:custGeom>
            <a:avLst/>
            <a:gdLst/>
            <a:ahLst/>
            <a:cxnLst/>
            <a:rect l="l" t="t" r="r" b="b"/>
            <a:pathLst>
              <a:path w="7043876" h="914180">
                <a:moveTo>
                  <a:pt x="93758" y="0"/>
                </a:moveTo>
                <a:lnTo>
                  <a:pt x="6950118" y="0"/>
                </a:lnTo>
                <a:cubicBezTo>
                  <a:pt x="7001899" y="0"/>
                  <a:pt x="7043876" y="41977"/>
                  <a:pt x="7043876" y="93758"/>
                </a:cubicBezTo>
                <a:lnTo>
                  <a:pt x="7043876" y="820422"/>
                </a:lnTo>
                <a:cubicBezTo>
                  <a:pt x="7043876" y="872203"/>
                  <a:pt x="7001899" y="914180"/>
                  <a:pt x="6950118" y="914180"/>
                </a:cubicBezTo>
                <a:lnTo>
                  <a:pt x="93758" y="914180"/>
                </a:lnTo>
                <a:cubicBezTo>
                  <a:pt x="41977" y="914180"/>
                  <a:pt x="0" y="872203"/>
                  <a:pt x="0" y="820422"/>
                </a:cubicBezTo>
                <a:lnTo>
                  <a:pt x="0" y="93758"/>
                </a:lnTo>
                <a:cubicBezTo>
                  <a:pt x="0" y="42012"/>
                  <a:pt x="42012" y="0"/>
                  <a:pt x="93758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665179" y="5008465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93762" y="187524"/>
                </a:moveTo>
                <a:cubicBezTo>
                  <a:pt x="145511" y="187524"/>
                  <a:pt x="187524" y="145511"/>
                  <a:pt x="187524" y="93762"/>
                </a:cubicBezTo>
                <a:cubicBezTo>
                  <a:pt x="187524" y="42013"/>
                  <a:pt x="145511" y="0"/>
                  <a:pt x="93762" y="0"/>
                </a:cubicBezTo>
                <a:cubicBezTo>
                  <a:pt x="42013" y="0"/>
                  <a:pt x="0" y="42013"/>
                  <a:pt x="0" y="93762"/>
                </a:cubicBezTo>
                <a:cubicBezTo>
                  <a:pt x="0" y="145511"/>
                  <a:pt x="42013" y="187524"/>
                  <a:pt x="93762" y="187524"/>
                </a:cubicBezTo>
                <a:close/>
                <a:moveTo>
                  <a:pt x="93762" y="49811"/>
                </a:moveTo>
                <a:cubicBezTo>
                  <a:pt x="98633" y="49811"/>
                  <a:pt x="102552" y="53730"/>
                  <a:pt x="102552" y="58601"/>
                </a:cubicBezTo>
                <a:lnTo>
                  <a:pt x="102552" y="99622"/>
                </a:lnTo>
                <a:cubicBezTo>
                  <a:pt x="102552" y="104493"/>
                  <a:pt x="98633" y="108412"/>
                  <a:pt x="93762" y="108412"/>
                </a:cubicBezTo>
                <a:cubicBezTo>
                  <a:pt x="88891" y="108412"/>
                  <a:pt x="84972" y="104493"/>
                  <a:pt x="84972" y="99622"/>
                </a:cubicBezTo>
                <a:lnTo>
                  <a:pt x="84972" y="58601"/>
                </a:lnTo>
                <a:cubicBezTo>
                  <a:pt x="84972" y="53730"/>
                  <a:pt x="88891" y="49811"/>
                  <a:pt x="93762" y="49811"/>
                </a:cubicBezTo>
                <a:close/>
                <a:moveTo>
                  <a:pt x="83983" y="128923"/>
                </a:moveTo>
                <a:cubicBezTo>
                  <a:pt x="83761" y="125293"/>
                  <a:pt x="85571" y="121839"/>
                  <a:pt x="88682" y="119957"/>
                </a:cubicBezTo>
                <a:cubicBezTo>
                  <a:pt x="91794" y="118075"/>
                  <a:pt x="95693" y="118075"/>
                  <a:pt x="98805" y="119957"/>
                </a:cubicBezTo>
                <a:cubicBezTo>
                  <a:pt x="101917" y="121839"/>
                  <a:pt x="103727" y="125293"/>
                  <a:pt x="103505" y="128923"/>
                </a:cubicBezTo>
                <a:cubicBezTo>
                  <a:pt x="103727" y="132553"/>
                  <a:pt x="101917" y="136006"/>
                  <a:pt x="98805" y="137888"/>
                </a:cubicBezTo>
                <a:cubicBezTo>
                  <a:pt x="95693" y="139771"/>
                  <a:pt x="91794" y="139771"/>
                  <a:pt x="88682" y="137888"/>
                </a:cubicBezTo>
                <a:cubicBezTo>
                  <a:pt x="85571" y="136006"/>
                  <a:pt x="83761" y="132553"/>
                  <a:pt x="83983" y="128923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7" name="Text 35"/>
          <p:cNvSpPr/>
          <p:nvPr/>
        </p:nvSpPr>
        <p:spPr>
          <a:xfrm>
            <a:off x="8962673" y="4969390"/>
            <a:ext cx="6535418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附加价值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641739" y="5297557"/>
            <a:ext cx="6856352" cy="30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缺乏球票与景区联动的优惠权益,产品综合性价比不高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8810" y="6432477"/>
            <a:ext cx="15318379" cy="2672219"/>
          </a:xfrm>
          <a:custGeom>
            <a:avLst/>
            <a:gdLst/>
            <a:ahLst/>
            <a:cxnLst/>
            <a:rect l="l" t="t" r="r" b="b"/>
            <a:pathLst>
              <a:path w="15318379" h="2672219">
                <a:moveTo>
                  <a:pt x="140639" y="0"/>
                </a:moveTo>
                <a:lnTo>
                  <a:pt x="15177740" y="0"/>
                </a:lnTo>
                <a:cubicBezTo>
                  <a:pt x="15255413" y="0"/>
                  <a:pt x="15318379" y="62966"/>
                  <a:pt x="15318379" y="140639"/>
                </a:cubicBezTo>
                <a:lnTo>
                  <a:pt x="15318379" y="2531580"/>
                </a:lnTo>
                <a:cubicBezTo>
                  <a:pt x="15318379" y="2609253"/>
                  <a:pt x="15255413" y="2672219"/>
                  <a:pt x="15177740" y="2672219"/>
                </a:cubicBezTo>
                <a:lnTo>
                  <a:pt x="140639" y="2672219"/>
                </a:lnTo>
                <a:cubicBezTo>
                  <a:pt x="62966" y="2672219"/>
                  <a:pt x="0" y="2609253"/>
                  <a:pt x="0" y="2531580"/>
                </a:cubicBezTo>
                <a:lnTo>
                  <a:pt x="0" y="140639"/>
                </a:lnTo>
                <a:cubicBezTo>
                  <a:pt x="0" y="62966"/>
                  <a:pt x="62966" y="0"/>
                  <a:pt x="140639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0" name="Shape 38"/>
          <p:cNvSpPr/>
          <p:nvPr/>
        </p:nvSpPr>
        <p:spPr>
          <a:xfrm>
            <a:off x="703216" y="6666882"/>
            <a:ext cx="656335" cy="656335"/>
          </a:xfrm>
          <a:custGeom>
            <a:avLst/>
            <a:gdLst/>
            <a:ahLst/>
            <a:cxnLst/>
            <a:rect l="l" t="t" r="r" b="b"/>
            <a:pathLst>
              <a:path w="656335" h="656335">
                <a:moveTo>
                  <a:pt x="328167" y="0"/>
                </a:moveTo>
                <a:lnTo>
                  <a:pt x="328167" y="0"/>
                </a:lnTo>
                <a:cubicBezTo>
                  <a:pt x="509288" y="0"/>
                  <a:pt x="656335" y="147047"/>
                  <a:pt x="656335" y="328167"/>
                </a:cubicBezTo>
                <a:lnTo>
                  <a:pt x="656335" y="328167"/>
                </a:lnTo>
                <a:cubicBezTo>
                  <a:pt x="656335" y="509288"/>
                  <a:pt x="509288" y="656335"/>
                  <a:pt x="328167" y="656335"/>
                </a:cubicBezTo>
                <a:lnTo>
                  <a:pt x="328167" y="656335"/>
                </a:lnTo>
                <a:cubicBezTo>
                  <a:pt x="147047" y="656335"/>
                  <a:pt x="0" y="509288"/>
                  <a:pt x="0" y="328167"/>
                </a:cubicBezTo>
                <a:lnTo>
                  <a:pt x="0" y="328167"/>
                </a:lnTo>
                <a:cubicBezTo>
                  <a:pt x="0" y="147047"/>
                  <a:pt x="147047" y="0"/>
                  <a:pt x="328167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1" name="Text 39"/>
          <p:cNvSpPr/>
          <p:nvPr/>
        </p:nvSpPr>
        <p:spPr>
          <a:xfrm>
            <a:off x="632894" y="6666882"/>
            <a:ext cx="796978" cy="65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5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00193" y="6807525"/>
            <a:ext cx="1488473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人群适配层面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3216" y="7463860"/>
            <a:ext cx="4828747" cy="1406431"/>
          </a:xfrm>
          <a:custGeom>
            <a:avLst/>
            <a:gdLst/>
            <a:ahLst/>
            <a:cxnLst/>
            <a:rect l="l" t="t" r="r" b="b"/>
            <a:pathLst>
              <a:path w="4828747" h="1406431">
                <a:moveTo>
                  <a:pt x="93767" y="0"/>
                </a:moveTo>
                <a:lnTo>
                  <a:pt x="4734980" y="0"/>
                </a:lnTo>
                <a:cubicBezTo>
                  <a:pt x="4786766" y="0"/>
                  <a:pt x="4828747" y="41981"/>
                  <a:pt x="4828747" y="93767"/>
                </a:cubicBezTo>
                <a:lnTo>
                  <a:pt x="4828747" y="1312664"/>
                </a:lnTo>
                <a:cubicBezTo>
                  <a:pt x="4828747" y="1364450"/>
                  <a:pt x="4786766" y="1406431"/>
                  <a:pt x="4734980" y="1406431"/>
                </a:cubicBezTo>
                <a:lnTo>
                  <a:pt x="93767" y="1406431"/>
                </a:lnTo>
                <a:cubicBezTo>
                  <a:pt x="42015" y="1406431"/>
                  <a:pt x="0" y="1364416"/>
                  <a:pt x="0" y="1312664"/>
                </a:cubicBezTo>
                <a:lnTo>
                  <a:pt x="0" y="93767"/>
                </a:lnTo>
                <a:cubicBezTo>
                  <a:pt x="0" y="42015"/>
                  <a:pt x="42015" y="0"/>
                  <a:pt x="9376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90740" y="7651384"/>
            <a:ext cx="455918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兼顾性不足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0740" y="8073313"/>
            <a:ext cx="4547461" cy="30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难以同时满足</a:t>
            </a:r>
            <a:r>
              <a:rPr lang="en-US" sz="1477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老少皆宜</a:t>
            </a:r>
            <a:r>
              <a:rPr lang="en-US" sz="1477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477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年轻人兴趣审美</a:t>
            </a:r>
            <a:r>
              <a:rPr lang="en-US" sz="1477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的双重需求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14237" y="7463860"/>
            <a:ext cx="4828747" cy="1406431"/>
          </a:xfrm>
          <a:custGeom>
            <a:avLst/>
            <a:gdLst/>
            <a:ahLst/>
            <a:cxnLst/>
            <a:rect l="l" t="t" r="r" b="b"/>
            <a:pathLst>
              <a:path w="4828747" h="1406431">
                <a:moveTo>
                  <a:pt x="93767" y="0"/>
                </a:moveTo>
                <a:lnTo>
                  <a:pt x="4734980" y="0"/>
                </a:lnTo>
                <a:cubicBezTo>
                  <a:pt x="4786766" y="0"/>
                  <a:pt x="4828747" y="41981"/>
                  <a:pt x="4828747" y="93767"/>
                </a:cubicBezTo>
                <a:lnTo>
                  <a:pt x="4828747" y="1312664"/>
                </a:lnTo>
                <a:cubicBezTo>
                  <a:pt x="4828747" y="1364450"/>
                  <a:pt x="4786766" y="1406431"/>
                  <a:pt x="4734980" y="1406431"/>
                </a:cubicBezTo>
                <a:lnTo>
                  <a:pt x="93767" y="1406431"/>
                </a:lnTo>
                <a:cubicBezTo>
                  <a:pt x="42015" y="1406431"/>
                  <a:pt x="0" y="1364416"/>
                  <a:pt x="0" y="1312664"/>
                </a:cubicBezTo>
                <a:lnTo>
                  <a:pt x="0" y="93767"/>
                </a:lnTo>
                <a:cubicBezTo>
                  <a:pt x="0" y="42015"/>
                  <a:pt x="42015" y="0"/>
                  <a:pt x="9376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901761" y="7651384"/>
            <a:ext cx="455918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年龄分层模糊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01761" y="8073313"/>
            <a:ext cx="4547461" cy="60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缺乏针对</a:t>
            </a:r>
            <a:r>
              <a:rPr lang="en-US" sz="1477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20-35岁核心客群</a:t>
            </a:r>
            <a:r>
              <a:rPr lang="en-US" sz="1477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的专属产品设计,产品定位不够精准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725259" y="7463860"/>
            <a:ext cx="4828747" cy="1406431"/>
          </a:xfrm>
          <a:custGeom>
            <a:avLst/>
            <a:gdLst/>
            <a:ahLst/>
            <a:cxnLst/>
            <a:rect l="l" t="t" r="r" b="b"/>
            <a:pathLst>
              <a:path w="4828747" h="1406431">
                <a:moveTo>
                  <a:pt x="93767" y="0"/>
                </a:moveTo>
                <a:lnTo>
                  <a:pt x="4734980" y="0"/>
                </a:lnTo>
                <a:cubicBezTo>
                  <a:pt x="4786766" y="0"/>
                  <a:pt x="4828747" y="41981"/>
                  <a:pt x="4828747" y="93767"/>
                </a:cubicBezTo>
                <a:lnTo>
                  <a:pt x="4828747" y="1312664"/>
                </a:lnTo>
                <a:cubicBezTo>
                  <a:pt x="4828747" y="1364450"/>
                  <a:pt x="4786766" y="1406431"/>
                  <a:pt x="4734980" y="1406431"/>
                </a:cubicBezTo>
                <a:lnTo>
                  <a:pt x="93767" y="1406431"/>
                </a:lnTo>
                <a:cubicBezTo>
                  <a:pt x="42015" y="1406431"/>
                  <a:pt x="0" y="1364416"/>
                  <a:pt x="0" y="1312664"/>
                </a:cubicBezTo>
                <a:lnTo>
                  <a:pt x="0" y="93767"/>
                </a:lnTo>
                <a:cubicBezTo>
                  <a:pt x="0" y="42015"/>
                  <a:pt x="42015" y="0"/>
                  <a:pt x="93767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912783" y="7651384"/>
            <a:ext cx="455918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需求洞察待深化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12783" y="8073313"/>
            <a:ext cx="4547461" cy="60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对女性球迷的</a:t>
            </a:r>
            <a:r>
              <a:rPr lang="en-US" sz="1477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特殊需求</a:t>
            </a:r>
            <a:r>
              <a:rPr lang="en-US" sz="1477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理解不够深入,产品细节有待优化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hzhaige.com/7c37203865a5330287cacacd8cf56c86e538ac24.jpg"/>
          <p:cNvPicPr>
            <a:picLocks noChangeAspect="1"/>
          </p:cNvPicPr>
          <p:nvPr/>
        </p:nvPicPr>
        <p:blipFill>
          <a:blip r:embed="rId3"/>
          <a:srcRect t="2" b="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17813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56B4D">
                  <a:alpha val="95000"/>
                </a:srgbClr>
              </a:gs>
              <a:gs pos="50000">
                <a:srgbClr val="E56B4D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1949450"/>
            <a:ext cx="1397000" cy="508000"/>
          </a:xfrm>
          <a:custGeom>
            <a:avLst/>
            <a:gdLst/>
            <a:ahLst/>
            <a:cxnLst/>
            <a:rect l="l" t="t" r="r" b="b"/>
            <a:pathLst>
              <a:path w="1397000" h="508000">
                <a:moveTo>
                  <a:pt x="0" y="0"/>
                </a:moveTo>
                <a:lnTo>
                  <a:pt x="1397000" y="0"/>
                </a:lnTo>
                <a:lnTo>
                  <a:pt x="1397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1949450"/>
            <a:ext cx="1498600" cy="50800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762250"/>
            <a:ext cx="899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改进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措施建议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3530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708650"/>
            <a:ext cx="86868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产品优化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服务提升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精准运营三管齐下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产品优化方向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9600"/>
            <a:ext cx="4889500" cy="4876800"/>
          </a:xfrm>
          <a:custGeom>
            <a:avLst/>
            <a:gdLst/>
            <a:ahLst/>
            <a:cxnLst/>
            <a:rect l="l" t="t" r="r" b="b"/>
            <a:pathLst>
              <a:path w="4889500" h="4876800">
                <a:moveTo>
                  <a:pt x="50800" y="0"/>
                </a:moveTo>
                <a:lnTo>
                  <a:pt x="4737100" y="0"/>
                </a:lnTo>
                <a:cubicBezTo>
                  <a:pt x="4821212" y="0"/>
                  <a:pt x="4889500" y="68288"/>
                  <a:pt x="4889500" y="152400"/>
                </a:cubicBezTo>
                <a:lnTo>
                  <a:pt x="4889500" y="4724400"/>
                </a:lnTo>
                <a:cubicBezTo>
                  <a:pt x="4889500" y="4808512"/>
                  <a:pt x="4821212" y="4876800"/>
                  <a:pt x="4737100" y="4876800"/>
                </a:cubicBezTo>
                <a:lnTo>
                  <a:pt x="50800" y="4876800"/>
                </a:lnTo>
                <a:cubicBezTo>
                  <a:pt x="22744" y="4876800"/>
                  <a:pt x="0" y="4854056"/>
                  <a:pt x="0" y="482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1879600"/>
            <a:ext cx="50800" cy="4876800"/>
          </a:xfrm>
          <a:custGeom>
            <a:avLst/>
            <a:gdLst/>
            <a:ahLst/>
            <a:cxnLst/>
            <a:rect l="l" t="t" r="r" b="b"/>
            <a:pathLst>
              <a:path w="50800" h="4876800">
                <a:moveTo>
                  <a:pt x="50800" y="0"/>
                </a:moveTo>
                <a:lnTo>
                  <a:pt x="50800" y="0"/>
                </a:lnTo>
                <a:lnTo>
                  <a:pt x="50800" y="4876800"/>
                </a:lnTo>
                <a:lnTo>
                  <a:pt x="50800" y="4876800"/>
                </a:lnTo>
                <a:cubicBezTo>
                  <a:pt x="22763" y="4876800"/>
                  <a:pt x="0" y="4854037"/>
                  <a:pt x="0" y="482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Shape 5"/>
          <p:cNvSpPr/>
          <p:nvPr/>
        </p:nvSpPr>
        <p:spPr>
          <a:xfrm>
            <a:off x="863600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184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7200" y="23622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组建专业团队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" y="3098800"/>
            <a:ext cx="4254500" cy="1473200"/>
          </a:xfrm>
          <a:custGeom>
            <a:avLst/>
            <a:gdLst/>
            <a:ahLst/>
            <a:cxnLst/>
            <a:rect l="l" t="t" r="r" b="b"/>
            <a:pathLst>
              <a:path w="4254500" h="1473200">
                <a:moveTo>
                  <a:pt x="101607" y="0"/>
                </a:moveTo>
                <a:lnTo>
                  <a:pt x="4152893" y="0"/>
                </a:lnTo>
                <a:cubicBezTo>
                  <a:pt x="4209009" y="0"/>
                  <a:pt x="4254500" y="45491"/>
                  <a:pt x="4254500" y="101607"/>
                </a:cubicBezTo>
                <a:lnTo>
                  <a:pt x="4254500" y="1371593"/>
                </a:lnTo>
                <a:cubicBezTo>
                  <a:pt x="4254500" y="1427709"/>
                  <a:pt x="4209009" y="1473200"/>
                  <a:pt x="4152893" y="1473200"/>
                </a:cubicBezTo>
                <a:lnTo>
                  <a:pt x="101607" y="1473200"/>
                </a:lnTo>
                <a:cubicBezTo>
                  <a:pt x="45491" y="1473200"/>
                  <a:pt x="0" y="1427709"/>
                  <a:pt x="0" y="13715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302000"/>
            <a:ext cx="394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核心策略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66800" y="3708400"/>
            <a:ext cx="3949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资深球迷</a:t>
            </a: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参与产品策划,提升内容专业性与趣味性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89000" y="477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199" y="4724400"/>
            <a:ext cx="19515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深度理解球迷文化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89000" y="5181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5130800"/>
            <a:ext cx="185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精准把握用户需求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9000" y="5588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5537200"/>
            <a:ext cx="185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避免产品同质化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98067" y="1879600"/>
            <a:ext cx="4889500" cy="4876800"/>
          </a:xfrm>
          <a:custGeom>
            <a:avLst/>
            <a:gdLst/>
            <a:ahLst/>
            <a:cxnLst/>
            <a:rect l="l" t="t" r="r" b="b"/>
            <a:pathLst>
              <a:path w="4889500" h="4876800">
                <a:moveTo>
                  <a:pt x="50800" y="0"/>
                </a:moveTo>
                <a:lnTo>
                  <a:pt x="4737100" y="0"/>
                </a:lnTo>
                <a:cubicBezTo>
                  <a:pt x="4821212" y="0"/>
                  <a:pt x="4889500" y="68288"/>
                  <a:pt x="4889500" y="152400"/>
                </a:cubicBezTo>
                <a:lnTo>
                  <a:pt x="4889500" y="4724400"/>
                </a:lnTo>
                <a:cubicBezTo>
                  <a:pt x="4889500" y="4808512"/>
                  <a:pt x="4821212" y="4876800"/>
                  <a:pt x="4737100" y="4876800"/>
                </a:cubicBezTo>
                <a:lnTo>
                  <a:pt x="50800" y="4876800"/>
                </a:lnTo>
                <a:cubicBezTo>
                  <a:pt x="22744" y="4876800"/>
                  <a:pt x="0" y="4854056"/>
                  <a:pt x="0" y="482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Shape 18"/>
          <p:cNvSpPr/>
          <p:nvPr/>
        </p:nvSpPr>
        <p:spPr>
          <a:xfrm>
            <a:off x="5698067" y="1879600"/>
            <a:ext cx="50800" cy="4876800"/>
          </a:xfrm>
          <a:custGeom>
            <a:avLst/>
            <a:gdLst/>
            <a:ahLst/>
            <a:cxnLst/>
            <a:rect l="l" t="t" r="r" b="b"/>
            <a:pathLst>
              <a:path w="50800" h="4876800">
                <a:moveTo>
                  <a:pt x="50800" y="0"/>
                </a:moveTo>
                <a:lnTo>
                  <a:pt x="50800" y="0"/>
                </a:lnTo>
                <a:lnTo>
                  <a:pt x="50800" y="4876800"/>
                </a:lnTo>
                <a:lnTo>
                  <a:pt x="50800" y="4876800"/>
                </a:lnTo>
                <a:cubicBezTo>
                  <a:pt x="22763" y="4876800"/>
                  <a:pt x="0" y="4854037"/>
                  <a:pt x="0" y="482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28267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2" name="Text 20"/>
          <p:cNvSpPr/>
          <p:nvPr/>
        </p:nvSpPr>
        <p:spPr>
          <a:xfrm>
            <a:off x="5952067" y="2184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1867" y="23622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丰富产品供给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28267" y="3098800"/>
            <a:ext cx="4254500" cy="1473200"/>
          </a:xfrm>
          <a:custGeom>
            <a:avLst/>
            <a:gdLst/>
            <a:ahLst/>
            <a:cxnLst/>
            <a:rect l="l" t="t" r="r" b="b"/>
            <a:pathLst>
              <a:path w="4254500" h="1473200">
                <a:moveTo>
                  <a:pt x="101607" y="0"/>
                </a:moveTo>
                <a:lnTo>
                  <a:pt x="4152893" y="0"/>
                </a:lnTo>
                <a:cubicBezTo>
                  <a:pt x="4209009" y="0"/>
                  <a:pt x="4254500" y="45491"/>
                  <a:pt x="4254500" y="101607"/>
                </a:cubicBezTo>
                <a:lnTo>
                  <a:pt x="4254500" y="1371593"/>
                </a:lnTo>
                <a:cubicBezTo>
                  <a:pt x="4254500" y="1427709"/>
                  <a:pt x="4209009" y="1473200"/>
                  <a:pt x="4152893" y="1473200"/>
                </a:cubicBezTo>
                <a:lnTo>
                  <a:pt x="101607" y="1473200"/>
                </a:lnTo>
                <a:cubicBezTo>
                  <a:pt x="45491" y="1473200"/>
                  <a:pt x="0" y="1427709"/>
                  <a:pt x="0" y="13715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31467" y="3302000"/>
            <a:ext cx="394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核心策略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31467" y="3708400"/>
            <a:ext cx="3949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足球主题酒店</a:t>
            </a: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定制化交通</a:t>
            </a: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,扩大产品规模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53667" y="477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350" y="9525"/>
                </a:moveTo>
                <a:cubicBezTo>
                  <a:pt x="6350" y="4247"/>
                  <a:pt x="10597" y="0"/>
                  <a:pt x="15875" y="0"/>
                </a:cubicBezTo>
                <a:lnTo>
                  <a:pt x="187325" y="0"/>
                </a:lnTo>
                <a:cubicBezTo>
                  <a:pt x="192603" y="0"/>
                  <a:pt x="196850" y="4247"/>
                  <a:pt x="196850" y="9525"/>
                </a:cubicBezTo>
                <a:cubicBezTo>
                  <a:pt x="196850" y="14803"/>
                  <a:pt x="192603" y="19050"/>
                  <a:pt x="187325" y="19050"/>
                </a:cubicBezTo>
                <a:lnTo>
                  <a:pt x="184150" y="19050"/>
                </a:lnTo>
                <a:lnTo>
                  <a:pt x="184150" y="184150"/>
                </a:lnTo>
                <a:lnTo>
                  <a:pt x="187325" y="184150"/>
                </a:lnTo>
                <a:cubicBezTo>
                  <a:pt x="192603" y="184150"/>
                  <a:pt x="196850" y="188397"/>
                  <a:pt x="196850" y="193675"/>
                </a:cubicBezTo>
                <a:cubicBezTo>
                  <a:pt x="196850" y="198953"/>
                  <a:pt x="192603" y="203200"/>
                  <a:pt x="187325" y="203200"/>
                </a:cubicBezTo>
                <a:lnTo>
                  <a:pt x="15875" y="203200"/>
                </a:lnTo>
                <a:cubicBezTo>
                  <a:pt x="10597" y="203200"/>
                  <a:pt x="6350" y="198953"/>
                  <a:pt x="6350" y="193675"/>
                </a:cubicBezTo>
                <a:cubicBezTo>
                  <a:pt x="6350" y="188397"/>
                  <a:pt x="10597" y="184150"/>
                  <a:pt x="15875" y="184150"/>
                </a:cubicBezTo>
                <a:lnTo>
                  <a:pt x="19050" y="184150"/>
                </a:lnTo>
                <a:lnTo>
                  <a:pt x="19050" y="19050"/>
                </a:lnTo>
                <a:lnTo>
                  <a:pt x="15875" y="19050"/>
                </a:lnTo>
                <a:cubicBezTo>
                  <a:pt x="10597" y="19050"/>
                  <a:pt x="6350" y="14803"/>
                  <a:pt x="6350" y="9525"/>
                </a:cubicBezTo>
                <a:close/>
                <a:moveTo>
                  <a:pt x="88900" y="44450"/>
                </a:moveTo>
                <a:lnTo>
                  <a:pt x="88900" y="57150"/>
                </a:lnTo>
                <a:cubicBezTo>
                  <a:pt x="88900" y="60643"/>
                  <a:pt x="91757" y="63500"/>
                  <a:pt x="95250" y="63500"/>
                </a:cubicBezTo>
                <a:lnTo>
                  <a:pt x="107950" y="63500"/>
                </a:lnTo>
                <a:cubicBezTo>
                  <a:pt x="111443" y="63500"/>
                  <a:pt x="114300" y="60643"/>
                  <a:pt x="114300" y="57150"/>
                </a:cubicBezTo>
                <a:lnTo>
                  <a:pt x="114300" y="44450"/>
                </a:lnTo>
                <a:cubicBezTo>
                  <a:pt x="114300" y="40958"/>
                  <a:pt x="111443" y="38100"/>
                  <a:pt x="107950" y="38100"/>
                </a:cubicBezTo>
                <a:lnTo>
                  <a:pt x="95250" y="38100"/>
                </a:lnTo>
                <a:cubicBezTo>
                  <a:pt x="91757" y="38100"/>
                  <a:pt x="88900" y="40958"/>
                  <a:pt x="88900" y="44450"/>
                </a:cubicBezTo>
                <a:close/>
                <a:moveTo>
                  <a:pt x="50800" y="38100"/>
                </a:moveTo>
                <a:cubicBezTo>
                  <a:pt x="47308" y="38100"/>
                  <a:pt x="44450" y="40958"/>
                  <a:pt x="44450" y="44450"/>
                </a:cubicBezTo>
                <a:lnTo>
                  <a:pt x="44450" y="57150"/>
                </a:lnTo>
                <a:cubicBezTo>
                  <a:pt x="44450" y="60643"/>
                  <a:pt x="47308" y="63500"/>
                  <a:pt x="50800" y="63500"/>
                </a:cubicBezTo>
                <a:lnTo>
                  <a:pt x="63500" y="63500"/>
                </a:lnTo>
                <a:cubicBezTo>
                  <a:pt x="66993" y="63500"/>
                  <a:pt x="69850" y="60643"/>
                  <a:pt x="69850" y="57150"/>
                </a:cubicBezTo>
                <a:lnTo>
                  <a:pt x="69850" y="44450"/>
                </a:lnTo>
                <a:cubicBezTo>
                  <a:pt x="69850" y="40958"/>
                  <a:pt x="66993" y="38100"/>
                  <a:pt x="63500" y="38100"/>
                </a:cubicBezTo>
                <a:lnTo>
                  <a:pt x="50800" y="38100"/>
                </a:lnTo>
                <a:close/>
                <a:moveTo>
                  <a:pt x="88900" y="82550"/>
                </a:moveTo>
                <a:lnTo>
                  <a:pt x="88900" y="95250"/>
                </a:lnTo>
                <a:cubicBezTo>
                  <a:pt x="88900" y="98743"/>
                  <a:pt x="91757" y="101600"/>
                  <a:pt x="95250" y="101600"/>
                </a:cubicBezTo>
                <a:lnTo>
                  <a:pt x="107950" y="101600"/>
                </a:lnTo>
                <a:cubicBezTo>
                  <a:pt x="111443" y="101600"/>
                  <a:pt x="114300" y="98743"/>
                  <a:pt x="114300" y="95250"/>
                </a:cubicBezTo>
                <a:lnTo>
                  <a:pt x="114300" y="82550"/>
                </a:lnTo>
                <a:cubicBezTo>
                  <a:pt x="114300" y="79058"/>
                  <a:pt x="111443" y="76200"/>
                  <a:pt x="107950" y="76200"/>
                </a:cubicBezTo>
                <a:lnTo>
                  <a:pt x="95250" y="76200"/>
                </a:lnTo>
                <a:cubicBezTo>
                  <a:pt x="91757" y="76200"/>
                  <a:pt x="88900" y="79058"/>
                  <a:pt x="88900" y="82550"/>
                </a:cubicBezTo>
                <a:close/>
                <a:moveTo>
                  <a:pt x="139700" y="38100"/>
                </a:moveTo>
                <a:cubicBezTo>
                  <a:pt x="136208" y="38100"/>
                  <a:pt x="133350" y="40958"/>
                  <a:pt x="133350" y="44450"/>
                </a:cubicBezTo>
                <a:lnTo>
                  <a:pt x="133350" y="57150"/>
                </a:lnTo>
                <a:cubicBezTo>
                  <a:pt x="133350" y="60643"/>
                  <a:pt x="136208" y="63500"/>
                  <a:pt x="139700" y="63500"/>
                </a:cubicBezTo>
                <a:lnTo>
                  <a:pt x="152400" y="63500"/>
                </a:lnTo>
                <a:cubicBezTo>
                  <a:pt x="155893" y="63500"/>
                  <a:pt x="158750" y="60643"/>
                  <a:pt x="158750" y="57150"/>
                </a:cubicBezTo>
                <a:lnTo>
                  <a:pt x="158750" y="44450"/>
                </a:lnTo>
                <a:cubicBezTo>
                  <a:pt x="158750" y="40958"/>
                  <a:pt x="155893" y="38100"/>
                  <a:pt x="152400" y="38100"/>
                </a:cubicBezTo>
                <a:lnTo>
                  <a:pt x="139700" y="38100"/>
                </a:lnTo>
                <a:close/>
                <a:moveTo>
                  <a:pt x="44450" y="82550"/>
                </a:moveTo>
                <a:lnTo>
                  <a:pt x="44450" y="95250"/>
                </a:lnTo>
                <a:cubicBezTo>
                  <a:pt x="44450" y="98743"/>
                  <a:pt x="47308" y="101600"/>
                  <a:pt x="50800" y="101600"/>
                </a:cubicBezTo>
                <a:lnTo>
                  <a:pt x="63500" y="101600"/>
                </a:lnTo>
                <a:cubicBezTo>
                  <a:pt x="66993" y="101600"/>
                  <a:pt x="69850" y="98743"/>
                  <a:pt x="69850" y="95250"/>
                </a:cubicBezTo>
                <a:lnTo>
                  <a:pt x="69850" y="82550"/>
                </a:lnTo>
                <a:cubicBezTo>
                  <a:pt x="69850" y="79058"/>
                  <a:pt x="66993" y="76200"/>
                  <a:pt x="63500" y="76200"/>
                </a:cubicBezTo>
                <a:lnTo>
                  <a:pt x="50800" y="76200"/>
                </a:lnTo>
                <a:cubicBezTo>
                  <a:pt x="47308" y="76200"/>
                  <a:pt x="44450" y="79058"/>
                  <a:pt x="44450" y="82550"/>
                </a:cubicBezTo>
                <a:close/>
                <a:moveTo>
                  <a:pt x="139700" y="76200"/>
                </a:moveTo>
                <a:cubicBezTo>
                  <a:pt x="136208" y="76200"/>
                  <a:pt x="133350" y="79058"/>
                  <a:pt x="133350" y="82550"/>
                </a:cubicBezTo>
                <a:lnTo>
                  <a:pt x="133350" y="95250"/>
                </a:lnTo>
                <a:cubicBezTo>
                  <a:pt x="133350" y="98743"/>
                  <a:pt x="136208" y="101600"/>
                  <a:pt x="139700" y="101600"/>
                </a:cubicBezTo>
                <a:lnTo>
                  <a:pt x="152400" y="101600"/>
                </a:lnTo>
                <a:cubicBezTo>
                  <a:pt x="155893" y="101600"/>
                  <a:pt x="158750" y="98743"/>
                  <a:pt x="158750" y="95250"/>
                </a:cubicBezTo>
                <a:lnTo>
                  <a:pt x="158750" y="82550"/>
                </a:lnTo>
                <a:cubicBezTo>
                  <a:pt x="158750" y="79058"/>
                  <a:pt x="155893" y="76200"/>
                  <a:pt x="152400" y="76200"/>
                </a:cubicBezTo>
                <a:lnTo>
                  <a:pt x="139700" y="76200"/>
                </a:lnTo>
                <a:close/>
                <a:moveTo>
                  <a:pt x="114300" y="152400"/>
                </a:moveTo>
                <a:lnTo>
                  <a:pt x="131683" y="152400"/>
                </a:lnTo>
                <a:cubicBezTo>
                  <a:pt x="135612" y="152400"/>
                  <a:pt x="138628" y="148828"/>
                  <a:pt x="137239" y="145177"/>
                </a:cubicBezTo>
                <a:cubicBezTo>
                  <a:pt x="131763" y="130850"/>
                  <a:pt x="117872" y="120650"/>
                  <a:pt x="101640" y="120650"/>
                </a:cubicBezTo>
                <a:cubicBezTo>
                  <a:pt x="85408" y="120650"/>
                  <a:pt x="71517" y="130850"/>
                  <a:pt x="66040" y="145177"/>
                </a:cubicBezTo>
                <a:cubicBezTo>
                  <a:pt x="64651" y="148828"/>
                  <a:pt x="67667" y="152400"/>
                  <a:pt x="71596" y="152400"/>
                </a:cubicBezTo>
                <a:lnTo>
                  <a:pt x="88979" y="152400"/>
                </a:lnTo>
                <a:lnTo>
                  <a:pt x="88979" y="184150"/>
                </a:lnTo>
                <a:lnTo>
                  <a:pt x="114379" y="184150"/>
                </a:lnTo>
                <a:lnTo>
                  <a:pt x="114379" y="15240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8" name="Text 26"/>
          <p:cNvSpPr/>
          <p:nvPr/>
        </p:nvSpPr>
        <p:spPr>
          <a:xfrm>
            <a:off x="6383867" y="4724400"/>
            <a:ext cx="150134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主题酒店</a:t>
            </a: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sz="1600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民宿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79067" y="51816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38100"/>
                </a:moveTo>
                <a:cubicBezTo>
                  <a:pt x="0" y="17066"/>
                  <a:pt x="17066" y="0"/>
                  <a:pt x="38100" y="0"/>
                </a:cubicBezTo>
                <a:lnTo>
                  <a:pt x="114300" y="0"/>
                </a:lnTo>
                <a:cubicBezTo>
                  <a:pt x="135334" y="0"/>
                  <a:pt x="152400" y="17066"/>
                  <a:pt x="152400" y="38100"/>
                </a:cubicBezTo>
                <a:lnTo>
                  <a:pt x="152400" y="139700"/>
                </a:lnTo>
                <a:cubicBezTo>
                  <a:pt x="152400" y="155615"/>
                  <a:pt x="142637" y="169267"/>
                  <a:pt x="128786" y="174943"/>
                </a:cubicBezTo>
                <a:lnTo>
                  <a:pt x="150178" y="200223"/>
                </a:lnTo>
                <a:cubicBezTo>
                  <a:pt x="153591" y="204232"/>
                  <a:pt x="153075" y="210264"/>
                  <a:pt x="149066" y="213638"/>
                </a:cubicBezTo>
                <a:cubicBezTo>
                  <a:pt x="145058" y="217011"/>
                  <a:pt x="139025" y="216535"/>
                  <a:pt x="135652" y="212527"/>
                </a:cubicBezTo>
                <a:lnTo>
                  <a:pt x="106283" y="177800"/>
                </a:lnTo>
                <a:lnTo>
                  <a:pt x="46236" y="177800"/>
                </a:lnTo>
                <a:lnTo>
                  <a:pt x="16867" y="212527"/>
                </a:lnTo>
                <a:cubicBezTo>
                  <a:pt x="13454" y="216535"/>
                  <a:pt x="7461" y="217051"/>
                  <a:pt x="3453" y="213638"/>
                </a:cubicBezTo>
                <a:cubicBezTo>
                  <a:pt x="-556" y="210225"/>
                  <a:pt x="-1072" y="204232"/>
                  <a:pt x="2342" y="200223"/>
                </a:cubicBezTo>
                <a:lnTo>
                  <a:pt x="23733" y="174943"/>
                </a:lnTo>
                <a:cubicBezTo>
                  <a:pt x="9763" y="169267"/>
                  <a:pt x="0" y="155615"/>
                  <a:pt x="0" y="139700"/>
                </a:cubicBezTo>
                <a:lnTo>
                  <a:pt x="0" y="38100"/>
                </a:lnTo>
                <a:close/>
                <a:moveTo>
                  <a:pt x="25400" y="50800"/>
                </a:moveTo>
                <a:lnTo>
                  <a:pt x="25400" y="88900"/>
                </a:lnTo>
                <a:cubicBezTo>
                  <a:pt x="25400" y="95925"/>
                  <a:pt x="31075" y="101600"/>
                  <a:pt x="38100" y="101600"/>
                </a:cubicBezTo>
                <a:lnTo>
                  <a:pt x="114300" y="101600"/>
                </a:lnTo>
                <a:cubicBezTo>
                  <a:pt x="121325" y="101600"/>
                  <a:pt x="127000" y="95925"/>
                  <a:pt x="127000" y="88900"/>
                </a:cubicBezTo>
                <a:lnTo>
                  <a:pt x="127000" y="50800"/>
                </a:lnTo>
                <a:cubicBezTo>
                  <a:pt x="127000" y="43775"/>
                  <a:pt x="121325" y="38100"/>
                  <a:pt x="114300" y="38100"/>
                </a:cubicBezTo>
                <a:lnTo>
                  <a:pt x="38100" y="38100"/>
                </a:lnTo>
                <a:cubicBezTo>
                  <a:pt x="31075" y="38100"/>
                  <a:pt x="25400" y="43775"/>
                  <a:pt x="25400" y="50800"/>
                </a:cubicBezTo>
                <a:close/>
                <a:moveTo>
                  <a:pt x="76200" y="152400"/>
                </a:moveTo>
                <a:cubicBezTo>
                  <a:pt x="83209" y="152400"/>
                  <a:pt x="88900" y="146709"/>
                  <a:pt x="88900" y="139700"/>
                </a:cubicBezTo>
                <a:cubicBezTo>
                  <a:pt x="88900" y="132691"/>
                  <a:pt x="83209" y="127000"/>
                  <a:pt x="76200" y="127000"/>
                </a:cubicBezTo>
                <a:cubicBezTo>
                  <a:pt x="69191" y="127000"/>
                  <a:pt x="63500" y="132691"/>
                  <a:pt x="63500" y="139700"/>
                </a:cubicBezTo>
                <a:cubicBezTo>
                  <a:pt x="63500" y="146709"/>
                  <a:pt x="69191" y="152400"/>
                  <a:pt x="76200" y="15240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30" name="Text 28"/>
          <p:cNvSpPr/>
          <p:nvPr/>
        </p:nvSpPr>
        <p:spPr>
          <a:xfrm>
            <a:off x="6383866" y="5130800"/>
            <a:ext cx="174413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球迷专列</a:t>
            </a:r>
            <a:r>
              <a:rPr lang="en-US" sz="1600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/包车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40967" y="55880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0" y="50800"/>
                </a:moveTo>
                <a:cubicBezTo>
                  <a:pt x="0" y="36790"/>
                  <a:pt x="11390" y="25400"/>
                  <a:pt x="25400" y="25400"/>
                </a:cubicBezTo>
                <a:lnTo>
                  <a:pt x="203200" y="25400"/>
                </a:lnTo>
                <a:cubicBezTo>
                  <a:pt x="217210" y="25400"/>
                  <a:pt x="228600" y="36790"/>
                  <a:pt x="228600" y="50800"/>
                </a:cubicBezTo>
                <a:lnTo>
                  <a:pt x="228600" y="76200"/>
                </a:lnTo>
                <a:cubicBezTo>
                  <a:pt x="228600" y="79693"/>
                  <a:pt x="225663" y="82431"/>
                  <a:pt x="222369" y="83582"/>
                </a:cubicBezTo>
                <a:cubicBezTo>
                  <a:pt x="214908" y="86162"/>
                  <a:pt x="209550" y="93266"/>
                  <a:pt x="209550" y="101600"/>
                </a:cubicBezTo>
                <a:cubicBezTo>
                  <a:pt x="209550" y="109934"/>
                  <a:pt x="214908" y="117038"/>
                  <a:pt x="222369" y="119618"/>
                </a:cubicBezTo>
                <a:cubicBezTo>
                  <a:pt x="225663" y="120769"/>
                  <a:pt x="228600" y="123507"/>
                  <a:pt x="228600" y="127000"/>
                </a:cubicBezTo>
                <a:lnTo>
                  <a:pt x="228600" y="152400"/>
                </a:lnTo>
                <a:cubicBezTo>
                  <a:pt x="228600" y="166410"/>
                  <a:pt x="217210" y="177800"/>
                  <a:pt x="203200" y="177800"/>
                </a:cubicBezTo>
                <a:lnTo>
                  <a:pt x="25400" y="177800"/>
                </a:lnTo>
                <a:cubicBezTo>
                  <a:pt x="11390" y="177800"/>
                  <a:pt x="0" y="166410"/>
                  <a:pt x="0" y="152400"/>
                </a:cubicBezTo>
                <a:lnTo>
                  <a:pt x="0" y="127000"/>
                </a:lnTo>
                <a:cubicBezTo>
                  <a:pt x="0" y="123507"/>
                  <a:pt x="2937" y="120769"/>
                  <a:pt x="6231" y="119618"/>
                </a:cubicBezTo>
                <a:cubicBezTo>
                  <a:pt x="13692" y="117038"/>
                  <a:pt x="19050" y="109934"/>
                  <a:pt x="19050" y="101600"/>
                </a:cubicBezTo>
                <a:cubicBezTo>
                  <a:pt x="19050" y="93266"/>
                  <a:pt x="13692" y="86162"/>
                  <a:pt x="6231" y="83582"/>
                </a:cubicBezTo>
                <a:cubicBezTo>
                  <a:pt x="2937" y="82431"/>
                  <a:pt x="0" y="79693"/>
                  <a:pt x="0" y="76200"/>
                </a:cubicBezTo>
                <a:lnTo>
                  <a:pt x="0" y="5080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32" name="Text 30"/>
          <p:cNvSpPr/>
          <p:nvPr/>
        </p:nvSpPr>
        <p:spPr>
          <a:xfrm>
            <a:off x="6383866" y="5537200"/>
            <a:ext cx="1501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套票产品组合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862734" y="1879600"/>
            <a:ext cx="4889500" cy="4876800"/>
          </a:xfrm>
          <a:custGeom>
            <a:avLst/>
            <a:gdLst/>
            <a:ahLst/>
            <a:cxnLst/>
            <a:rect l="l" t="t" r="r" b="b"/>
            <a:pathLst>
              <a:path w="4889500" h="4876800">
                <a:moveTo>
                  <a:pt x="50800" y="0"/>
                </a:moveTo>
                <a:lnTo>
                  <a:pt x="4737100" y="0"/>
                </a:lnTo>
                <a:cubicBezTo>
                  <a:pt x="4821212" y="0"/>
                  <a:pt x="4889500" y="68288"/>
                  <a:pt x="4889500" y="152400"/>
                </a:cubicBezTo>
                <a:lnTo>
                  <a:pt x="4889500" y="4724400"/>
                </a:lnTo>
                <a:cubicBezTo>
                  <a:pt x="4889500" y="4808512"/>
                  <a:pt x="4821212" y="4876800"/>
                  <a:pt x="4737100" y="4876800"/>
                </a:cubicBezTo>
                <a:lnTo>
                  <a:pt x="50800" y="4876800"/>
                </a:lnTo>
                <a:cubicBezTo>
                  <a:pt x="22744" y="4876800"/>
                  <a:pt x="0" y="4854056"/>
                  <a:pt x="0" y="482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4" name="Shape 32"/>
          <p:cNvSpPr/>
          <p:nvPr/>
        </p:nvSpPr>
        <p:spPr>
          <a:xfrm>
            <a:off x="10862734" y="1879600"/>
            <a:ext cx="50800" cy="4876800"/>
          </a:xfrm>
          <a:custGeom>
            <a:avLst/>
            <a:gdLst/>
            <a:ahLst/>
            <a:cxnLst/>
            <a:rect l="l" t="t" r="r" b="b"/>
            <a:pathLst>
              <a:path w="50800" h="4876800">
                <a:moveTo>
                  <a:pt x="50800" y="0"/>
                </a:moveTo>
                <a:lnTo>
                  <a:pt x="50800" y="0"/>
                </a:lnTo>
                <a:lnTo>
                  <a:pt x="50800" y="4876800"/>
                </a:lnTo>
                <a:lnTo>
                  <a:pt x="50800" y="4876800"/>
                </a:lnTo>
                <a:cubicBezTo>
                  <a:pt x="22763" y="4876800"/>
                  <a:pt x="0" y="4854037"/>
                  <a:pt x="0" y="482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192934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6" name="Text 34"/>
          <p:cNvSpPr/>
          <p:nvPr/>
        </p:nvSpPr>
        <p:spPr>
          <a:xfrm>
            <a:off x="11116734" y="2184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056534" y="23622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创新主题设计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192934" y="3098800"/>
            <a:ext cx="4254500" cy="1473200"/>
          </a:xfrm>
          <a:custGeom>
            <a:avLst/>
            <a:gdLst/>
            <a:ahLst/>
            <a:cxnLst/>
            <a:rect l="l" t="t" r="r" b="b"/>
            <a:pathLst>
              <a:path w="4254500" h="1473200">
                <a:moveTo>
                  <a:pt x="101607" y="0"/>
                </a:moveTo>
                <a:lnTo>
                  <a:pt x="4152893" y="0"/>
                </a:lnTo>
                <a:cubicBezTo>
                  <a:pt x="4209009" y="0"/>
                  <a:pt x="4254500" y="45491"/>
                  <a:pt x="4254500" y="101607"/>
                </a:cubicBezTo>
                <a:lnTo>
                  <a:pt x="4254500" y="1371593"/>
                </a:lnTo>
                <a:cubicBezTo>
                  <a:pt x="4254500" y="1427709"/>
                  <a:pt x="4209009" y="1473200"/>
                  <a:pt x="4152893" y="1473200"/>
                </a:cubicBezTo>
                <a:lnTo>
                  <a:pt x="101607" y="1473200"/>
                </a:lnTo>
                <a:cubicBezTo>
                  <a:pt x="45491" y="1473200"/>
                  <a:pt x="0" y="1427709"/>
                  <a:pt x="0" y="13715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396134" y="3302000"/>
            <a:ext cx="394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核心策略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396134" y="3708400"/>
            <a:ext cx="3949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推出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年轻化、时尚化</a:t>
            </a: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主题活动,贴合20-35岁核心人群需求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1218334" y="477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101600"/>
                </a:moveTo>
                <a:cubicBezTo>
                  <a:pt x="203200" y="101957"/>
                  <a:pt x="203200" y="102314"/>
                  <a:pt x="203200" y="102672"/>
                </a:cubicBezTo>
                <a:cubicBezTo>
                  <a:pt x="203041" y="117157"/>
                  <a:pt x="189865" y="127000"/>
                  <a:pt x="175379" y="127000"/>
                </a:cubicBezTo>
                <a:lnTo>
                  <a:pt x="136525" y="127000"/>
                </a:lnTo>
                <a:cubicBezTo>
                  <a:pt x="126008" y="127000"/>
                  <a:pt x="117475" y="135533"/>
                  <a:pt x="117475" y="146050"/>
                </a:cubicBezTo>
                <a:cubicBezTo>
                  <a:pt x="117475" y="147399"/>
                  <a:pt x="117634" y="148709"/>
                  <a:pt x="117872" y="149979"/>
                </a:cubicBezTo>
                <a:cubicBezTo>
                  <a:pt x="118705" y="154027"/>
                  <a:pt x="120452" y="157917"/>
                  <a:pt x="122158" y="161846"/>
                </a:cubicBezTo>
                <a:cubicBezTo>
                  <a:pt x="124579" y="167323"/>
                  <a:pt x="126960" y="172760"/>
                  <a:pt x="126960" y="178514"/>
                </a:cubicBezTo>
                <a:cubicBezTo>
                  <a:pt x="126960" y="191135"/>
                  <a:pt x="118388" y="202605"/>
                  <a:pt x="105767" y="203121"/>
                </a:cubicBezTo>
                <a:cubicBezTo>
                  <a:pt x="104378" y="203160"/>
                  <a:pt x="102989" y="203200"/>
                  <a:pt x="101560" y="203200"/>
                </a:cubicBezTo>
                <a:cubicBezTo>
                  <a:pt x="45442" y="203200"/>
                  <a:pt x="-40" y="157718"/>
                  <a:pt x="-40" y="101600"/>
                </a:cubicBezTo>
                <a:cubicBezTo>
                  <a:pt x="-40" y="45482"/>
                  <a:pt x="45482" y="0"/>
                  <a:pt x="101600" y="0"/>
                </a:cubicBezTo>
                <a:cubicBezTo>
                  <a:pt x="157718" y="0"/>
                  <a:pt x="203200" y="45482"/>
                  <a:pt x="203200" y="101600"/>
                </a:cubicBezTo>
                <a:close/>
                <a:moveTo>
                  <a:pt x="50800" y="114300"/>
                </a:moveTo>
                <a:cubicBezTo>
                  <a:pt x="50800" y="107291"/>
                  <a:pt x="45109" y="101600"/>
                  <a:pt x="38100" y="101600"/>
                </a:cubicBezTo>
                <a:cubicBezTo>
                  <a:pt x="31091" y="101600"/>
                  <a:pt x="25400" y="107291"/>
                  <a:pt x="25400" y="114300"/>
                </a:cubicBezTo>
                <a:cubicBezTo>
                  <a:pt x="25400" y="121309"/>
                  <a:pt x="31091" y="127000"/>
                  <a:pt x="38100" y="127000"/>
                </a:cubicBezTo>
                <a:cubicBezTo>
                  <a:pt x="45109" y="127000"/>
                  <a:pt x="50800" y="121309"/>
                  <a:pt x="50800" y="114300"/>
                </a:cubicBezTo>
                <a:close/>
                <a:moveTo>
                  <a:pt x="50800" y="76200"/>
                </a:moveTo>
                <a:cubicBezTo>
                  <a:pt x="57809" y="76200"/>
                  <a:pt x="63500" y="70509"/>
                  <a:pt x="63500" y="63500"/>
                </a:cubicBezTo>
                <a:cubicBezTo>
                  <a:pt x="63500" y="56491"/>
                  <a:pt x="57809" y="50800"/>
                  <a:pt x="50800" y="50800"/>
                </a:cubicBezTo>
                <a:cubicBezTo>
                  <a:pt x="43791" y="50800"/>
                  <a:pt x="38100" y="56491"/>
                  <a:pt x="38100" y="63500"/>
                </a:cubicBezTo>
                <a:cubicBezTo>
                  <a:pt x="38100" y="70509"/>
                  <a:pt x="43791" y="76200"/>
                  <a:pt x="50800" y="762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52400" y="76200"/>
                </a:moveTo>
                <a:cubicBezTo>
                  <a:pt x="159409" y="76200"/>
                  <a:pt x="165100" y="70509"/>
                  <a:pt x="165100" y="63500"/>
                </a:cubicBezTo>
                <a:cubicBezTo>
                  <a:pt x="165100" y="56491"/>
                  <a:pt x="159409" y="50800"/>
                  <a:pt x="152400" y="50800"/>
                </a:cubicBezTo>
                <a:cubicBezTo>
                  <a:pt x="145391" y="50800"/>
                  <a:pt x="139700" y="56491"/>
                  <a:pt x="139700" y="63500"/>
                </a:cubicBezTo>
                <a:cubicBezTo>
                  <a:pt x="139700" y="70509"/>
                  <a:pt x="145391" y="76200"/>
                  <a:pt x="152400" y="7620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2" name="Text 40"/>
          <p:cNvSpPr/>
          <p:nvPr/>
        </p:nvSpPr>
        <p:spPr>
          <a:xfrm>
            <a:off x="11548534" y="4724400"/>
            <a:ext cx="14430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时尚视觉设计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1218334" y="5181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9174" y="25717"/>
                </a:moveTo>
                <a:lnTo>
                  <a:pt x="55047" y="38100"/>
                </a:lnTo>
                <a:lnTo>
                  <a:pt x="25400" y="38100"/>
                </a:lnTo>
                <a:cubicBezTo>
                  <a:pt x="11390" y="38100"/>
                  <a:pt x="0" y="49490"/>
                  <a:pt x="0" y="635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77800" y="190500"/>
                </a:lnTo>
                <a:cubicBezTo>
                  <a:pt x="191810" y="190500"/>
                  <a:pt x="203200" y="179110"/>
                  <a:pt x="203200" y="165100"/>
                </a:cubicBezTo>
                <a:lnTo>
                  <a:pt x="203200" y="63500"/>
                </a:lnTo>
                <a:cubicBezTo>
                  <a:pt x="203200" y="49490"/>
                  <a:pt x="191810" y="38100"/>
                  <a:pt x="177800" y="38100"/>
                </a:cubicBezTo>
                <a:lnTo>
                  <a:pt x="148153" y="38100"/>
                </a:lnTo>
                <a:lnTo>
                  <a:pt x="144026" y="25717"/>
                </a:lnTo>
                <a:cubicBezTo>
                  <a:pt x="141446" y="17939"/>
                  <a:pt x="134183" y="12700"/>
                  <a:pt x="125968" y="12700"/>
                </a:cubicBezTo>
                <a:lnTo>
                  <a:pt x="77232" y="12700"/>
                </a:lnTo>
                <a:cubicBezTo>
                  <a:pt x="69017" y="12700"/>
                  <a:pt x="61754" y="17939"/>
                  <a:pt x="59174" y="25717"/>
                </a:cubicBezTo>
                <a:close/>
                <a:moveTo>
                  <a:pt x="101600" y="76200"/>
                </a:moveTo>
                <a:cubicBezTo>
                  <a:pt x="122628" y="76200"/>
                  <a:pt x="139700" y="93272"/>
                  <a:pt x="139700" y="114300"/>
                </a:cubicBezTo>
                <a:cubicBezTo>
                  <a:pt x="139700" y="135328"/>
                  <a:pt x="122628" y="152400"/>
                  <a:pt x="101600" y="152400"/>
                </a:cubicBezTo>
                <a:cubicBezTo>
                  <a:pt x="80572" y="152400"/>
                  <a:pt x="63500" y="135328"/>
                  <a:pt x="63500" y="114300"/>
                </a:cubicBezTo>
                <a:cubicBezTo>
                  <a:pt x="63500" y="93272"/>
                  <a:pt x="80572" y="76200"/>
                  <a:pt x="101600" y="7620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4" name="Text 42"/>
          <p:cNvSpPr/>
          <p:nvPr/>
        </p:nvSpPr>
        <p:spPr>
          <a:xfrm>
            <a:off x="11548533" y="5130800"/>
            <a:ext cx="14430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网红打卡元素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1218334" y="5588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85738" y="2778"/>
                </a:moveTo>
                <a:cubicBezTo>
                  <a:pt x="188754" y="5199"/>
                  <a:pt x="190500" y="8850"/>
                  <a:pt x="190500" y="12700"/>
                </a:cubicBezTo>
                <a:lnTo>
                  <a:pt x="190500" y="133350"/>
                </a:lnTo>
                <a:cubicBezTo>
                  <a:pt x="190500" y="150892"/>
                  <a:pt x="173434" y="165100"/>
                  <a:pt x="152400" y="165100"/>
                </a:cubicBezTo>
                <a:cubicBezTo>
                  <a:pt x="131366" y="165100"/>
                  <a:pt x="114300" y="150892"/>
                  <a:pt x="114300" y="133350"/>
                </a:cubicBezTo>
                <a:cubicBezTo>
                  <a:pt x="114300" y="115808"/>
                  <a:pt x="131366" y="101600"/>
                  <a:pt x="152400" y="101600"/>
                </a:cubicBezTo>
                <a:cubicBezTo>
                  <a:pt x="156845" y="101600"/>
                  <a:pt x="161131" y="102235"/>
                  <a:pt x="165100" y="103426"/>
                </a:cubicBezTo>
                <a:lnTo>
                  <a:pt x="165100" y="57110"/>
                </a:lnTo>
                <a:lnTo>
                  <a:pt x="76200" y="76875"/>
                </a:lnTo>
                <a:lnTo>
                  <a:pt x="76200" y="158750"/>
                </a:lnTo>
                <a:cubicBezTo>
                  <a:pt x="76200" y="176292"/>
                  <a:pt x="59134" y="190500"/>
                  <a:pt x="38100" y="190500"/>
                </a:cubicBezTo>
                <a:cubicBezTo>
                  <a:pt x="17066" y="190500"/>
                  <a:pt x="0" y="176292"/>
                  <a:pt x="0" y="158750"/>
                </a:cubicBezTo>
                <a:cubicBezTo>
                  <a:pt x="0" y="141208"/>
                  <a:pt x="17066" y="127000"/>
                  <a:pt x="38100" y="127000"/>
                </a:cubicBezTo>
                <a:cubicBezTo>
                  <a:pt x="42545" y="127000"/>
                  <a:pt x="46831" y="127635"/>
                  <a:pt x="50800" y="128826"/>
                </a:cubicBezTo>
                <a:lnTo>
                  <a:pt x="50800" y="38100"/>
                </a:lnTo>
                <a:cubicBezTo>
                  <a:pt x="50800" y="32147"/>
                  <a:pt x="54928" y="26988"/>
                  <a:pt x="60762" y="25717"/>
                </a:cubicBezTo>
                <a:lnTo>
                  <a:pt x="175062" y="317"/>
                </a:lnTo>
                <a:cubicBezTo>
                  <a:pt x="178832" y="-516"/>
                  <a:pt x="182761" y="397"/>
                  <a:pt x="185777" y="2818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6" name="Text 44"/>
          <p:cNvSpPr/>
          <p:nvPr/>
        </p:nvSpPr>
        <p:spPr>
          <a:xfrm>
            <a:off x="11548534" y="5537200"/>
            <a:ext cx="152619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潮流文化活动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81000" y="6908800"/>
            <a:ext cx="15240000" cy="1625600"/>
          </a:xfrm>
          <a:custGeom>
            <a:avLst/>
            <a:gdLst/>
            <a:ahLst/>
            <a:cxnLst/>
            <a:rect l="l" t="t" r="r" b="b"/>
            <a:pathLst>
              <a:path w="15240000" h="1625600">
                <a:moveTo>
                  <a:pt x="152400" y="0"/>
                </a:moveTo>
                <a:lnTo>
                  <a:pt x="15087600" y="0"/>
                </a:lnTo>
                <a:cubicBezTo>
                  <a:pt x="15171712" y="0"/>
                  <a:pt x="15240000" y="68288"/>
                  <a:pt x="15240000" y="152400"/>
                </a:cubicBezTo>
                <a:lnTo>
                  <a:pt x="15240000" y="1473200"/>
                </a:lnTo>
                <a:cubicBezTo>
                  <a:pt x="15240000" y="1557312"/>
                  <a:pt x="15171712" y="1625600"/>
                  <a:pt x="150876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8" name="Shape 46"/>
          <p:cNvSpPr/>
          <p:nvPr/>
        </p:nvSpPr>
        <p:spPr>
          <a:xfrm>
            <a:off x="876300" y="7594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9" name="Text 47"/>
          <p:cNvSpPr/>
          <p:nvPr/>
        </p:nvSpPr>
        <p:spPr>
          <a:xfrm>
            <a:off x="1536700" y="7264400"/>
            <a:ext cx="140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产品优化核心目标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36700" y="7721600"/>
            <a:ext cx="14058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专业团队+丰富供给+创新设计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三位一体策略,打造既懂球又时尚、既有深度又有广度的足球主题旅游产品体系,精准满足20-35岁已工作女性球迷的多元化需求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 IMPROVEMENT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服务提升措施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9600"/>
            <a:ext cx="4914900" cy="4927600"/>
          </a:xfrm>
          <a:custGeom>
            <a:avLst/>
            <a:gdLst/>
            <a:ahLst/>
            <a:cxnLst/>
            <a:rect l="l" t="t" r="r" b="b"/>
            <a:pathLst>
              <a:path w="4914900" h="4927600">
                <a:moveTo>
                  <a:pt x="50800" y="0"/>
                </a:moveTo>
                <a:lnTo>
                  <a:pt x="4762489" y="0"/>
                </a:lnTo>
                <a:cubicBezTo>
                  <a:pt x="4846663" y="0"/>
                  <a:pt x="4914900" y="68237"/>
                  <a:pt x="4914900" y="152411"/>
                </a:cubicBezTo>
                <a:lnTo>
                  <a:pt x="4914900" y="4775189"/>
                </a:lnTo>
                <a:cubicBezTo>
                  <a:pt x="4914900" y="4859363"/>
                  <a:pt x="4846663" y="4927600"/>
                  <a:pt x="4762489" y="4927600"/>
                </a:cubicBezTo>
                <a:lnTo>
                  <a:pt x="50800" y="4927600"/>
                </a:lnTo>
                <a:cubicBezTo>
                  <a:pt x="22744" y="4927600"/>
                  <a:pt x="0" y="4904856"/>
                  <a:pt x="0" y="487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1778000"/>
            <a:ext cx="50800" cy="4927600"/>
          </a:xfrm>
          <a:custGeom>
            <a:avLst/>
            <a:gdLst/>
            <a:ahLst/>
            <a:cxnLst/>
            <a:rect l="l" t="t" r="r" b="b"/>
            <a:pathLst>
              <a:path w="50800" h="4927600">
                <a:moveTo>
                  <a:pt x="50800" y="0"/>
                </a:moveTo>
                <a:lnTo>
                  <a:pt x="50800" y="0"/>
                </a:lnTo>
                <a:lnTo>
                  <a:pt x="50800" y="4927600"/>
                </a:lnTo>
                <a:lnTo>
                  <a:pt x="50800" y="4927600"/>
                </a:lnTo>
                <a:cubicBezTo>
                  <a:pt x="22763" y="4927600"/>
                  <a:pt x="0" y="4904837"/>
                  <a:pt x="0" y="487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2133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Text 6"/>
          <p:cNvSpPr/>
          <p:nvPr/>
        </p:nvSpPr>
        <p:spPr>
          <a:xfrm>
            <a:off x="749300" y="21336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4800" y="22606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优化票务服务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2895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3048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俱乐部官网增设散客购票通道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5200" y="34036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简化购票流程,提供便捷的官方购票渠道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12800" y="3911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Text 12"/>
          <p:cNvSpPr/>
          <p:nvPr/>
        </p:nvSpPr>
        <p:spPr>
          <a:xfrm>
            <a:off x="965200" y="4064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高频出行球迷优惠政策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5200" y="4453741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为忠实球迷提供专属折扣,提升用户粘性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2800" y="4927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5200" y="5080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套票产品创新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8200" y="5496047"/>
            <a:ext cx="4508500" cy="18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开发球票+交通+住宿一体化产品,提升便利性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81133" y="1879600"/>
            <a:ext cx="4914900" cy="4927600"/>
          </a:xfrm>
          <a:custGeom>
            <a:avLst/>
            <a:gdLst/>
            <a:ahLst/>
            <a:cxnLst/>
            <a:rect l="l" t="t" r="r" b="b"/>
            <a:pathLst>
              <a:path w="4914900" h="4927600">
                <a:moveTo>
                  <a:pt x="50800" y="0"/>
                </a:moveTo>
                <a:lnTo>
                  <a:pt x="4762489" y="0"/>
                </a:lnTo>
                <a:cubicBezTo>
                  <a:pt x="4846663" y="0"/>
                  <a:pt x="4914900" y="68237"/>
                  <a:pt x="4914900" y="152411"/>
                </a:cubicBezTo>
                <a:lnTo>
                  <a:pt x="4914900" y="4775189"/>
                </a:lnTo>
                <a:cubicBezTo>
                  <a:pt x="4914900" y="4859363"/>
                  <a:pt x="4846663" y="4927600"/>
                  <a:pt x="4762489" y="4927600"/>
                </a:cubicBezTo>
                <a:lnTo>
                  <a:pt x="50800" y="4927600"/>
                </a:lnTo>
                <a:cubicBezTo>
                  <a:pt x="22744" y="4927600"/>
                  <a:pt x="0" y="4904856"/>
                  <a:pt x="0" y="487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81133" y="1879600"/>
            <a:ext cx="50800" cy="4927600"/>
          </a:xfrm>
          <a:custGeom>
            <a:avLst/>
            <a:gdLst/>
            <a:ahLst/>
            <a:cxnLst/>
            <a:rect l="l" t="t" r="r" b="b"/>
            <a:pathLst>
              <a:path w="50800" h="4927600">
                <a:moveTo>
                  <a:pt x="50800" y="0"/>
                </a:moveTo>
                <a:lnTo>
                  <a:pt x="50800" y="0"/>
                </a:lnTo>
                <a:lnTo>
                  <a:pt x="50800" y="4927600"/>
                </a:lnTo>
                <a:lnTo>
                  <a:pt x="50800" y="4927600"/>
                </a:lnTo>
                <a:cubicBezTo>
                  <a:pt x="22763" y="4927600"/>
                  <a:pt x="0" y="4904837"/>
                  <a:pt x="0" y="487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1" name="Shape 19"/>
          <p:cNvSpPr/>
          <p:nvPr/>
        </p:nvSpPr>
        <p:spPr>
          <a:xfrm>
            <a:off x="5960533" y="2133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033" y="21336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2534" y="22606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改善观赛体验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60533" y="2895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12933" y="3048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合理规划客队球迷座位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12933" y="34036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避免对立冲突,保障观赛安全与氛围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60533" y="3911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112933" y="4064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搭建球迷互动平台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12933" y="44196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促进球迷群体融合,增强归属感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60533" y="4927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12933" y="5080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现场服务保障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12933" y="54356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提供女性专属区域、便利设施等贴心服务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828867" y="1879600"/>
            <a:ext cx="4914900" cy="4927600"/>
          </a:xfrm>
          <a:custGeom>
            <a:avLst/>
            <a:gdLst/>
            <a:ahLst/>
            <a:cxnLst/>
            <a:rect l="l" t="t" r="r" b="b"/>
            <a:pathLst>
              <a:path w="4914900" h="4927600">
                <a:moveTo>
                  <a:pt x="50800" y="0"/>
                </a:moveTo>
                <a:lnTo>
                  <a:pt x="4762489" y="0"/>
                </a:lnTo>
                <a:cubicBezTo>
                  <a:pt x="4846663" y="0"/>
                  <a:pt x="4914900" y="68237"/>
                  <a:pt x="4914900" y="152411"/>
                </a:cubicBezTo>
                <a:lnTo>
                  <a:pt x="4914900" y="4775189"/>
                </a:lnTo>
                <a:cubicBezTo>
                  <a:pt x="4914900" y="4859363"/>
                  <a:pt x="4846663" y="4927600"/>
                  <a:pt x="4762489" y="4927600"/>
                </a:cubicBezTo>
                <a:lnTo>
                  <a:pt x="50800" y="4927600"/>
                </a:lnTo>
                <a:cubicBezTo>
                  <a:pt x="22744" y="4927600"/>
                  <a:pt x="0" y="4904856"/>
                  <a:pt x="0" y="487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828867" y="1879600"/>
            <a:ext cx="50800" cy="4927600"/>
          </a:xfrm>
          <a:custGeom>
            <a:avLst/>
            <a:gdLst/>
            <a:ahLst/>
            <a:cxnLst/>
            <a:rect l="l" t="t" r="r" b="b"/>
            <a:pathLst>
              <a:path w="50800" h="4927600">
                <a:moveTo>
                  <a:pt x="50800" y="0"/>
                </a:moveTo>
                <a:lnTo>
                  <a:pt x="50800" y="0"/>
                </a:lnTo>
                <a:lnTo>
                  <a:pt x="50800" y="4927600"/>
                </a:lnTo>
                <a:lnTo>
                  <a:pt x="50800" y="4927600"/>
                </a:lnTo>
                <a:cubicBezTo>
                  <a:pt x="22763" y="4927600"/>
                  <a:pt x="0" y="4904837"/>
                  <a:pt x="0" y="487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108267" y="2133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6" name="Text 34"/>
          <p:cNvSpPr/>
          <p:nvPr/>
        </p:nvSpPr>
        <p:spPr>
          <a:xfrm>
            <a:off x="11044767" y="21336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70267" y="22606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拓展附加权益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108267" y="2895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260667" y="3048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联动旅游目的地景区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260667" y="34036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推出球票折扣、免费入园等专属福利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108267" y="3911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1260667" y="3925949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球迷专属消费权益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260667" y="44196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合作商家提供餐饮、购物优惠,提升产品价值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1108267" y="492760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101599" y="0"/>
                </a:moveTo>
                <a:lnTo>
                  <a:pt x="4279901" y="0"/>
                </a:lnTo>
                <a:cubicBezTo>
                  <a:pt x="4336013" y="0"/>
                  <a:pt x="4381500" y="45487"/>
                  <a:pt x="4381500" y="101599"/>
                </a:cubicBezTo>
                <a:lnTo>
                  <a:pt x="4381500" y="812801"/>
                </a:lnTo>
                <a:cubicBezTo>
                  <a:pt x="4381500" y="868913"/>
                  <a:pt x="4336013" y="914400"/>
                  <a:pt x="4279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1260667" y="5080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积分会员体系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1260667" y="543560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建立会员等级制度,提供差异化权益服务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48734" y="7039099"/>
            <a:ext cx="15240000" cy="1625600"/>
          </a:xfrm>
          <a:custGeom>
            <a:avLst/>
            <a:gdLst/>
            <a:ahLst/>
            <a:cxnLst/>
            <a:rect l="l" t="t" r="r" b="b"/>
            <a:pathLst>
              <a:path w="15240000" h="1625600">
                <a:moveTo>
                  <a:pt x="152400" y="0"/>
                </a:moveTo>
                <a:lnTo>
                  <a:pt x="15087600" y="0"/>
                </a:lnTo>
                <a:cubicBezTo>
                  <a:pt x="15171712" y="0"/>
                  <a:pt x="15240000" y="68288"/>
                  <a:pt x="15240000" y="152400"/>
                </a:cubicBezTo>
                <a:lnTo>
                  <a:pt x="15240000" y="1473200"/>
                </a:lnTo>
                <a:cubicBezTo>
                  <a:pt x="15240000" y="1557312"/>
                  <a:pt x="15171712" y="1625600"/>
                  <a:pt x="150876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4F41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8" name="Shape 46"/>
          <p:cNvSpPr/>
          <p:nvPr/>
        </p:nvSpPr>
        <p:spPr>
          <a:xfrm>
            <a:off x="790575" y="7594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6374" y="-16877"/>
                </a:moveTo>
                <a:cubicBezTo>
                  <a:pt x="272713" y="-24021"/>
                  <a:pt x="265301" y="-28575"/>
                  <a:pt x="257264" y="-28575"/>
                </a:cubicBezTo>
                <a:cubicBezTo>
                  <a:pt x="249228" y="-28575"/>
                  <a:pt x="241816" y="-24021"/>
                  <a:pt x="238155" y="-16877"/>
                </a:cubicBezTo>
                <a:lnTo>
                  <a:pt x="172432" y="111889"/>
                </a:lnTo>
                <a:lnTo>
                  <a:pt x="29647" y="134570"/>
                </a:lnTo>
                <a:cubicBezTo>
                  <a:pt x="21699" y="135821"/>
                  <a:pt x="15091" y="141446"/>
                  <a:pt x="12591" y="149126"/>
                </a:cubicBezTo>
                <a:cubicBezTo>
                  <a:pt x="10091" y="156805"/>
                  <a:pt x="12144" y="165199"/>
                  <a:pt x="17770" y="170914"/>
                </a:cubicBezTo>
                <a:lnTo>
                  <a:pt x="119926" y="273159"/>
                </a:lnTo>
                <a:lnTo>
                  <a:pt x="97423" y="415945"/>
                </a:lnTo>
                <a:cubicBezTo>
                  <a:pt x="96173" y="423892"/>
                  <a:pt x="99477" y="431929"/>
                  <a:pt x="105995" y="436662"/>
                </a:cubicBezTo>
                <a:cubicBezTo>
                  <a:pt x="112514" y="441394"/>
                  <a:pt x="121087" y="442109"/>
                  <a:pt x="128320" y="438448"/>
                </a:cubicBezTo>
                <a:lnTo>
                  <a:pt x="257264" y="372904"/>
                </a:lnTo>
                <a:lnTo>
                  <a:pt x="386120" y="438448"/>
                </a:lnTo>
                <a:cubicBezTo>
                  <a:pt x="393263" y="442109"/>
                  <a:pt x="401925" y="441394"/>
                  <a:pt x="408444" y="436662"/>
                </a:cubicBezTo>
                <a:cubicBezTo>
                  <a:pt x="414963" y="431929"/>
                  <a:pt x="418267" y="423982"/>
                  <a:pt x="417016" y="415945"/>
                </a:cubicBezTo>
                <a:lnTo>
                  <a:pt x="394424" y="273159"/>
                </a:lnTo>
                <a:lnTo>
                  <a:pt x="496580" y="170914"/>
                </a:lnTo>
                <a:cubicBezTo>
                  <a:pt x="502295" y="165199"/>
                  <a:pt x="504259" y="156805"/>
                  <a:pt x="501759" y="149126"/>
                </a:cubicBezTo>
                <a:cubicBezTo>
                  <a:pt x="499259" y="141446"/>
                  <a:pt x="492740" y="135821"/>
                  <a:pt x="484703" y="134570"/>
                </a:cubicBezTo>
                <a:lnTo>
                  <a:pt x="342007" y="111889"/>
                </a:lnTo>
                <a:lnTo>
                  <a:pt x="276374" y="-16877"/>
                </a:lnTo>
                <a:close/>
              </a:path>
            </a:pathLst>
          </a:custGeom>
          <a:solidFill>
            <a:srgbClr val="E56B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536700" y="7264400"/>
            <a:ext cx="140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服务提升核心目标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85900" y="8083138"/>
            <a:ext cx="14084300" cy="14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+观赛改善+权益拓展</a:t>
            </a:r>
            <a:r>
              <a:rPr lang="en-US" sz="16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构建全方位服务体系,从购票到观赛、从现场到周边,打造无缝、安全、高性价比的足球主题旅游体验,提升用户满意度与忠诚度</a:t>
            </a:r>
            <a:r>
              <a:rPr lang="en-US" altLang="zh-CN" sz="16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altLang="zh-CN" sz="1600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票务优化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 OPERATIONS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精准运营建议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9600"/>
            <a:ext cx="4889500" cy="5207000"/>
          </a:xfrm>
          <a:custGeom>
            <a:avLst/>
            <a:gdLst/>
            <a:ahLst/>
            <a:cxnLst/>
            <a:rect l="l" t="t" r="r" b="b"/>
            <a:pathLst>
              <a:path w="4889500" h="5207000">
                <a:moveTo>
                  <a:pt x="50800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5054594"/>
                </a:lnTo>
                <a:cubicBezTo>
                  <a:pt x="4889500" y="5138709"/>
                  <a:pt x="4821209" y="5207000"/>
                  <a:pt x="4737094" y="5207000"/>
                </a:cubicBezTo>
                <a:lnTo>
                  <a:pt x="50800" y="5207000"/>
                </a:lnTo>
                <a:cubicBezTo>
                  <a:pt x="22744" y="5207000"/>
                  <a:pt x="0" y="5184256"/>
                  <a:pt x="0" y="5156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1879600"/>
            <a:ext cx="50800" cy="5207000"/>
          </a:xfrm>
          <a:custGeom>
            <a:avLst/>
            <a:gdLst/>
            <a:ahLst/>
            <a:cxnLst/>
            <a:rect l="l" t="t" r="r" b="b"/>
            <a:pathLst>
              <a:path w="50800" h="5207000">
                <a:moveTo>
                  <a:pt x="50800" y="0"/>
                </a:moveTo>
                <a:lnTo>
                  <a:pt x="50800" y="0"/>
                </a:lnTo>
                <a:lnTo>
                  <a:pt x="50800" y="5207000"/>
                </a:lnTo>
                <a:lnTo>
                  <a:pt x="50800" y="5207000"/>
                </a:lnTo>
                <a:cubicBezTo>
                  <a:pt x="22763" y="5207000"/>
                  <a:pt x="0" y="5184237"/>
                  <a:pt x="0" y="5156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Shape 5"/>
          <p:cNvSpPr/>
          <p:nvPr/>
        </p:nvSpPr>
        <p:spPr>
          <a:xfrm>
            <a:off x="863600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184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7200" y="23622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细分客群服务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" y="3098800"/>
            <a:ext cx="4254500" cy="914400"/>
          </a:xfrm>
          <a:custGeom>
            <a:avLst/>
            <a:gdLst/>
            <a:ahLst/>
            <a:cxnLst/>
            <a:rect l="l" t="t" r="r" b="b"/>
            <a:pathLst>
              <a:path w="4254500" h="914400">
                <a:moveTo>
                  <a:pt x="101599" y="0"/>
                </a:moveTo>
                <a:lnTo>
                  <a:pt x="4152901" y="0"/>
                </a:lnTo>
                <a:cubicBezTo>
                  <a:pt x="4209013" y="0"/>
                  <a:pt x="4254500" y="45487"/>
                  <a:pt x="4254500" y="101599"/>
                </a:cubicBezTo>
                <a:lnTo>
                  <a:pt x="4254500" y="812801"/>
                </a:lnTo>
                <a:cubicBezTo>
                  <a:pt x="4254500" y="868913"/>
                  <a:pt x="4209013" y="914400"/>
                  <a:pt x="4152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121561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年轻人专属时尚主题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16000" y="36068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针对20-25岁群体,设计潮流文化、网红打卡元素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63600" y="4165600"/>
            <a:ext cx="4254500" cy="914400"/>
          </a:xfrm>
          <a:custGeom>
            <a:avLst/>
            <a:gdLst/>
            <a:ahLst/>
            <a:cxnLst/>
            <a:rect l="l" t="t" r="r" b="b"/>
            <a:pathLst>
              <a:path w="4254500" h="914400">
                <a:moveTo>
                  <a:pt x="101599" y="0"/>
                </a:moveTo>
                <a:lnTo>
                  <a:pt x="4152901" y="0"/>
                </a:lnTo>
                <a:cubicBezTo>
                  <a:pt x="4209013" y="0"/>
                  <a:pt x="4254500" y="45487"/>
                  <a:pt x="4254500" y="101599"/>
                </a:cubicBezTo>
                <a:lnTo>
                  <a:pt x="4254500" y="812801"/>
                </a:lnTo>
                <a:cubicBezTo>
                  <a:pt x="4254500" y="868913"/>
                  <a:pt x="4209013" y="914400"/>
                  <a:pt x="4152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Text 12"/>
          <p:cNvSpPr/>
          <p:nvPr/>
        </p:nvSpPr>
        <p:spPr>
          <a:xfrm>
            <a:off x="1047750" y="4198257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家庭友好型活动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6000" y="46736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兼顾31-35岁群体,提供亲子互动、家庭套票产品</a:t>
            </a:r>
          </a:p>
        </p:txBody>
      </p:sp>
      <p:sp>
        <p:nvSpPr>
          <p:cNvPr id="16" name="Shape 14"/>
          <p:cNvSpPr/>
          <p:nvPr/>
        </p:nvSpPr>
        <p:spPr>
          <a:xfrm>
            <a:off x="863600" y="5232400"/>
            <a:ext cx="4254500" cy="1168400"/>
          </a:xfrm>
          <a:custGeom>
            <a:avLst/>
            <a:gdLst/>
            <a:ahLst/>
            <a:cxnLst/>
            <a:rect l="l" t="t" r="r" b="b"/>
            <a:pathLst>
              <a:path w="4254500" h="1168400">
                <a:moveTo>
                  <a:pt x="101604" y="0"/>
                </a:moveTo>
                <a:lnTo>
                  <a:pt x="4152896" y="0"/>
                </a:lnTo>
                <a:cubicBezTo>
                  <a:pt x="4209010" y="0"/>
                  <a:pt x="4254500" y="45490"/>
                  <a:pt x="4254500" y="101604"/>
                </a:cubicBezTo>
                <a:lnTo>
                  <a:pt x="4254500" y="1066796"/>
                </a:lnTo>
                <a:cubicBezTo>
                  <a:pt x="4254500" y="1122910"/>
                  <a:pt x="4209010" y="1168400"/>
                  <a:pt x="41528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384800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高端定制服务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6000" y="5740400"/>
            <a:ext cx="403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为高频出行用户提供</a:t>
            </a:r>
            <a:r>
              <a:rPr lang="en-US" sz="1400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VIP通道、专属座位等增值服务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98067" y="1879600"/>
            <a:ext cx="4889500" cy="5207000"/>
          </a:xfrm>
          <a:custGeom>
            <a:avLst/>
            <a:gdLst/>
            <a:ahLst/>
            <a:cxnLst/>
            <a:rect l="l" t="t" r="r" b="b"/>
            <a:pathLst>
              <a:path w="4889500" h="5207000">
                <a:moveTo>
                  <a:pt x="50800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5054594"/>
                </a:lnTo>
                <a:cubicBezTo>
                  <a:pt x="4889500" y="5138709"/>
                  <a:pt x="4821209" y="5207000"/>
                  <a:pt x="4737094" y="5207000"/>
                </a:cubicBezTo>
                <a:lnTo>
                  <a:pt x="50800" y="5207000"/>
                </a:lnTo>
                <a:cubicBezTo>
                  <a:pt x="22744" y="5207000"/>
                  <a:pt x="0" y="5184256"/>
                  <a:pt x="0" y="5156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98067" y="1879600"/>
            <a:ext cx="50800" cy="5207000"/>
          </a:xfrm>
          <a:custGeom>
            <a:avLst/>
            <a:gdLst/>
            <a:ahLst/>
            <a:cxnLst/>
            <a:rect l="l" t="t" r="r" b="b"/>
            <a:pathLst>
              <a:path w="50800" h="5207000">
                <a:moveTo>
                  <a:pt x="50800" y="0"/>
                </a:moveTo>
                <a:lnTo>
                  <a:pt x="50800" y="0"/>
                </a:lnTo>
                <a:lnTo>
                  <a:pt x="50800" y="5207000"/>
                </a:lnTo>
                <a:lnTo>
                  <a:pt x="50800" y="5207000"/>
                </a:lnTo>
                <a:cubicBezTo>
                  <a:pt x="22763" y="5207000"/>
                  <a:pt x="0" y="5184237"/>
                  <a:pt x="0" y="5156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28267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2" name="Text 20"/>
          <p:cNvSpPr/>
          <p:nvPr/>
        </p:nvSpPr>
        <p:spPr>
          <a:xfrm>
            <a:off x="5952067" y="2184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1867" y="23622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强化渠道联动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28267" y="3098800"/>
            <a:ext cx="4254500" cy="914400"/>
          </a:xfrm>
          <a:custGeom>
            <a:avLst/>
            <a:gdLst/>
            <a:ahLst/>
            <a:cxnLst/>
            <a:rect l="l" t="t" r="r" b="b"/>
            <a:pathLst>
              <a:path w="4254500" h="914400">
                <a:moveTo>
                  <a:pt x="101599" y="0"/>
                </a:moveTo>
                <a:lnTo>
                  <a:pt x="4152901" y="0"/>
                </a:lnTo>
                <a:cubicBezTo>
                  <a:pt x="4209013" y="0"/>
                  <a:pt x="4254500" y="45487"/>
                  <a:pt x="4254500" y="101599"/>
                </a:cubicBezTo>
                <a:lnTo>
                  <a:pt x="4254500" y="812801"/>
                </a:lnTo>
                <a:cubicBezTo>
                  <a:pt x="4254500" y="868913"/>
                  <a:pt x="4209013" y="914400"/>
                  <a:pt x="4152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80667" y="3149600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整合社交媒体资源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80667" y="36068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利用微信</a:t>
            </a:r>
            <a:r>
              <a:rPr lang="en-US" sz="1400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、微博、小红书等平台精准触达目标用户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28267" y="4165600"/>
            <a:ext cx="4254500" cy="914400"/>
          </a:xfrm>
          <a:custGeom>
            <a:avLst/>
            <a:gdLst/>
            <a:ahLst/>
            <a:cxnLst/>
            <a:rect l="l" t="t" r="r" b="b"/>
            <a:pathLst>
              <a:path w="4254500" h="914400">
                <a:moveTo>
                  <a:pt x="101599" y="0"/>
                </a:moveTo>
                <a:lnTo>
                  <a:pt x="4152901" y="0"/>
                </a:lnTo>
                <a:cubicBezTo>
                  <a:pt x="4209013" y="0"/>
                  <a:pt x="4254500" y="45487"/>
                  <a:pt x="4254500" y="101599"/>
                </a:cubicBezTo>
                <a:lnTo>
                  <a:pt x="4254500" y="812801"/>
                </a:lnTo>
                <a:cubicBezTo>
                  <a:pt x="4254500" y="868913"/>
                  <a:pt x="4209013" y="914400"/>
                  <a:pt x="4152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180667" y="4209308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体育APP深度合作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80667" y="46736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与懂球帝</a:t>
            </a:r>
            <a:r>
              <a:rPr lang="en-US" sz="1400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虎扑等</a:t>
            </a:r>
            <a:r>
              <a:rPr lang="en-US" sz="1400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APP合作,</a:t>
            </a: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推送旅游产品信息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28267" y="5232400"/>
            <a:ext cx="4254500" cy="914400"/>
          </a:xfrm>
          <a:custGeom>
            <a:avLst/>
            <a:gdLst/>
            <a:ahLst/>
            <a:cxnLst/>
            <a:rect l="l" t="t" r="r" b="b"/>
            <a:pathLst>
              <a:path w="4254500" h="914400">
                <a:moveTo>
                  <a:pt x="101599" y="0"/>
                </a:moveTo>
                <a:lnTo>
                  <a:pt x="4152901" y="0"/>
                </a:lnTo>
                <a:cubicBezTo>
                  <a:pt x="4209013" y="0"/>
                  <a:pt x="4254500" y="45487"/>
                  <a:pt x="4254500" y="101599"/>
                </a:cubicBezTo>
                <a:lnTo>
                  <a:pt x="4254500" y="812801"/>
                </a:lnTo>
                <a:cubicBezTo>
                  <a:pt x="4254500" y="868913"/>
                  <a:pt x="4209013" y="914400"/>
                  <a:pt x="4152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80667" y="5384800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俱乐部官方联动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80667" y="57404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通过俱乐部官方渠道,精准触达球迷群体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862734" y="1879600"/>
            <a:ext cx="4889500" cy="5207000"/>
          </a:xfrm>
          <a:custGeom>
            <a:avLst/>
            <a:gdLst/>
            <a:ahLst/>
            <a:cxnLst/>
            <a:rect l="l" t="t" r="r" b="b"/>
            <a:pathLst>
              <a:path w="4889500" h="5207000">
                <a:moveTo>
                  <a:pt x="50800" y="0"/>
                </a:moveTo>
                <a:lnTo>
                  <a:pt x="4737094" y="0"/>
                </a:lnTo>
                <a:cubicBezTo>
                  <a:pt x="4821209" y="0"/>
                  <a:pt x="4889500" y="68291"/>
                  <a:pt x="4889500" y="152406"/>
                </a:cubicBezTo>
                <a:lnTo>
                  <a:pt x="4889500" y="5054594"/>
                </a:lnTo>
                <a:cubicBezTo>
                  <a:pt x="4889500" y="5138709"/>
                  <a:pt x="4821209" y="5207000"/>
                  <a:pt x="4737094" y="5207000"/>
                </a:cubicBezTo>
                <a:lnTo>
                  <a:pt x="50800" y="5207000"/>
                </a:lnTo>
                <a:cubicBezTo>
                  <a:pt x="22744" y="5207000"/>
                  <a:pt x="0" y="5184256"/>
                  <a:pt x="0" y="5156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862734" y="1879600"/>
            <a:ext cx="50800" cy="5207000"/>
          </a:xfrm>
          <a:custGeom>
            <a:avLst/>
            <a:gdLst/>
            <a:ahLst/>
            <a:cxnLst/>
            <a:rect l="l" t="t" r="r" b="b"/>
            <a:pathLst>
              <a:path w="50800" h="5207000">
                <a:moveTo>
                  <a:pt x="50800" y="0"/>
                </a:moveTo>
                <a:lnTo>
                  <a:pt x="50800" y="0"/>
                </a:lnTo>
                <a:lnTo>
                  <a:pt x="50800" y="5207000"/>
                </a:lnTo>
                <a:lnTo>
                  <a:pt x="50800" y="5207000"/>
                </a:lnTo>
                <a:cubicBezTo>
                  <a:pt x="22763" y="5207000"/>
                  <a:pt x="0" y="5184237"/>
                  <a:pt x="0" y="5156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192934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6" name="Text 34"/>
          <p:cNvSpPr/>
          <p:nvPr/>
        </p:nvSpPr>
        <p:spPr>
          <a:xfrm>
            <a:off x="11116734" y="2184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056534" y="23622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收集反馈迭代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192934" y="3098800"/>
            <a:ext cx="4254500" cy="914400"/>
          </a:xfrm>
          <a:custGeom>
            <a:avLst/>
            <a:gdLst/>
            <a:ahLst/>
            <a:cxnLst/>
            <a:rect l="l" t="t" r="r" b="b"/>
            <a:pathLst>
              <a:path w="4254500" h="914400">
                <a:moveTo>
                  <a:pt x="101599" y="0"/>
                </a:moveTo>
                <a:lnTo>
                  <a:pt x="4152901" y="0"/>
                </a:lnTo>
                <a:cubicBezTo>
                  <a:pt x="4209013" y="0"/>
                  <a:pt x="4254500" y="45487"/>
                  <a:pt x="4254500" y="101599"/>
                </a:cubicBezTo>
                <a:lnTo>
                  <a:pt x="4254500" y="812801"/>
                </a:lnTo>
                <a:cubicBezTo>
                  <a:pt x="4254500" y="868913"/>
                  <a:pt x="4209013" y="914400"/>
                  <a:pt x="4152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345334" y="3142673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建立常态化用户反馈机制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345334" y="36068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定期收集用户体验、产品评价,快速响应需求变化</a:t>
            </a:r>
            <a:endParaRPr lang="en-US" dirty="0">
              <a:solidFill>
                <a:srgbClr val="2D2D2D">
                  <a:alpha val="7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192934" y="4165600"/>
            <a:ext cx="4254500" cy="914400"/>
          </a:xfrm>
          <a:custGeom>
            <a:avLst/>
            <a:gdLst/>
            <a:ahLst/>
            <a:cxnLst/>
            <a:rect l="l" t="t" r="r" b="b"/>
            <a:pathLst>
              <a:path w="4254500" h="914400">
                <a:moveTo>
                  <a:pt x="101599" y="0"/>
                </a:moveTo>
                <a:lnTo>
                  <a:pt x="4152901" y="0"/>
                </a:lnTo>
                <a:cubicBezTo>
                  <a:pt x="4209013" y="0"/>
                  <a:pt x="4254500" y="45487"/>
                  <a:pt x="4254500" y="101599"/>
                </a:cubicBezTo>
                <a:lnTo>
                  <a:pt x="4254500" y="812801"/>
                </a:lnTo>
                <a:cubicBezTo>
                  <a:pt x="4254500" y="868913"/>
                  <a:pt x="4209013" y="914400"/>
                  <a:pt x="4152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3A4F41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1345334" y="4211782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数据分析驱动优化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345334" y="46736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基于用户行为数据</a:t>
            </a:r>
            <a:r>
              <a:rPr lang="en-US" sz="1400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,持续优化产品设计与服务流程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192934" y="5232400"/>
            <a:ext cx="4254500" cy="914400"/>
          </a:xfrm>
          <a:custGeom>
            <a:avLst/>
            <a:gdLst/>
            <a:ahLst/>
            <a:cxnLst/>
            <a:rect l="l" t="t" r="r" b="b"/>
            <a:pathLst>
              <a:path w="4254500" h="914400">
                <a:moveTo>
                  <a:pt x="101599" y="0"/>
                </a:moveTo>
                <a:lnTo>
                  <a:pt x="4152901" y="0"/>
                </a:lnTo>
                <a:cubicBezTo>
                  <a:pt x="4209013" y="0"/>
                  <a:pt x="4254500" y="45487"/>
                  <a:pt x="4254500" y="101599"/>
                </a:cubicBezTo>
                <a:lnTo>
                  <a:pt x="4254500" y="812801"/>
                </a:lnTo>
                <a:cubicBezTo>
                  <a:pt x="4254500" y="868913"/>
                  <a:pt x="4209013" y="914400"/>
                  <a:pt x="41529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6B4D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1345334" y="5384800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用户共创机制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1345334" y="57404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邀请资深球迷参与产品共创</a:t>
            </a:r>
            <a:r>
              <a:rPr lang="en-US" sz="1400" dirty="0" err="1">
                <a:solidFill>
                  <a:srgbClr val="2D2D2D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,提升产品贴合度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08000" y="7340600"/>
            <a:ext cx="15240000" cy="1295400"/>
          </a:xfrm>
          <a:custGeom>
            <a:avLst/>
            <a:gdLst/>
            <a:ahLst/>
            <a:cxnLst/>
            <a:rect l="l" t="t" r="r" b="b"/>
            <a:pathLst>
              <a:path w="15240000" h="1295400">
                <a:moveTo>
                  <a:pt x="152404" y="0"/>
                </a:moveTo>
                <a:lnTo>
                  <a:pt x="15087596" y="0"/>
                </a:lnTo>
                <a:cubicBezTo>
                  <a:pt x="15171766" y="0"/>
                  <a:pt x="15240000" y="68234"/>
                  <a:pt x="15240000" y="152404"/>
                </a:cubicBezTo>
                <a:lnTo>
                  <a:pt x="15240000" y="1142996"/>
                </a:lnTo>
                <a:cubicBezTo>
                  <a:pt x="15240000" y="1227166"/>
                  <a:pt x="15171766" y="1295400"/>
                  <a:pt x="1508759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48" name="Shape 46"/>
          <p:cNvSpPr/>
          <p:nvPr/>
        </p:nvSpPr>
        <p:spPr>
          <a:xfrm>
            <a:off x="819150" y="775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49" name="Text 47"/>
          <p:cNvSpPr/>
          <p:nvPr/>
        </p:nvSpPr>
        <p:spPr>
          <a:xfrm>
            <a:off x="1536700" y="7594600"/>
            <a:ext cx="1408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精准运营核心目标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36700" y="8051800"/>
            <a:ext cx="140589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600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客群细分+渠道联动+反馈迭代</a:t>
            </a:r>
            <a:r>
              <a:rPr lang="en-US" sz="160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构建精准化运营体系,实现对不同年龄段、不同需求层次用户的差异化服务,持续优化产品体验,提升用户满意度与复购率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hzhaige.com/f5fb18557f7efb51773d2d907d03d89daca8d4c4.jpg"/>
          <p:cNvPicPr>
            <a:picLocks noChangeAspect="1"/>
          </p:cNvPicPr>
          <p:nvPr/>
        </p:nvPicPr>
        <p:blipFill>
          <a:blip r:embed="rId3"/>
          <a:srcRect l="123" r="123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2197100"/>
            <a:ext cx="1384300" cy="508000"/>
          </a:xfrm>
          <a:custGeom>
            <a:avLst/>
            <a:gdLst/>
            <a:ahLst/>
            <a:cxnLst/>
            <a:rect l="l" t="t" r="r" b="b"/>
            <a:pathLst>
              <a:path w="1384300" h="508000">
                <a:moveTo>
                  <a:pt x="0" y="0"/>
                </a:moveTo>
                <a:lnTo>
                  <a:pt x="1384300" y="0"/>
                </a:lnTo>
                <a:lnTo>
                  <a:pt x="13843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2197100"/>
            <a:ext cx="1485900" cy="508000"/>
          </a:xfrm>
          <a:prstGeom prst="rect">
            <a:avLst/>
          </a:prstGeom>
          <a:noFill/>
          <a:ln/>
        </p:spPr>
        <p:txBody>
          <a:bodyPr wrap="square" lIns="254000" tIns="101600" rIns="2540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009900"/>
            <a:ext cx="899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与展望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6007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956300"/>
            <a:ext cx="868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聚焦核心需求与痛点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释放女性球迷旅游消费潜力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761" y="453761"/>
            <a:ext cx="15439230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9" b="1" kern="0" spc="7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CONCLUSIONS &amp; OUTLOOK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3761" y="816770"/>
            <a:ext cx="15552670" cy="45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16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核心结论与未来展望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3761" y="1406660"/>
            <a:ext cx="907523" cy="45376"/>
          </a:xfrm>
          <a:custGeom>
            <a:avLst/>
            <a:gdLst/>
            <a:ahLst/>
            <a:cxnLst/>
            <a:rect l="l" t="t" r="r" b="b"/>
            <a:pathLst>
              <a:path w="907523" h="45376">
                <a:moveTo>
                  <a:pt x="0" y="0"/>
                </a:moveTo>
                <a:lnTo>
                  <a:pt x="907523" y="0"/>
                </a:lnTo>
                <a:lnTo>
                  <a:pt x="907523" y="45376"/>
                </a:lnTo>
                <a:lnTo>
                  <a:pt x="0" y="45376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Shape 3"/>
          <p:cNvSpPr/>
          <p:nvPr/>
        </p:nvSpPr>
        <p:spPr>
          <a:xfrm>
            <a:off x="476449" y="1678917"/>
            <a:ext cx="8700874" cy="3925036"/>
          </a:xfrm>
          <a:custGeom>
            <a:avLst/>
            <a:gdLst/>
            <a:ahLst/>
            <a:cxnLst/>
            <a:rect l="l" t="t" r="r" b="b"/>
            <a:pathLst>
              <a:path w="8700874" h="3925036">
                <a:moveTo>
                  <a:pt x="45376" y="0"/>
                </a:moveTo>
                <a:lnTo>
                  <a:pt x="8564753" y="0"/>
                </a:lnTo>
                <a:cubicBezTo>
                  <a:pt x="8639931" y="0"/>
                  <a:pt x="8700874" y="60943"/>
                  <a:pt x="8700874" y="136120"/>
                </a:cubicBezTo>
                <a:lnTo>
                  <a:pt x="8700874" y="3788915"/>
                </a:lnTo>
                <a:cubicBezTo>
                  <a:pt x="8700874" y="3864092"/>
                  <a:pt x="8639931" y="3925036"/>
                  <a:pt x="8564753" y="3925036"/>
                </a:cubicBezTo>
                <a:lnTo>
                  <a:pt x="45376" y="3925036"/>
                </a:lnTo>
                <a:cubicBezTo>
                  <a:pt x="20316" y="3925036"/>
                  <a:pt x="0" y="3904720"/>
                  <a:pt x="0" y="3879659"/>
                </a:cubicBezTo>
                <a:lnTo>
                  <a:pt x="0" y="45376"/>
                </a:lnTo>
                <a:cubicBezTo>
                  <a:pt x="0" y="20332"/>
                  <a:pt x="20332" y="0"/>
                  <a:pt x="453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8064" dist="4537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449" y="1678917"/>
            <a:ext cx="45376" cy="3925036"/>
          </a:xfrm>
          <a:custGeom>
            <a:avLst/>
            <a:gdLst/>
            <a:ahLst/>
            <a:cxnLst/>
            <a:rect l="l" t="t" r="r" b="b"/>
            <a:pathLst>
              <a:path w="45376" h="3925036">
                <a:moveTo>
                  <a:pt x="45376" y="0"/>
                </a:moveTo>
                <a:lnTo>
                  <a:pt x="45376" y="0"/>
                </a:lnTo>
                <a:lnTo>
                  <a:pt x="45376" y="3925036"/>
                </a:lnTo>
                <a:lnTo>
                  <a:pt x="45376" y="3925036"/>
                </a:lnTo>
                <a:cubicBezTo>
                  <a:pt x="20316" y="3925036"/>
                  <a:pt x="0" y="3904720"/>
                  <a:pt x="0" y="3879659"/>
                </a:cubicBezTo>
                <a:lnTo>
                  <a:pt x="0" y="45376"/>
                </a:lnTo>
                <a:cubicBezTo>
                  <a:pt x="0" y="20332"/>
                  <a:pt x="20332" y="0"/>
                  <a:pt x="45376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7" name="Text 5"/>
          <p:cNvSpPr/>
          <p:nvPr/>
        </p:nvSpPr>
        <p:spPr>
          <a:xfrm>
            <a:off x="771394" y="1951174"/>
            <a:ext cx="8269800" cy="36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44" b="1" dirty="0">
                <a:solidFill>
                  <a:srgbClr val="3A4F41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1394" y="2495687"/>
            <a:ext cx="544514" cy="544514"/>
          </a:xfrm>
          <a:custGeom>
            <a:avLst/>
            <a:gdLst/>
            <a:ahLst/>
            <a:cxnLst/>
            <a:rect l="l" t="t" r="r" b="b"/>
            <a:pathLst>
              <a:path w="544514" h="544514">
                <a:moveTo>
                  <a:pt x="272257" y="0"/>
                </a:moveTo>
                <a:lnTo>
                  <a:pt x="272257" y="0"/>
                </a:lnTo>
                <a:cubicBezTo>
                  <a:pt x="422620" y="0"/>
                  <a:pt x="544514" y="121894"/>
                  <a:pt x="544514" y="272257"/>
                </a:cubicBezTo>
                <a:lnTo>
                  <a:pt x="544514" y="272257"/>
                </a:lnTo>
                <a:cubicBezTo>
                  <a:pt x="544514" y="422620"/>
                  <a:pt x="422620" y="544514"/>
                  <a:pt x="272257" y="544514"/>
                </a:cubicBezTo>
                <a:lnTo>
                  <a:pt x="272257" y="544514"/>
                </a:lnTo>
                <a:cubicBezTo>
                  <a:pt x="121894" y="544514"/>
                  <a:pt x="0" y="422620"/>
                  <a:pt x="0" y="272257"/>
                </a:cubicBezTo>
                <a:lnTo>
                  <a:pt x="0" y="272257"/>
                </a:lnTo>
                <a:cubicBezTo>
                  <a:pt x="0" y="121894"/>
                  <a:pt x="121894" y="0"/>
                  <a:pt x="272257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9" name="Text 7"/>
          <p:cNvSpPr/>
          <p:nvPr/>
        </p:nvSpPr>
        <p:spPr>
          <a:xfrm>
            <a:off x="714674" y="2495687"/>
            <a:ext cx="657954" cy="544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86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7412" y="2495687"/>
            <a:ext cx="7509750" cy="3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参与度高、频次高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97412" y="2858696"/>
            <a:ext cx="7498406" cy="58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已工作女性球迷足球主题旅游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参与度100%</a:t>
            </a:r>
            <a:r>
              <a:rPr lang="en-US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58.3%高频出行</a:t>
            </a:r>
            <a:r>
              <a:rPr lang="en-US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主队远征为核心需求,市场基础良好,复购潜力巨大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71394" y="3584715"/>
            <a:ext cx="544514" cy="544514"/>
          </a:xfrm>
          <a:custGeom>
            <a:avLst/>
            <a:gdLst/>
            <a:ahLst/>
            <a:cxnLst/>
            <a:rect l="l" t="t" r="r" b="b"/>
            <a:pathLst>
              <a:path w="544514" h="544514">
                <a:moveTo>
                  <a:pt x="272257" y="0"/>
                </a:moveTo>
                <a:lnTo>
                  <a:pt x="272257" y="0"/>
                </a:lnTo>
                <a:cubicBezTo>
                  <a:pt x="422620" y="0"/>
                  <a:pt x="544514" y="121894"/>
                  <a:pt x="544514" y="272257"/>
                </a:cubicBezTo>
                <a:lnTo>
                  <a:pt x="544514" y="272257"/>
                </a:lnTo>
                <a:cubicBezTo>
                  <a:pt x="544514" y="422620"/>
                  <a:pt x="422620" y="544514"/>
                  <a:pt x="272257" y="544514"/>
                </a:cubicBezTo>
                <a:lnTo>
                  <a:pt x="272257" y="544514"/>
                </a:lnTo>
                <a:cubicBezTo>
                  <a:pt x="121894" y="544514"/>
                  <a:pt x="0" y="422620"/>
                  <a:pt x="0" y="272257"/>
                </a:cubicBezTo>
                <a:lnTo>
                  <a:pt x="0" y="272257"/>
                </a:lnTo>
                <a:cubicBezTo>
                  <a:pt x="0" y="121894"/>
                  <a:pt x="121894" y="0"/>
                  <a:pt x="272257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3" name="Text 11"/>
          <p:cNvSpPr/>
          <p:nvPr/>
        </p:nvSpPr>
        <p:spPr>
          <a:xfrm>
            <a:off x="714674" y="3584715"/>
            <a:ext cx="657954" cy="544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86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6068" y="3480454"/>
            <a:ext cx="7509750" cy="3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20-35岁为核心客群</a:t>
            </a:r>
          </a:p>
        </p:txBody>
      </p:sp>
      <p:sp>
        <p:nvSpPr>
          <p:cNvPr id="15" name="Text 13"/>
          <p:cNvSpPr/>
          <p:nvPr/>
        </p:nvSpPr>
        <p:spPr>
          <a:xfrm>
            <a:off x="1497412" y="3947724"/>
            <a:ext cx="7629216" cy="3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占比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66.7%</a:t>
            </a:r>
            <a:r>
              <a:rPr lang="en-US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重视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赛事质量、出行体验与同伴意愿</a:t>
            </a:r>
            <a:r>
              <a:rPr lang="en-US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价格敏感度相对较低,追求品质与体验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71394" y="4378797"/>
            <a:ext cx="544514" cy="544514"/>
          </a:xfrm>
          <a:custGeom>
            <a:avLst/>
            <a:gdLst/>
            <a:ahLst/>
            <a:cxnLst/>
            <a:rect l="l" t="t" r="r" b="b"/>
            <a:pathLst>
              <a:path w="544514" h="544514">
                <a:moveTo>
                  <a:pt x="272257" y="0"/>
                </a:moveTo>
                <a:lnTo>
                  <a:pt x="272257" y="0"/>
                </a:lnTo>
                <a:cubicBezTo>
                  <a:pt x="422620" y="0"/>
                  <a:pt x="544514" y="121894"/>
                  <a:pt x="544514" y="272257"/>
                </a:cubicBezTo>
                <a:lnTo>
                  <a:pt x="544514" y="272257"/>
                </a:lnTo>
                <a:cubicBezTo>
                  <a:pt x="544514" y="422620"/>
                  <a:pt x="422620" y="544514"/>
                  <a:pt x="272257" y="544514"/>
                </a:cubicBezTo>
                <a:lnTo>
                  <a:pt x="272257" y="544514"/>
                </a:lnTo>
                <a:cubicBezTo>
                  <a:pt x="121894" y="544514"/>
                  <a:pt x="0" y="422620"/>
                  <a:pt x="0" y="272257"/>
                </a:cubicBezTo>
                <a:lnTo>
                  <a:pt x="0" y="272257"/>
                </a:lnTo>
                <a:cubicBezTo>
                  <a:pt x="0" y="121894"/>
                  <a:pt x="121894" y="0"/>
                  <a:pt x="272257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17" name="Text 15"/>
          <p:cNvSpPr/>
          <p:nvPr/>
        </p:nvSpPr>
        <p:spPr>
          <a:xfrm>
            <a:off x="714674" y="4378797"/>
            <a:ext cx="657954" cy="544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86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29348" y="4437967"/>
            <a:ext cx="7509750" cy="3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 err="1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现有产品优化空间大</a:t>
            </a:r>
            <a:endParaRPr lang="en-US" b="1" dirty="0">
              <a:solidFill>
                <a:srgbClr val="3A4F4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29348" y="4823664"/>
            <a:ext cx="7498406" cy="58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存在</a:t>
            </a:r>
            <a:r>
              <a:rPr lang="en-US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专业度</a:t>
            </a:r>
            <a:r>
              <a:rPr lang="en-US" sz="1429" b="1" dirty="0">
                <a:solidFill>
                  <a:srgbClr val="E56B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、多样性不足</a:t>
            </a:r>
            <a:r>
              <a:rPr lang="en-US" sz="1429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等问题, 通过产品创新、服务升级与精准运营,</a:t>
            </a:r>
            <a:r>
              <a:rPr lang="en-US" dirty="0">
                <a:solidFill>
                  <a:srgbClr val="2D2D2D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可进一步释放市场潜力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3761" y="5785457"/>
            <a:ext cx="8723562" cy="3664123"/>
          </a:xfrm>
          <a:custGeom>
            <a:avLst/>
            <a:gdLst/>
            <a:ahLst/>
            <a:cxnLst/>
            <a:rect l="l" t="t" r="r" b="b"/>
            <a:pathLst>
              <a:path w="8723562" h="3664123">
                <a:moveTo>
                  <a:pt x="136122" y="0"/>
                </a:moveTo>
                <a:lnTo>
                  <a:pt x="8587440" y="0"/>
                </a:lnTo>
                <a:cubicBezTo>
                  <a:pt x="8662618" y="0"/>
                  <a:pt x="8723562" y="60944"/>
                  <a:pt x="8723562" y="136122"/>
                </a:cubicBezTo>
                <a:lnTo>
                  <a:pt x="8723562" y="3528001"/>
                </a:lnTo>
                <a:cubicBezTo>
                  <a:pt x="8723562" y="3603179"/>
                  <a:pt x="8662618" y="3664123"/>
                  <a:pt x="8587440" y="3664123"/>
                </a:cubicBezTo>
                <a:lnTo>
                  <a:pt x="136122" y="3664123"/>
                </a:lnTo>
                <a:cubicBezTo>
                  <a:pt x="60944" y="3664123"/>
                  <a:pt x="0" y="3603179"/>
                  <a:pt x="0" y="3528001"/>
                </a:cubicBezTo>
                <a:lnTo>
                  <a:pt x="0" y="136122"/>
                </a:lnTo>
                <a:cubicBezTo>
                  <a:pt x="0" y="60994"/>
                  <a:pt x="60994" y="0"/>
                  <a:pt x="136122" y="0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21" name="Text 19"/>
          <p:cNvSpPr/>
          <p:nvPr/>
        </p:nvSpPr>
        <p:spPr>
          <a:xfrm>
            <a:off x="726018" y="6057714"/>
            <a:ext cx="8315177" cy="36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44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018" y="6556851"/>
            <a:ext cx="8269800" cy="58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依托调研数据,聚焦核心需求与痛点,通过</a:t>
            </a:r>
            <a:r>
              <a:rPr lang="en-US" b="1" dirty="0">
                <a:solidFill>
                  <a:srgbClr val="3A4F4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产品创新、服务升级与精准运营</a:t>
            </a:r>
            <a:r>
              <a:rPr lang="en-US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,进一步释放女性球迷旅游消费潜力,推动足球主题旅游市场高质量发展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75325" y="7328246"/>
            <a:ext cx="2631816" cy="1247844"/>
          </a:xfrm>
          <a:custGeom>
            <a:avLst/>
            <a:gdLst/>
            <a:ahLst/>
            <a:cxnLst/>
            <a:rect l="l" t="t" r="r" b="b"/>
            <a:pathLst>
              <a:path w="2631816" h="1247844">
                <a:moveTo>
                  <a:pt x="90756" y="0"/>
                </a:moveTo>
                <a:lnTo>
                  <a:pt x="2541060" y="0"/>
                </a:lnTo>
                <a:cubicBezTo>
                  <a:pt x="2591183" y="0"/>
                  <a:pt x="2631816" y="40633"/>
                  <a:pt x="2631816" y="90756"/>
                </a:cubicBezTo>
                <a:lnTo>
                  <a:pt x="2631816" y="1157088"/>
                </a:lnTo>
                <a:cubicBezTo>
                  <a:pt x="2631816" y="1207211"/>
                  <a:pt x="2591183" y="1247844"/>
                  <a:pt x="2541060" y="1247844"/>
                </a:cubicBezTo>
                <a:lnTo>
                  <a:pt x="90756" y="1247844"/>
                </a:lnTo>
                <a:cubicBezTo>
                  <a:pt x="40633" y="1247844"/>
                  <a:pt x="0" y="1207211"/>
                  <a:pt x="0" y="1157088"/>
                </a:cubicBezTo>
                <a:lnTo>
                  <a:pt x="0" y="90756"/>
                </a:lnTo>
                <a:cubicBezTo>
                  <a:pt x="0" y="40666"/>
                  <a:pt x="40666" y="0"/>
                  <a:pt x="90756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75547" y="7464374"/>
            <a:ext cx="340321" cy="340321"/>
          </a:xfrm>
          <a:custGeom>
            <a:avLst/>
            <a:gdLst/>
            <a:ahLst/>
            <a:cxnLst/>
            <a:rect l="l" t="t" r="r" b="b"/>
            <a:pathLst>
              <a:path w="340321" h="340321">
                <a:moveTo>
                  <a:pt x="85080" y="212701"/>
                </a:moveTo>
                <a:lnTo>
                  <a:pt x="16285" y="212701"/>
                </a:lnTo>
                <a:cubicBezTo>
                  <a:pt x="-266" y="212701"/>
                  <a:pt x="-10436" y="194688"/>
                  <a:pt x="-1928" y="180463"/>
                </a:cubicBezTo>
                <a:lnTo>
                  <a:pt x="33234" y="121838"/>
                </a:lnTo>
                <a:cubicBezTo>
                  <a:pt x="39017" y="112200"/>
                  <a:pt x="49386" y="106350"/>
                  <a:pt x="60620" y="106350"/>
                </a:cubicBezTo>
                <a:lnTo>
                  <a:pt x="123765" y="106350"/>
                </a:lnTo>
                <a:cubicBezTo>
                  <a:pt x="174348" y="20672"/>
                  <a:pt x="249790" y="16351"/>
                  <a:pt x="300240" y="23729"/>
                </a:cubicBezTo>
                <a:cubicBezTo>
                  <a:pt x="308748" y="24992"/>
                  <a:pt x="315395" y="31639"/>
                  <a:pt x="316592" y="40081"/>
                </a:cubicBezTo>
                <a:cubicBezTo>
                  <a:pt x="323970" y="90531"/>
                  <a:pt x="319649" y="165973"/>
                  <a:pt x="233971" y="216556"/>
                </a:cubicBezTo>
                <a:lnTo>
                  <a:pt x="233971" y="279701"/>
                </a:lnTo>
                <a:cubicBezTo>
                  <a:pt x="233971" y="290935"/>
                  <a:pt x="228121" y="301304"/>
                  <a:pt x="218483" y="307087"/>
                </a:cubicBezTo>
                <a:lnTo>
                  <a:pt x="159858" y="342249"/>
                </a:lnTo>
                <a:cubicBezTo>
                  <a:pt x="145700" y="350757"/>
                  <a:pt x="127620" y="340520"/>
                  <a:pt x="127620" y="324036"/>
                </a:cubicBezTo>
                <a:lnTo>
                  <a:pt x="127620" y="255241"/>
                </a:lnTo>
                <a:cubicBezTo>
                  <a:pt x="127620" y="231777"/>
                  <a:pt x="108544" y="212701"/>
                  <a:pt x="85080" y="212701"/>
                </a:cubicBezTo>
                <a:lnTo>
                  <a:pt x="85014" y="212701"/>
                </a:lnTo>
                <a:close/>
                <a:moveTo>
                  <a:pt x="265876" y="106350"/>
                </a:moveTo>
                <a:cubicBezTo>
                  <a:pt x="265876" y="88741"/>
                  <a:pt x="251580" y="74445"/>
                  <a:pt x="233971" y="74445"/>
                </a:cubicBezTo>
                <a:cubicBezTo>
                  <a:pt x="216362" y="74445"/>
                  <a:pt x="202066" y="88741"/>
                  <a:pt x="202066" y="106350"/>
                </a:cubicBezTo>
                <a:cubicBezTo>
                  <a:pt x="202066" y="123959"/>
                  <a:pt x="216362" y="138255"/>
                  <a:pt x="233971" y="138255"/>
                </a:cubicBezTo>
                <a:cubicBezTo>
                  <a:pt x="251580" y="138255"/>
                  <a:pt x="265876" y="123959"/>
                  <a:pt x="265876" y="10635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5" name="Text 23"/>
          <p:cNvSpPr/>
          <p:nvPr/>
        </p:nvSpPr>
        <p:spPr>
          <a:xfrm>
            <a:off x="816770" y="7895447"/>
            <a:ext cx="245031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9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产品创新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442" y="8213080"/>
            <a:ext cx="2438967" cy="22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1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专业团队+丰富供给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95971" y="7328246"/>
            <a:ext cx="2631816" cy="1247844"/>
          </a:xfrm>
          <a:custGeom>
            <a:avLst/>
            <a:gdLst/>
            <a:ahLst/>
            <a:cxnLst/>
            <a:rect l="l" t="t" r="r" b="b"/>
            <a:pathLst>
              <a:path w="2631816" h="1247844">
                <a:moveTo>
                  <a:pt x="90756" y="0"/>
                </a:moveTo>
                <a:lnTo>
                  <a:pt x="2541060" y="0"/>
                </a:lnTo>
                <a:cubicBezTo>
                  <a:pt x="2591183" y="0"/>
                  <a:pt x="2631816" y="40633"/>
                  <a:pt x="2631816" y="90756"/>
                </a:cubicBezTo>
                <a:lnTo>
                  <a:pt x="2631816" y="1157088"/>
                </a:lnTo>
                <a:cubicBezTo>
                  <a:pt x="2631816" y="1207211"/>
                  <a:pt x="2591183" y="1247844"/>
                  <a:pt x="2541060" y="1247844"/>
                </a:cubicBezTo>
                <a:lnTo>
                  <a:pt x="90756" y="1247844"/>
                </a:lnTo>
                <a:cubicBezTo>
                  <a:pt x="40633" y="1247844"/>
                  <a:pt x="0" y="1207211"/>
                  <a:pt x="0" y="1157088"/>
                </a:cubicBezTo>
                <a:lnTo>
                  <a:pt x="0" y="90756"/>
                </a:lnTo>
                <a:cubicBezTo>
                  <a:pt x="0" y="40666"/>
                  <a:pt x="40666" y="0"/>
                  <a:pt x="90756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24230" y="7464374"/>
            <a:ext cx="382861" cy="340321"/>
          </a:xfrm>
          <a:custGeom>
            <a:avLst/>
            <a:gdLst/>
            <a:ahLst/>
            <a:cxnLst/>
            <a:rect l="l" t="t" r="r" b="b"/>
            <a:pathLst>
              <a:path w="382861" h="340321">
                <a:moveTo>
                  <a:pt x="178735" y="35361"/>
                </a:moveTo>
                <a:lnTo>
                  <a:pt x="101232" y="121505"/>
                </a:lnTo>
                <a:cubicBezTo>
                  <a:pt x="98175" y="124895"/>
                  <a:pt x="98308" y="130146"/>
                  <a:pt x="101565" y="133403"/>
                </a:cubicBezTo>
                <a:cubicBezTo>
                  <a:pt x="121838" y="153676"/>
                  <a:pt x="154740" y="153676"/>
                  <a:pt x="175013" y="133403"/>
                </a:cubicBezTo>
                <a:lnTo>
                  <a:pt x="196150" y="112266"/>
                </a:lnTo>
                <a:cubicBezTo>
                  <a:pt x="198942" y="109474"/>
                  <a:pt x="202464" y="107946"/>
                  <a:pt x="206054" y="107680"/>
                </a:cubicBezTo>
                <a:cubicBezTo>
                  <a:pt x="210574" y="107281"/>
                  <a:pt x="215226" y="108810"/>
                  <a:pt x="218683" y="112266"/>
                </a:cubicBezTo>
                <a:lnTo>
                  <a:pt x="336067" y="228653"/>
                </a:lnTo>
                <a:lnTo>
                  <a:pt x="382861" y="191431"/>
                </a:lnTo>
                <a:lnTo>
                  <a:pt x="382861" y="0"/>
                </a:lnTo>
                <a:lnTo>
                  <a:pt x="308416" y="42540"/>
                </a:lnTo>
                <a:lnTo>
                  <a:pt x="292596" y="31972"/>
                </a:lnTo>
                <a:cubicBezTo>
                  <a:pt x="282094" y="24992"/>
                  <a:pt x="269797" y="21270"/>
                  <a:pt x="257168" y="21270"/>
                </a:cubicBezTo>
                <a:lnTo>
                  <a:pt x="210374" y="21270"/>
                </a:lnTo>
                <a:cubicBezTo>
                  <a:pt x="209643" y="21270"/>
                  <a:pt x="208845" y="21270"/>
                  <a:pt x="208114" y="21337"/>
                </a:cubicBezTo>
                <a:cubicBezTo>
                  <a:pt x="196881" y="21935"/>
                  <a:pt x="186312" y="26986"/>
                  <a:pt x="178735" y="35361"/>
                </a:cubicBezTo>
                <a:close/>
                <a:moveTo>
                  <a:pt x="77503" y="100169"/>
                </a:moveTo>
                <a:lnTo>
                  <a:pt x="148492" y="21270"/>
                </a:lnTo>
                <a:lnTo>
                  <a:pt x="122170" y="21270"/>
                </a:lnTo>
                <a:cubicBezTo>
                  <a:pt x="105220" y="21270"/>
                  <a:pt x="89002" y="27983"/>
                  <a:pt x="77038" y="39948"/>
                </a:cubicBezTo>
                <a:lnTo>
                  <a:pt x="0" y="127620"/>
                </a:lnTo>
                <a:lnTo>
                  <a:pt x="0" y="361591"/>
                </a:lnTo>
                <a:lnTo>
                  <a:pt x="95715" y="271193"/>
                </a:lnTo>
                <a:lnTo>
                  <a:pt x="103957" y="278040"/>
                </a:lnTo>
                <a:cubicBezTo>
                  <a:pt x="119245" y="290802"/>
                  <a:pt x="138521" y="297781"/>
                  <a:pt x="158395" y="297781"/>
                </a:cubicBezTo>
                <a:lnTo>
                  <a:pt x="168831" y="297781"/>
                </a:lnTo>
                <a:lnTo>
                  <a:pt x="164178" y="293128"/>
                </a:lnTo>
                <a:cubicBezTo>
                  <a:pt x="157930" y="286880"/>
                  <a:pt x="157930" y="276777"/>
                  <a:pt x="164178" y="270595"/>
                </a:cubicBezTo>
                <a:cubicBezTo>
                  <a:pt x="170426" y="264413"/>
                  <a:pt x="180530" y="264347"/>
                  <a:pt x="186711" y="270595"/>
                </a:cubicBezTo>
                <a:lnTo>
                  <a:pt x="213964" y="297847"/>
                </a:lnTo>
                <a:lnTo>
                  <a:pt x="219946" y="297847"/>
                </a:lnTo>
                <a:cubicBezTo>
                  <a:pt x="232641" y="297847"/>
                  <a:pt x="245071" y="294989"/>
                  <a:pt x="256371" y="289672"/>
                </a:cubicBezTo>
                <a:lnTo>
                  <a:pt x="238624" y="271858"/>
                </a:lnTo>
                <a:cubicBezTo>
                  <a:pt x="232375" y="265610"/>
                  <a:pt x="232375" y="255507"/>
                  <a:pt x="238624" y="249325"/>
                </a:cubicBezTo>
                <a:cubicBezTo>
                  <a:pt x="244872" y="243143"/>
                  <a:pt x="254975" y="243077"/>
                  <a:pt x="261156" y="249325"/>
                </a:cubicBezTo>
                <a:lnTo>
                  <a:pt x="282427" y="270595"/>
                </a:lnTo>
                <a:lnTo>
                  <a:pt x="294059" y="258963"/>
                </a:lnTo>
                <a:cubicBezTo>
                  <a:pt x="299974" y="253047"/>
                  <a:pt x="301703" y="244473"/>
                  <a:pt x="299110" y="236962"/>
                </a:cubicBezTo>
                <a:lnTo>
                  <a:pt x="207450" y="146032"/>
                </a:lnTo>
                <a:lnTo>
                  <a:pt x="197546" y="155936"/>
                </a:lnTo>
                <a:cubicBezTo>
                  <a:pt x="164777" y="188705"/>
                  <a:pt x="111734" y="188705"/>
                  <a:pt x="78965" y="155936"/>
                </a:cubicBezTo>
                <a:cubicBezTo>
                  <a:pt x="63677" y="140648"/>
                  <a:pt x="63079" y="116121"/>
                  <a:pt x="77503" y="100102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9" name="Text 27"/>
          <p:cNvSpPr/>
          <p:nvPr/>
        </p:nvSpPr>
        <p:spPr>
          <a:xfrm>
            <a:off x="3586724" y="7895447"/>
            <a:ext cx="245031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9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服务升级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92396" y="8213080"/>
            <a:ext cx="2438967" cy="22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1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票务优化+体验改善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5924" y="7328246"/>
            <a:ext cx="2631816" cy="1247844"/>
          </a:xfrm>
          <a:custGeom>
            <a:avLst/>
            <a:gdLst/>
            <a:ahLst/>
            <a:cxnLst/>
            <a:rect l="l" t="t" r="r" b="b"/>
            <a:pathLst>
              <a:path w="2631816" h="1247844">
                <a:moveTo>
                  <a:pt x="90756" y="0"/>
                </a:moveTo>
                <a:lnTo>
                  <a:pt x="2541060" y="0"/>
                </a:lnTo>
                <a:cubicBezTo>
                  <a:pt x="2591183" y="0"/>
                  <a:pt x="2631816" y="40633"/>
                  <a:pt x="2631816" y="90756"/>
                </a:cubicBezTo>
                <a:lnTo>
                  <a:pt x="2631816" y="1157088"/>
                </a:lnTo>
                <a:cubicBezTo>
                  <a:pt x="2631816" y="1207211"/>
                  <a:pt x="2591183" y="1247844"/>
                  <a:pt x="2541060" y="1247844"/>
                </a:cubicBezTo>
                <a:lnTo>
                  <a:pt x="90756" y="1247844"/>
                </a:lnTo>
                <a:cubicBezTo>
                  <a:pt x="40633" y="1247844"/>
                  <a:pt x="0" y="1207211"/>
                  <a:pt x="0" y="1157088"/>
                </a:cubicBezTo>
                <a:lnTo>
                  <a:pt x="0" y="90756"/>
                </a:lnTo>
                <a:cubicBezTo>
                  <a:pt x="0" y="40666"/>
                  <a:pt x="40666" y="0"/>
                  <a:pt x="90756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15453" y="7464374"/>
            <a:ext cx="340321" cy="340321"/>
          </a:xfrm>
          <a:custGeom>
            <a:avLst/>
            <a:gdLst/>
            <a:ahLst/>
            <a:cxnLst/>
            <a:rect l="l" t="t" r="r" b="b"/>
            <a:pathLst>
              <a:path w="340321" h="340321">
                <a:moveTo>
                  <a:pt x="42540" y="42540"/>
                </a:moveTo>
                <a:cubicBezTo>
                  <a:pt x="42540" y="30775"/>
                  <a:pt x="33035" y="21270"/>
                  <a:pt x="21270" y="21270"/>
                </a:cubicBezTo>
                <a:cubicBezTo>
                  <a:pt x="9505" y="21270"/>
                  <a:pt x="0" y="30775"/>
                  <a:pt x="0" y="42540"/>
                </a:cubicBezTo>
                <a:lnTo>
                  <a:pt x="0" y="265876"/>
                </a:lnTo>
                <a:cubicBezTo>
                  <a:pt x="0" y="295255"/>
                  <a:pt x="23796" y="319051"/>
                  <a:pt x="53175" y="319051"/>
                </a:cubicBezTo>
                <a:lnTo>
                  <a:pt x="319051" y="319051"/>
                </a:lnTo>
                <a:cubicBezTo>
                  <a:pt x="330816" y="319051"/>
                  <a:pt x="340321" y="309546"/>
                  <a:pt x="340321" y="297781"/>
                </a:cubicBezTo>
                <a:cubicBezTo>
                  <a:pt x="340321" y="286016"/>
                  <a:pt x="330816" y="276511"/>
                  <a:pt x="319051" y="276511"/>
                </a:cubicBezTo>
                <a:lnTo>
                  <a:pt x="53175" y="276511"/>
                </a:lnTo>
                <a:cubicBezTo>
                  <a:pt x="47326" y="276511"/>
                  <a:pt x="42540" y="271725"/>
                  <a:pt x="42540" y="265876"/>
                </a:cubicBezTo>
                <a:lnTo>
                  <a:pt x="42540" y="42540"/>
                </a:lnTo>
                <a:close/>
                <a:moveTo>
                  <a:pt x="312803" y="100102"/>
                </a:moveTo>
                <a:cubicBezTo>
                  <a:pt x="321111" y="91794"/>
                  <a:pt x="321111" y="78300"/>
                  <a:pt x="312803" y="69992"/>
                </a:cubicBezTo>
                <a:cubicBezTo>
                  <a:pt x="304494" y="61683"/>
                  <a:pt x="291001" y="61683"/>
                  <a:pt x="282692" y="69992"/>
                </a:cubicBezTo>
                <a:lnTo>
                  <a:pt x="212701" y="140050"/>
                </a:lnTo>
                <a:lnTo>
                  <a:pt x="174547" y="101963"/>
                </a:lnTo>
                <a:cubicBezTo>
                  <a:pt x="166239" y="93655"/>
                  <a:pt x="152746" y="93655"/>
                  <a:pt x="144437" y="101963"/>
                </a:cubicBezTo>
                <a:lnTo>
                  <a:pt x="80627" y="165774"/>
                </a:lnTo>
                <a:cubicBezTo>
                  <a:pt x="72318" y="174082"/>
                  <a:pt x="72318" y="187575"/>
                  <a:pt x="80627" y="195884"/>
                </a:cubicBezTo>
                <a:cubicBezTo>
                  <a:pt x="88935" y="204193"/>
                  <a:pt x="102429" y="204193"/>
                  <a:pt x="110737" y="195884"/>
                </a:cubicBezTo>
                <a:lnTo>
                  <a:pt x="159525" y="147096"/>
                </a:lnTo>
                <a:lnTo>
                  <a:pt x="197679" y="185249"/>
                </a:lnTo>
                <a:cubicBezTo>
                  <a:pt x="205987" y="193558"/>
                  <a:pt x="219480" y="193558"/>
                  <a:pt x="227789" y="185249"/>
                </a:cubicBezTo>
                <a:lnTo>
                  <a:pt x="312869" y="100169"/>
                </a:ln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3" name="Text 31"/>
          <p:cNvSpPr/>
          <p:nvPr/>
        </p:nvSpPr>
        <p:spPr>
          <a:xfrm>
            <a:off x="6356677" y="7895447"/>
            <a:ext cx="2450311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9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精准运营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2349" y="8213080"/>
            <a:ext cx="2438967" cy="226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1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细分客群+渠道联动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444262" y="1678917"/>
            <a:ext cx="6352659" cy="7770663"/>
          </a:xfrm>
          <a:custGeom>
            <a:avLst/>
            <a:gdLst/>
            <a:ahLst/>
            <a:cxnLst/>
            <a:rect l="l" t="t" r="r" b="b"/>
            <a:pathLst>
              <a:path w="6352659" h="7770663">
                <a:moveTo>
                  <a:pt x="136137" y="0"/>
                </a:moveTo>
                <a:lnTo>
                  <a:pt x="6216521" y="0"/>
                </a:lnTo>
                <a:cubicBezTo>
                  <a:pt x="6291708" y="0"/>
                  <a:pt x="6352659" y="60951"/>
                  <a:pt x="6352659" y="136137"/>
                </a:cubicBezTo>
                <a:lnTo>
                  <a:pt x="6352659" y="7634525"/>
                </a:lnTo>
                <a:cubicBezTo>
                  <a:pt x="6352659" y="7709712"/>
                  <a:pt x="6291708" y="7770663"/>
                  <a:pt x="6216521" y="7770663"/>
                </a:cubicBezTo>
                <a:lnTo>
                  <a:pt x="136137" y="7770663"/>
                </a:lnTo>
                <a:cubicBezTo>
                  <a:pt x="60951" y="7770663"/>
                  <a:pt x="0" y="7709712"/>
                  <a:pt x="0" y="7634525"/>
                </a:cubicBezTo>
                <a:lnTo>
                  <a:pt x="0" y="136137"/>
                </a:lnTo>
                <a:cubicBezTo>
                  <a:pt x="0" y="60951"/>
                  <a:pt x="60951" y="0"/>
                  <a:pt x="136137" y="0"/>
                </a:cubicBezTo>
                <a:close/>
              </a:path>
            </a:pathLst>
          </a:custGeom>
          <a:solidFill>
            <a:srgbClr val="3A4F41"/>
          </a:solidFill>
          <a:ln/>
        </p:spPr>
      </p:sp>
      <p:sp>
        <p:nvSpPr>
          <p:cNvPr id="36" name="Text 34"/>
          <p:cNvSpPr/>
          <p:nvPr/>
        </p:nvSpPr>
        <p:spPr>
          <a:xfrm>
            <a:off x="9716519" y="1951174"/>
            <a:ext cx="5921585" cy="3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6" b="1" dirty="0" err="1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关键数</a:t>
            </a:r>
            <a:r>
              <a:rPr lang="zh-CN" altLang="en-US" sz="1786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据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716519" y="2450311"/>
            <a:ext cx="5808145" cy="1134403"/>
          </a:xfrm>
          <a:custGeom>
            <a:avLst/>
            <a:gdLst/>
            <a:ahLst/>
            <a:cxnLst/>
            <a:rect l="l" t="t" r="r" b="b"/>
            <a:pathLst>
              <a:path w="5808145" h="1134403">
                <a:moveTo>
                  <a:pt x="90752" y="0"/>
                </a:moveTo>
                <a:lnTo>
                  <a:pt x="5717393" y="0"/>
                </a:lnTo>
                <a:cubicBezTo>
                  <a:pt x="5767514" y="0"/>
                  <a:pt x="5808145" y="40631"/>
                  <a:pt x="5808145" y="90752"/>
                </a:cubicBezTo>
                <a:lnTo>
                  <a:pt x="5808145" y="1043651"/>
                </a:lnTo>
                <a:cubicBezTo>
                  <a:pt x="5808145" y="1093772"/>
                  <a:pt x="5767514" y="1134403"/>
                  <a:pt x="5717393" y="1134403"/>
                </a:cubicBezTo>
                <a:lnTo>
                  <a:pt x="90752" y="1134403"/>
                </a:lnTo>
                <a:cubicBezTo>
                  <a:pt x="40631" y="1134403"/>
                  <a:pt x="0" y="1093772"/>
                  <a:pt x="0" y="1043651"/>
                </a:cubicBezTo>
                <a:lnTo>
                  <a:pt x="0" y="90752"/>
                </a:lnTo>
                <a:cubicBezTo>
                  <a:pt x="0" y="40665"/>
                  <a:pt x="40665" y="0"/>
                  <a:pt x="90752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898024" y="2631816"/>
            <a:ext cx="5649329" cy="45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16" b="1" dirty="0">
                <a:solidFill>
                  <a:srgbClr val="E56B4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98024" y="3130953"/>
            <a:ext cx="5535888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9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参与过足球主题旅游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716519" y="3720843"/>
            <a:ext cx="5808145" cy="1134403"/>
          </a:xfrm>
          <a:custGeom>
            <a:avLst/>
            <a:gdLst/>
            <a:ahLst/>
            <a:cxnLst/>
            <a:rect l="l" t="t" r="r" b="b"/>
            <a:pathLst>
              <a:path w="5808145" h="1134403">
                <a:moveTo>
                  <a:pt x="90752" y="0"/>
                </a:moveTo>
                <a:lnTo>
                  <a:pt x="5717393" y="0"/>
                </a:lnTo>
                <a:cubicBezTo>
                  <a:pt x="5767514" y="0"/>
                  <a:pt x="5808145" y="40631"/>
                  <a:pt x="5808145" y="90752"/>
                </a:cubicBezTo>
                <a:lnTo>
                  <a:pt x="5808145" y="1043651"/>
                </a:lnTo>
                <a:cubicBezTo>
                  <a:pt x="5808145" y="1093772"/>
                  <a:pt x="5767514" y="1134403"/>
                  <a:pt x="5717393" y="1134403"/>
                </a:cubicBezTo>
                <a:lnTo>
                  <a:pt x="90752" y="1134403"/>
                </a:lnTo>
                <a:cubicBezTo>
                  <a:pt x="40631" y="1134403"/>
                  <a:pt x="0" y="1093772"/>
                  <a:pt x="0" y="1043651"/>
                </a:cubicBezTo>
                <a:lnTo>
                  <a:pt x="0" y="90752"/>
                </a:lnTo>
                <a:cubicBezTo>
                  <a:pt x="0" y="40665"/>
                  <a:pt x="40665" y="0"/>
                  <a:pt x="90752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898024" y="3902348"/>
            <a:ext cx="5649329" cy="45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16" b="1" dirty="0">
                <a:solidFill>
                  <a:srgbClr val="E56B4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58.3%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898024" y="4401485"/>
            <a:ext cx="5535888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9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出行频次4次及以上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716519" y="4991375"/>
            <a:ext cx="5808145" cy="1134403"/>
          </a:xfrm>
          <a:custGeom>
            <a:avLst/>
            <a:gdLst/>
            <a:ahLst/>
            <a:cxnLst/>
            <a:rect l="l" t="t" r="r" b="b"/>
            <a:pathLst>
              <a:path w="5808145" h="1134403">
                <a:moveTo>
                  <a:pt x="90752" y="0"/>
                </a:moveTo>
                <a:lnTo>
                  <a:pt x="5717393" y="0"/>
                </a:lnTo>
                <a:cubicBezTo>
                  <a:pt x="5767514" y="0"/>
                  <a:pt x="5808145" y="40631"/>
                  <a:pt x="5808145" y="90752"/>
                </a:cubicBezTo>
                <a:lnTo>
                  <a:pt x="5808145" y="1043651"/>
                </a:lnTo>
                <a:cubicBezTo>
                  <a:pt x="5808145" y="1093772"/>
                  <a:pt x="5767514" y="1134403"/>
                  <a:pt x="5717393" y="1134403"/>
                </a:cubicBezTo>
                <a:lnTo>
                  <a:pt x="90752" y="1134403"/>
                </a:lnTo>
                <a:cubicBezTo>
                  <a:pt x="40631" y="1134403"/>
                  <a:pt x="0" y="1093772"/>
                  <a:pt x="0" y="1043651"/>
                </a:cubicBezTo>
                <a:lnTo>
                  <a:pt x="0" y="90752"/>
                </a:lnTo>
                <a:cubicBezTo>
                  <a:pt x="0" y="40665"/>
                  <a:pt x="40665" y="0"/>
                  <a:pt x="90752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898024" y="5172879"/>
            <a:ext cx="5649329" cy="45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16" b="1" dirty="0">
                <a:solidFill>
                  <a:srgbClr val="E56B4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898024" y="5672017"/>
            <a:ext cx="5535888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9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选择跟随主队远征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716519" y="6261906"/>
            <a:ext cx="5808145" cy="1134403"/>
          </a:xfrm>
          <a:custGeom>
            <a:avLst/>
            <a:gdLst/>
            <a:ahLst/>
            <a:cxnLst/>
            <a:rect l="l" t="t" r="r" b="b"/>
            <a:pathLst>
              <a:path w="5808145" h="1134403">
                <a:moveTo>
                  <a:pt x="90752" y="0"/>
                </a:moveTo>
                <a:lnTo>
                  <a:pt x="5717393" y="0"/>
                </a:lnTo>
                <a:cubicBezTo>
                  <a:pt x="5767514" y="0"/>
                  <a:pt x="5808145" y="40631"/>
                  <a:pt x="5808145" y="90752"/>
                </a:cubicBezTo>
                <a:lnTo>
                  <a:pt x="5808145" y="1043651"/>
                </a:lnTo>
                <a:cubicBezTo>
                  <a:pt x="5808145" y="1093772"/>
                  <a:pt x="5767514" y="1134403"/>
                  <a:pt x="5717393" y="1134403"/>
                </a:cubicBezTo>
                <a:lnTo>
                  <a:pt x="90752" y="1134403"/>
                </a:lnTo>
                <a:cubicBezTo>
                  <a:pt x="40631" y="1134403"/>
                  <a:pt x="0" y="1093772"/>
                  <a:pt x="0" y="1043651"/>
                </a:cubicBezTo>
                <a:lnTo>
                  <a:pt x="0" y="90752"/>
                </a:lnTo>
                <a:cubicBezTo>
                  <a:pt x="0" y="40665"/>
                  <a:pt x="40665" y="0"/>
                  <a:pt x="90752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898024" y="6443411"/>
            <a:ext cx="5649329" cy="45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16" b="1" dirty="0">
                <a:solidFill>
                  <a:srgbClr val="E56B4D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66.7%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898024" y="6942548"/>
            <a:ext cx="5535888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9" dirty="0">
                <a:solidFill>
                  <a:srgbClr val="F8F7F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20-35岁核心客群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int-ng28app.com/1b5a572dada6e2f2abe2863a676ceda7081bc828.jpg"/>
          <p:cNvPicPr>
            <a:picLocks noChangeAspect="1"/>
          </p:cNvPicPr>
          <p:nvPr/>
        </p:nvPicPr>
        <p:blipFill>
          <a:blip r:embed="rId3"/>
          <a:srcRect t="12500" b="125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E56B4D">
                  <a:alpha val="85000"/>
                </a:srgbClr>
              </a:gs>
              <a:gs pos="100000">
                <a:srgbClr val="3A4F41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315200" y="13335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5" name="Text 2"/>
          <p:cNvSpPr/>
          <p:nvPr/>
        </p:nvSpPr>
        <p:spPr>
          <a:xfrm>
            <a:off x="3746500" y="1689100"/>
            <a:ext cx="876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感谢聆听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8F7F5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敬请指导!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0" y="42799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7" name="Text 4"/>
          <p:cNvSpPr/>
          <p:nvPr/>
        </p:nvSpPr>
        <p:spPr>
          <a:xfrm>
            <a:off x="3898900" y="4737100"/>
            <a:ext cx="8458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期待与您共同推动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D2C7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女性球迷足球主题旅游市场发展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75100" y="6337300"/>
            <a:ext cx="2565400" cy="1473200"/>
          </a:xfrm>
          <a:custGeom>
            <a:avLst/>
            <a:gdLst/>
            <a:ahLst/>
            <a:cxnLst/>
            <a:rect l="l" t="t" r="r" b="b"/>
            <a:pathLst>
              <a:path w="2565400" h="1473200">
                <a:moveTo>
                  <a:pt x="152403" y="0"/>
                </a:moveTo>
                <a:lnTo>
                  <a:pt x="2412997" y="0"/>
                </a:lnTo>
                <a:cubicBezTo>
                  <a:pt x="2497167" y="0"/>
                  <a:pt x="2565400" y="68233"/>
                  <a:pt x="2565400" y="152403"/>
                </a:cubicBezTo>
                <a:lnTo>
                  <a:pt x="2565400" y="1320797"/>
                </a:lnTo>
                <a:cubicBezTo>
                  <a:pt x="2565400" y="1404967"/>
                  <a:pt x="2497167" y="1473200"/>
                  <a:pt x="2412997" y="1473200"/>
                </a:cubicBezTo>
                <a:lnTo>
                  <a:pt x="152403" y="1473200"/>
                </a:lnTo>
                <a:cubicBezTo>
                  <a:pt x="68233" y="1473200"/>
                  <a:pt x="0" y="1404967"/>
                  <a:pt x="0" y="13207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6591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0" name="Text 7"/>
          <p:cNvSpPr/>
          <p:nvPr/>
        </p:nvSpPr>
        <p:spPr>
          <a:xfrm>
            <a:off x="4171950" y="72009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深度洞察用户需求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45300" y="6337300"/>
            <a:ext cx="2565400" cy="1473200"/>
          </a:xfrm>
          <a:custGeom>
            <a:avLst/>
            <a:gdLst/>
            <a:ahLst/>
            <a:cxnLst/>
            <a:rect l="l" t="t" r="r" b="b"/>
            <a:pathLst>
              <a:path w="2565400" h="1473200">
                <a:moveTo>
                  <a:pt x="152403" y="0"/>
                </a:moveTo>
                <a:lnTo>
                  <a:pt x="2412997" y="0"/>
                </a:lnTo>
                <a:cubicBezTo>
                  <a:pt x="2497167" y="0"/>
                  <a:pt x="2565400" y="68233"/>
                  <a:pt x="2565400" y="152403"/>
                </a:cubicBezTo>
                <a:lnTo>
                  <a:pt x="2565400" y="1320797"/>
                </a:lnTo>
                <a:cubicBezTo>
                  <a:pt x="2565400" y="1404967"/>
                  <a:pt x="2497167" y="1473200"/>
                  <a:pt x="2412997" y="1473200"/>
                </a:cubicBezTo>
                <a:lnTo>
                  <a:pt x="152403" y="1473200"/>
                </a:lnTo>
                <a:cubicBezTo>
                  <a:pt x="68233" y="1473200"/>
                  <a:pt x="0" y="1404967"/>
                  <a:pt x="0" y="13207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956550" y="65913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3" name="Text 10"/>
          <p:cNvSpPr/>
          <p:nvPr/>
        </p:nvSpPr>
        <p:spPr>
          <a:xfrm>
            <a:off x="7042150" y="72009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持续产品创新优化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715500" y="6337300"/>
            <a:ext cx="2565400" cy="1473200"/>
          </a:xfrm>
          <a:custGeom>
            <a:avLst/>
            <a:gdLst/>
            <a:ahLst/>
            <a:cxnLst/>
            <a:rect l="l" t="t" r="r" b="b"/>
            <a:pathLst>
              <a:path w="2565400" h="1473200">
                <a:moveTo>
                  <a:pt x="152403" y="0"/>
                </a:moveTo>
                <a:lnTo>
                  <a:pt x="2412997" y="0"/>
                </a:lnTo>
                <a:cubicBezTo>
                  <a:pt x="2497167" y="0"/>
                  <a:pt x="2565400" y="68233"/>
                  <a:pt x="2565400" y="152403"/>
                </a:cubicBezTo>
                <a:lnTo>
                  <a:pt x="2565400" y="1320797"/>
                </a:lnTo>
                <a:cubicBezTo>
                  <a:pt x="2565400" y="1404967"/>
                  <a:pt x="2497167" y="1473200"/>
                  <a:pt x="2412997" y="1473200"/>
                </a:cubicBezTo>
                <a:lnTo>
                  <a:pt x="152403" y="1473200"/>
                </a:lnTo>
                <a:cubicBezTo>
                  <a:pt x="68233" y="1473200"/>
                  <a:pt x="0" y="1404967"/>
                  <a:pt x="0" y="13207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8F7F5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769600" y="6591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E56B4D"/>
          </a:solidFill>
          <a:ln/>
        </p:spPr>
      </p:sp>
      <p:sp>
        <p:nvSpPr>
          <p:cNvPr id="16" name="Text 13"/>
          <p:cNvSpPr/>
          <p:nvPr/>
        </p:nvSpPr>
        <p:spPr>
          <a:xfrm>
            <a:off x="9912350" y="72009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8F7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推动市场高质量发展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952</Words>
  <Application>Microsoft Office PowerPoint</Application>
  <PresentationFormat>自定义</PresentationFormat>
  <Paragraphs>366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微软雅黑</vt:lpstr>
      <vt:lpstr>MiSans</vt:lpstr>
      <vt:lpstr>得意黑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女性球迷足球主题旅游消费调研</dc:title>
  <dc:subject>女性球迷足球主题旅游消费调研</dc:subject>
  <dc:creator>Kimi</dc:creator>
  <cp:lastModifiedBy>金儒 张</cp:lastModifiedBy>
  <cp:revision>5</cp:revision>
  <dcterms:created xsi:type="dcterms:W3CDTF">2025-12-19T08:38:30Z</dcterms:created>
  <dcterms:modified xsi:type="dcterms:W3CDTF">2025-12-19T10:28:56Z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女性球迷足球主题旅游消费调研","ContentProducer":"001191110108MACG2KBH8F10000","ProduceID":"19b35af8-9ce2-8b35-8000-00007873e37d","ReservedCode1":"","ContentPropagator":"001191110108MACG2KBH8F20000","PropagateID":"19b35af8-9ce2-8b35-8000-00007873e37d","ReservedCode2":""}</vt:lpwstr>
  </property>
</Properties>
</file>